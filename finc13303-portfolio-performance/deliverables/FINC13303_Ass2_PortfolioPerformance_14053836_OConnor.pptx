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good afternoon, good evening, depending on where you're joining me from. I'm Callum O'Connor, Portfolio Manager of the Northpoint Digital Innovation Fund.</a:t>
            </a:r>
          </a:p>
          <a:p/>
          <a:p>
            <a:r>
              <a:t>6 years ago you gave this fund $100 million and one instruction. Own the winners of digital transformation, right across the economy, and do it with discipline. Today I'm closing the book on that mandate.</a:t>
            </a:r>
          </a:p>
          <a:p/>
          <a:p>
            <a:r>
              <a:t>You can see the headline on the right of your screen. That $100 million is now $279 million. 179% in total, or 18.7% a year, and we got there through a trade war, a pandemic, the fastest bear market in history and the sharpest rate shock in 40 years.</a:t>
            </a:r>
          </a:p>
          <a:p/>
          <a:p>
            <a:r>
              <a:t>Over the next 25 minutes I'll show you where that money came from, how much risk we took to get it, whether any of it was skill, and what I think you should do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tell you how I'll use your time.</a:t>
            </a:r>
          </a:p>
          <a:p/>
          <a:p>
            <a:r>
              <a:t>I'll start with the mandate you funded and whether we stuck to it. Then the economy, because 6 years is a long time and we lived through three quite different regimes. Then what the fund returned, and how it behaved in the two moments that mattered. Then how much risk we took.</a:t>
            </a:r>
          </a:p>
          <a:p/>
          <a:p>
            <a:r>
              <a:t>Then comes the section I care about most, which is whether any of this was skill. And I'll finish with the verdict, the fees and my recommendation.</a:t>
            </a:r>
          </a:p>
          <a:p/>
          <a:p>
            <a:r>
              <a:t>Questions at the end, and there's a full appendix if you want to go deeper.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unpack any of it, here's the whole 6 years on one slide.</a:t>
            </a:r>
          </a:p>
          <a:p/>
          <a:p>
            <a:r>
              <a:t>Start top left. 179% in total. Over the same window the S and P 500 returned 90%, and the NASDAQ-100, which is our primary benchmark and the harder test, returned 135%. Annualised, we compounded at 18.7% a year against a target of 8% to 10%.</a:t>
            </a:r>
          </a:p>
          <a:p/>
          <a:p>
            <a:r>
              <a:t>Now look at the second row just as carefully. Our Sharpe ratio is 0.94, the highest of every comparator I tested. Our worst drawdown is minus 24.9%, which is shallower than the NASDAQ-100 managed. So we didn't simply take more risk to get more return.</a:t>
            </a:r>
          </a:p>
          <a:p/>
          <a:p>
            <a:r>
              <a:t>And here's the number I'd point to above all the others. 6.6% of annualised alpha on a five-factor model, with a t-statistic of 3.06. The chance that's luck is about 2 in 1,000. Our beta was 1.0, so it wasn't leverage either.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contract, and I've put it up unedited. The first test of a manager isn't performance. It's whether the thing you bought is the thing you got.</a:t>
            </a:r>
          </a:p>
          <a:p/>
          <a:p>
            <a:r>
              <a:t>We said we'd run an active, high-conviction thematic fund, and the theme was digital transformation. 11 stocks, one in every GICS sector. A pure technology fund would have been an easier story to sell, but it would have failed the diversification requirement, and it would have hurt us badly in 2022.</a:t>
            </a:r>
          </a:p>
          <a:p/>
          <a:p>
            <a:r>
              <a:t>We put two hard constraints on the weights. Every sector holds at least 5%, and no position goes above 16. And we rebalance every quarter.</a:t>
            </a:r>
          </a:p>
          <a:p/>
          <a:p>
            <a:r>
              <a:t>The last line is the one to hold onto. We said we were targeting 8% to 10% a year, net of fees. I'll mark ourselves against that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book, coloured by conviction tier.</a:t>
            </a:r>
          </a:p>
          <a:p/>
          <a:p>
            <a:r>
              <a:t>Tier one is 42% of the money in three platform companies, where several parts of the thesis compound at the same time. Microsoft was our largest position at 16%.</a:t>
            </a:r>
          </a:p>
          <a:p/>
          <a:p>
            <a:r>
              <a:t>Tier two is 34%, and I call these the enablers. Each one monetises digitisation through a single channel. Visa is payments, Equinix is data centres, Illumina is genomics, Rockwell is factory automation.</a:t>
            </a:r>
          </a:p>
          <a:p/>
          <a:p>
            <a:r>
              <a:t>Tier three is the last 24%, and that's our ballast.</a:t>
            </a:r>
          </a:p>
          <a:p/>
          <a:p>
            <a:r>
              <a:t>Now, the point at the bottom is the one I'd ask you to remember. For 5 of these 6 years, holding Schlumberger at 5% looked like a tax on the portfolio. People asked me repeatedly why we didn't just drop the sector. We didn't drop it because the mandate said every sector keeps a floor. And in 2022 that discipline is exactly what saved 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what would have happened if we'd bought the 11 stocks and never touched them. Tier one would have grown from 42% of the book to 48%, and Microsoft alone would have reached 25%. You'd have ended up owning a concentrated mega-cap technology fund that looked nothing like the mandate you signed.</a:t>
            </a:r>
          </a:p>
          <a:p/>
          <a:p>
            <a:r>
              <a:t>On the right is what we actually did.</a:t>
            </a:r>
          </a:p>
          <a:p/>
          <a:p>
            <a:r>
              <a:t>Now look at the table. Rebalancing wasn't governance theatre. It was worth $18 million to you. That's 1.3 points a year of extra return, a higher Sharpe ratio, and a drawdown 3 points shallower. The reason is simple. Rebalancing kept trimming the winners when they were high and topping up the laggards when they were 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opened in January 2017, the month the Dow crossed 20,000. The fund returned 40% that year. The December tax reform lifted after-tax earnings across the book, and cloud adoption accelerated exactly as we'd argued.</a:t>
            </a:r>
          </a:p>
          <a:p/>
          <a:p>
            <a:r>
              <a:t>2018 was our first hard year. The trade war escalated and the fourth quarter was brutal. We lost 9.6% in October and another 9.8% in December, and still finished up 3.7% while the S and P fell 4.5%.</a:t>
            </a:r>
          </a:p>
          <a:p/>
          <a:p>
            <a:r>
              <a:t>2019 was the recovery, off the back of the Fed pivoting to cuts. Then March 2020, which I'll come back to.</a:t>
            </a:r>
          </a:p>
          <a:p/>
          <a:p>
            <a:r>
              <a:t>The fund peaked in December 2021 at $360 million, within weeks of the Fed dropping the word transitory. 2022 gave a good chunk of it back.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3 years were broadly the world we said we expected. Moderate growth, contained inflation, a gradual Fed, and spending shifting towards cloud, mobile and payments. 2018 was the exception. The trade war was a risk we'd flagged, but we sized it wrongly.</a:t>
            </a:r>
          </a:p>
          <a:p/>
          <a:p>
            <a:r>
              <a:t>The second 3 years are more interesting. Go back to our 2016 Scenario C and we wrote, and I'm quoting, another systemic disruption such as a global pandemic. We put 20% on it. Then it happened.</a:t>
            </a:r>
          </a:p>
          <a:p/>
          <a:p>
            <a:r>
              <a:t>And here's the part we got right for the right reason. We'd argued that even in a recession, cloud migration and payment digitisation carry on, because they save companies money. COVID didn't slow our theme. It accelerated it by years.</a:t>
            </a:r>
          </a:p>
          <a:p/>
          <a:p>
            <a:r>
              <a:t>2022 was different. That year tested the diversification rather than the theme. When the discount rate moves from zero to 4.25%, growth equity gets repriced, and there was nowhere to hide inside our theme. Only the ballast helped.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2016 we published three scenarios with explicit probabilities and returns. The pale bars are what we said. The dark bars are what we delivered.</a:t>
            </a:r>
          </a:p>
          <a:p/>
          <a:p>
            <a:r>
              <a:t>Two honest observations. We got the direction right in 5 of 6 years. But we were consistently too conservative about the size of the moves, in both directions. In 2017 we assumed 18% and delivered 40%. In 2019 we thought we were in a stagnation world worth 9%, and delivered 37%. And in 2022 we'd assumed a recession would cost 4%, when it cost us 22.5.</a:t>
            </a:r>
          </a:p>
          <a:p/>
          <a:p>
            <a:r>
              <a:t>So here's the lesson. Scenario frameworks are good at telling you which state of the world you're in. They're poor at telling you how violent it's going to be.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chart the whole review rests on.</a:t>
            </a:r>
          </a:p>
          <a:p/>
          <a:p>
            <a:r>
              <a:t>Three things to notice. We sit above the NASDAQ-100 for essentially the entire 6 years, and the gap widens rather than narrows. Then look at where the lines separate most, which is right at the end, in 2022. On the way up we tracked the benchmark closely. On the way down we fell a lot less, and that asymmetry is the whole argument for how we built this portfolio.</a:t>
            </a:r>
          </a:p>
          <a:p/>
          <a:p>
            <a:r>
              <a:t>The third thing is the table underneath. Against the S and P 500, which any of you could have bought for 9 basis points, we added $89 million. Against the NASDAQ-100, the tougher test because it shares our theme, we added $44 million.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annual returns, which is how most of you will see the fund reported.</a:t>
            </a:r>
          </a:p>
          <a:p/>
          <a:p>
            <a:r>
              <a:t>So look at 2018 and 2022, because those are the years the market fell. In 2018 the S and P lost 4.6% and the NASDAQ-100 was flat, and we made 3.7%. In 2022 the S and P lost 18% and the NASDAQ-100 lost 32.6%, and we lost 22.5%.</a:t>
            </a:r>
          </a:p>
          <a:p/>
          <a:p>
            <a:r>
              <a:t>I should be straight with you about that year. We underperformed the S and P by 4 points, and I won't dress that up. A technology-tilted fund should lag the broad market when growth de-rates. But against our own theme benchmark we outperformed by 10 full points.</a:t>
            </a:r>
          </a:p>
          <a:p/>
          <a:p>
            <a:r>
              <a:t>The only year we lagged the NASDAQ-100 was 2020, when concentration was rewarded and our sector floors held us back. That's the cost of diversification, and 2022 is where you got paid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is us against the S and P 500, and it rises steadily throughout. That's the theme working.</a:t>
            </a:r>
          </a:p>
          <a:p/>
          <a:p>
            <a:r>
              <a:t>Orange is the line that tells you something you won't get anywhere else. Against the NASDAQ-100 we were roughly flat for the first 4.5 years. We only pulled decisively ahead from November 2021.</a:t>
            </a:r>
          </a:p>
          <a:p/>
          <a:p>
            <a:r>
              <a:t>Be clear about what that means. For most of this fund's life we did not beat our primary benchmark. We tracked it. All of our outperformance against it was earned in the 2022 drawdown, by falling less.</a:t>
            </a:r>
          </a:p>
          <a:p/>
          <a:p>
            <a:r>
              <a:t>Some managers would present that as a weakness. I'd argue the opposite. Anyone can hold technology stocks in a technology bull market. Protecting capital when the regime turns is the part that needs an actual discipline, and 2022 is where our fee earned itself.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Drawdown decides whether an investor stays in a fund, so I'll take it head on.</a:t>
            </a:r>
          </a:p>
          <a:p/>
          <a:p>
            <a:r>
              <a:t>Our worst peak-to-trough loss was 24.9%, from the November 2021 peak to the September 2022 trough. The NASDAQ-100 lost 32.6% over a similar window, and the S and P lost 23.9%.</a:t>
            </a:r>
          </a:p>
          <a:p/>
          <a:p>
            <a:r>
              <a:t>So we sat between the two. Worse than the broad market, and materially better than our own benchmark. For a fund with a deliberate technology tilt, that's the right place to be.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of two stress tests.</a:t>
            </a:r>
          </a:p>
          <a:p/>
          <a:p>
            <a:r>
              <a:t>February and March of 2020 cost us 12.6%, and it felt considerably worse at the time, because these are month-end figures.</a:t>
            </a:r>
          </a:p>
          <a:p/>
          <a:p>
            <a:r>
              <a:t>Then look what happens. April 2020 was the best month in this fund's history at plus 14.5%. By May we were back above the January high, and the year finished up 37.</a:t>
            </a:r>
          </a:p>
          <a:p/>
          <a:p>
            <a:r>
              <a:t>The second point matters more. Our thesis rested on the idea that digital transformation saves companies money, and therefore continues in a recession. COVID tested that harder than anything we could have designed, and the answer came back emphatically.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second stress test, which is the more instructive of the two.</a:t>
            </a:r>
          </a:p>
          <a:p/>
          <a:p>
            <a:r>
              <a:t>2022 brought the sharpest tightening since 1981. The Fed raised 425 basis points in a single calendar year. When the discount rate moves that fast, growth equity gets repriced, and there's no clever way around it.</a:t>
            </a:r>
          </a:p>
          <a:p/>
          <a:p>
            <a:r>
              <a:t>We lost 22.5%. The NASDAQ-100 lost 32.6%.</a:t>
            </a:r>
          </a:p>
          <a:p/>
          <a:p>
            <a:r>
              <a:t>The panel on the right explains that 10-point difference completely. At the bottom, Amazon down 50%, Illumina down 47%, Alphabet down 39%. Our thesis names were hit exactly as hard as you'd expect.</a:t>
            </a:r>
          </a:p>
          <a:p/>
          <a:p>
            <a:r>
              <a:t>Now look at the top of the same panel. Schlumberger up 81%. Visa down 3%. Albemarle down 7%.</a:t>
            </a:r>
          </a:p>
          <a:p/>
          <a:p>
            <a:r>
              <a:t>Schlumberger was the worst holding in this fund over the full 6 years, and the position I was asked to justify more than any other. It was in the book for one reason, which is that the mandate said every sector keeps a floor. In the worst year of this fund's life, that unloved 5% position returned 81%. That isn't luck. That's what diversification is, and it's why the constraint was written into the mandate rather than left to my discretion.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quantitative section, and I want to start with the raw distribution rather than a summary statistic, because a summary statistic can hide a lot.</a:t>
            </a:r>
          </a:p>
          <a:p/>
          <a:p>
            <a:r>
              <a:t>72 monthly observations. The mean is 1.59% and the median is 2.73. The median sitting well above the mean tells you straight away there's a left tail, because a few large negative months are dragging the average down.</a:t>
            </a:r>
          </a:p>
          <a:p/>
          <a:p>
            <a:r>
              <a:t>Skewness confirms it at minus 0.47, which is mild and completely normal for equities. Excess kurtosis is essentially zero, so no fat tails. And Jarque-Bera gives a p-value of 0.28, so we can't reject normality. That matters, because it means the risk measures on the next few slides can be trusted for this fund.</a:t>
            </a:r>
          </a:p>
          <a:p/>
          <a:p>
            <a:r>
              <a:t>Best month, April 2020, plus 14.5. Worst, April 2022, minus 12.1. And 50 of the 72 months were positive.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keep one slide from today, keep this one.</a:t>
            </a:r>
          </a:p>
          <a:p/>
          <a:p>
            <a:r>
              <a:t>Read down our column and compare it to the two benchmarks beside it.</a:t>
            </a:r>
          </a:p>
          <a:p/>
          <a:p>
            <a:r>
              <a:t>Sharpe is 0.94 against 0.75 and 0.65. Sortino, which only penalises downside volatility, is 1.51 against 1.18. That improvement is bigger than the improvement in Sharpe, and that tells you our volatility was disproportionately upside volatility, which is what you want.</a:t>
            </a:r>
          </a:p>
          <a:p/>
          <a:p>
            <a:r>
              <a:t>And look at the bottom row. Levered to exactly the S and P's volatility, this fund would have returned 17.2% a year against the index's 11.3. That's like-for-like at matched risk, and it's a 6-point gap.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value-at-risk and expected shortfall, which are what your risk committees will ask for.</a:t>
            </a:r>
          </a:p>
          <a:p/>
          <a:p>
            <a:r>
              <a:t>Our 95% one-month value-at-risk is minus 8.82%. Read it this way. In the worst month out of 20, we'd expect to lose at least 8.8%, and on the fund's closing value that's a $24.6 million month.</a:t>
            </a:r>
          </a:p>
          <a:p/>
          <a:p>
            <a:r>
              <a:t>The number I'd actually watch is expected shortfall, because value-at-risk only gives you the threshold and not how bad it gets beyond it. Ours is minus 10.2%.</a:t>
            </a:r>
          </a:p>
          <a:p/>
          <a:p>
            <a:r>
              <a:t>Compare that to the NASDAQ-100. Its threshold is essentially identical to ours, but its expected shortfall is worse and its 99% figure is worse again. Same threshold risk, thinner tail beyond it. And again, that's diversification rather than anything clever in timing.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seasonality, and I'll frame this carefully, because it's easy to over-read.</a:t>
            </a:r>
          </a:p>
          <a:p/>
          <a:p>
            <a:r>
              <a:t>July was our strongest month at plus 5.8%, positive in all 6 years. September was weakest at minus 2.8%, dragged there by three heavy losses in 2020, 2021 and 2022.</a:t>
            </a:r>
          </a:p>
          <a:p/>
          <a:p>
            <a:r>
              <a:t>But here's why I wouldn't build a strategy on it. 6 observations per calendar month is nowhere near enough to separate a real seasonal effect from noise. The standard error on any of those averages is over 2%, so almost none of these differences would survive a significance test.</a:t>
            </a:r>
          </a:p>
          <a:p/>
          <a:p>
            <a:r>
              <a:t>What the grid does show usefully is how the extremes cluster. Look at the 2020 row, then the 2022 row. The best month in this fund's history and the worst sit within 24 months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you should be asking me. Was any of this skill, or did we simply own high-beta growth stocks in a decade that rewarded high-beta growth stocks?</a:t>
            </a:r>
          </a:p>
          <a:p/>
          <a:p>
            <a:r>
              <a:t>You answer that with a factor regression. Take the fund's excess return over cash, regress it on known risk factors, and see what's left over. That leftover is Jensen's alpha.</a:t>
            </a:r>
          </a:p>
          <a:p/>
          <a:p>
            <a:r>
              <a:t>Start with the CAPM. 7.2% a year, t-statistic 2.19. But the CAPM only controls for market risk, so a sceptic would say a growth tilt is doing the work.</a:t>
            </a:r>
          </a:p>
          <a:p/>
          <a:p>
            <a:r>
              <a:t>So add size and value. The alpha comes down to 5.9%, but the significance goes up. Add profitability and investment and we get 6.6%, with a t-statistic of 3.06 and a p-value of 0.002. Add momentum and it barely moves.</a:t>
            </a:r>
          </a:p>
          <a:p/>
          <a:p>
            <a:r>
              <a:t>And now the bottom row, which is where I'd spend my time if I were you. I ran the same five-factor test on the NASDAQ-100 itself. Its alpha is 2.4% with a t-statistic of 1.41, which is indistinguishable from zero.</a:t>
            </a:r>
          </a:p>
          <a:p/>
          <a:p>
            <a:r>
              <a:t>So the benchmark's strong decade is fully explained by its factor exposures. Ours is not. That difference is what you were paying a management fee for.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coefficients describe the fund more honestly than any marketing document could.</a:t>
            </a:r>
          </a:p>
          <a:p/>
          <a:p>
            <a:r>
              <a:t>Market loading is 1.05, so we moved one-for-one with the equity market. We weren't levered.</a:t>
            </a:r>
          </a:p>
          <a:p/>
          <a:p>
            <a:r>
              <a:t>Size is minus 0.22 and significant. A negative size loading means large-cap, which is correct and intended. Value is minus 0.19, also significant, and negative value means growth. Also intended.</a:t>
            </a:r>
          </a:p>
          <a:p/>
          <a:p>
            <a:r>
              <a:t>Profitability and investment are both small and neither is significant. That's worth pointing out, because a common criticism of technology alpha is that it's really a quality tilt in disguise. Here it isn't. And momentum is effectively zero, so this was never a momentum-chasing strategy.</a:t>
            </a:r>
          </a:p>
          <a:p/>
          <a:p>
            <a:r>
              <a:t>So what you're looking at is a large-cap growth fund with market-like beta, no leverage and no hidden factor bets. Which is precisely the description in the mandate I showed you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check, because a full-sample alpha can always be produced by a single extraordinary year. I've re-estimated it on every rolling three-year window, and the line never drops below zero.</a:t>
            </a:r>
          </a:p>
          <a:p/>
          <a:p>
            <a:r>
              <a:t>Alpha was earned in the growth years of 2017 to 2019, and it was also earned in the very different windows dominated by the 2020 crash and the 2022 rate shock.</a:t>
            </a:r>
          </a:p>
          <a:p/>
          <a:p>
            <a:r>
              <a:t>The shape is worth a moment though. It declines through the middle and recovers at the right-hand end. Those middle windows are 2020 and 2021, when the NASDAQ-100 was extremely hard to beat and our sector floors were a drag. The recovery at the right is 2022.</a:t>
            </a:r>
          </a:p>
          <a:p/>
          <a:p>
            <a:r>
              <a:t>So the source of our alpha changed character. Security selection early, downside protection later. That's a healthy sign rather than a worrying one, because it means the fund wasn't dependent on one market regime.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get underneath the portfolio number now, because ultimately you hired me to pick 11 stocks.</a:t>
            </a:r>
          </a:p>
          <a:p/>
          <a:p>
            <a:r>
              <a:t>The fairest test of a pick isn't whether it went up. It's whether it beat the sector it sits in, because if I pick a technology stock in a decade when every technology stock rose, I haven't demonstrated anything.</a:t>
            </a:r>
          </a:p>
          <a:p/>
          <a:p>
            <a:r>
              <a:t>Blue is our stock, orange is its sector fund. 9 of our 11 picks beat their sector.</a:t>
            </a:r>
          </a:p>
          <a:p/>
          <a:p>
            <a:r>
              <a:t>The standouts. Costco beat consumer staples by 152 points, NextEra beat utilities by 146, and Microsoft beat technology by 142. That last one matters most, because it happened inside our largest position.</a:t>
            </a:r>
          </a:p>
          <a:p/>
          <a:p>
            <a:r>
              <a:t>Two misses. Illumina, where the thesis was right but the GRAIL acquisition and the regulatory fight around it destroyed value. And Schlumberger, which lost money against an energy sector that gained 54%.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Microsoft contributed 41.9 points of our 179%. That's 23% of everything this fund made, out of a 16% position. Sizing your highest-conviction idea largest is the most consequential decision a manager makes, and this is what it looks like when it goes right.</a:t>
            </a:r>
          </a:p>
          <a:p/>
          <a:p>
            <a:r>
              <a:t>Alphabet gave us 22 points, Albemarle 21. Albemarle is the surprise, a 6% materials position that rode the lithium and electric-vehicle supply chain. Illumina is the clear disappointment, where 8% of the book delivered under 2 points.</a:t>
            </a:r>
          </a:p>
          <a:p/>
          <a:p>
            <a:r>
              <a:t>But the panel on the right is the most interesting finding in this whole review. Schlumberger lost 23.5% over 6 years, and still contributed a positive 13 points.</a:t>
            </a:r>
          </a:p>
          <a:p/>
          <a:p>
            <a:r>
              <a:t>How? Every quarter it fell, our rebalancing rule bought more of it at a lower price. Then in 2022 it returned 81%, by which point we owned far more shares than we started with. A losing stock made money for this fund because of a mechanical process rule.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Brinson attribution answers one question. How much of our outperformance came from being in the right sectors, and how much from picking the right stocks inside them?</a:t>
            </a:r>
          </a:p>
          <a:p/>
          <a:p>
            <a:r>
              <a:t>To isolate that I built a benchmark with exactly our sector coverage, at neutral weights, with no stock selection at all. It returned 85% against our 179%.</a:t>
            </a:r>
          </a:p>
          <a:p/>
          <a:p>
            <a:r>
              <a:t>Decompose the difference and allocation contributed 1.8 points. Almost nothing. Selection contributed 41.4 points. Interaction contributed 1.</a:t>
            </a:r>
          </a:p>
          <a:p/>
          <a:p>
            <a:r>
              <a:t>So 94% of our active return came from security selection.</a:t>
            </a:r>
          </a:p>
          <a:p/>
          <a:p>
            <a:r>
              <a:t>Here's why that matters for your decision. Allocation skill is a macro forecasting call, and the evidence that anyone repeats macro calls is weak. Selection skill is the output of a research process, so you can describe it, staff it and repeat it. If our outperformance had come from sector timing, I'd be much less confident recommending this fund continues.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challenge to everything I've said is that a model could have done better. So I tested it.</a:t>
            </a:r>
          </a:p>
          <a:p/>
          <a:p>
            <a:r>
              <a:t>I took 3 years of data ending December 2016, which is the information a manager actually had at launch, fed it to a mean-variance optimiser, and ran the weights forward on the same rebalancing rule.</a:t>
            </a:r>
          </a:p>
          <a:p/>
          <a:p>
            <a:r>
              <a:t>The result is 19.7% a year against our 18.7. So yes, the optimiser wins, by about a point a year.</a:t>
            </a:r>
          </a:p>
          <a:p/>
          <a:p>
            <a:r>
              <a:t>But look at what it had to do. 25% into Equinix and another 25% into NextEra, both of which breach our 16% cap. And nothing at all into Alphabet, Visa, Albemarle or Schlumberger, which breaches our sector floor four times over.</a:t>
            </a:r>
          </a:p>
          <a:p/>
          <a:p>
            <a:r>
              <a:t>So the optimiser didn't beat our strategy. It declined to run it. It bought a better backtest by throwing away the constraints that, as we saw in 2022, are what protected you.</a:t>
            </a:r>
          </a:p>
          <a:p/>
          <a:p>
            <a:r>
              <a:t>And the last row is the humbling one. With perfect hindsight the best achievable was 22.9%. We captured 82% of a number nobody could have known.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Upside capture of 120%. In the months the S and P rose, we rose 20% more than it did. Downside capture of 97, so in the months it fell, we fell slightly less.</a:t>
            </a:r>
          </a:p>
          <a:p/>
          <a:p>
            <a:r>
              <a:t>That asymmetry is the engine of the whole result. You don't have to be right about market direction to compound at 18% a year, as long as you participate disproportionately in the good months and only proportionately in the bad ones.</a:t>
            </a:r>
          </a:p>
          <a:p/>
          <a:p>
            <a:r>
              <a:t>Now contrast the NASDAQ-100. It captured 118% of the upside, very similar to us, but 108% of the downside. More of the gains, and more of the losses. That 11-point difference, compounded over 72 months, is essentially the entire gap between our $279 million and its $235 million.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accountability slide. 10 commitments, marked against what actually happened.</a:t>
            </a:r>
          </a:p>
          <a:p/>
          <a:p>
            <a:r>
              <a:t>We said 8% to 10% net a year and delivered 17.5%. We said 55% to 70% cumulative and delivered 163%.</a:t>
            </a:r>
          </a:p>
          <a:p/>
          <a:p>
            <a:r>
              <a:t>Then the process commitments, which matter just as much. All 11 sectors held through all 24 quarters. All 24 rebalances executed on schedule. The largest drift we ever ran was 2.9 points, comfortably inside our 5-point threshold, so the drift rule never had to fire. And the mid-life review was delivered at the end of 2019.</a:t>
            </a:r>
          </a:p>
          <a:p/>
          <a:p>
            <a:r>
              <a:t>10 commitments. 4 exceeded, 6 met, none missed.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Gross, the fund compounded at 18.7%. Our management fee is 90 basis points a year, flat.</a:t>
            </a:r>
          </a:p>
          <a:p/>
          <a:p>
            <a:r>
              <a:t>The performance fee is where the structure earns its keep. We charge 10% of returns above the hurdle, and our hurdle is the NASDAQ-100 rather than zero. Because that benchmark itself returned 15.3% a year, we only cleared it by 2.5 points, so the performance fee comes out at 25 basis points instead of the 1.8% a zero-hurdle fund would have charged.</a:t>
            </a:r>
          </a:p>
          <a:p/>
          <a:p>
            <a:r>
              <a:t>Total load, 1.15% a year. Net to you, 17.51% a year, or 163% over the 6 years.</a:t>
            </a:r>
          </a:p>
          <a:p/>
          <a:p>
            <a:r>
              <a:t>And here's the honest alternative. A NASDAQ-100 fund at 20 basis points would have cost $5.7 million less and returned $235 million. We returned $279 million. So after paying us every dollar of fee, you're $38.7 million ahead of the cheap passive option. That's the only fee test that matters, and we pass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should this fund continue?</a:t>
            </a:r>
          </a:p>
          <a:p/>
          <a:p>
            <a:r>
              <a:t>My recommendation is yes, and I'll give you three specific reasons rather than a general expression of confidence.</a:t>
            </a:r>
          </a:p>
          <a:p/>
          <a:p>
            <a:r>
              <a:t>First, the alpha is real and I believe it's repeatable. 6.6% a year that five established risk factors can't explain, and 94% of it from selection rather than sector timing. Selection skill is a process. Macro timing is a guess.</a:t>
            </a:r>
          </a:p>
          <a:p/>
          <a:p>
            <a:r>
              <a:t>Second, the thesis isn't exhausted. Cloud is still a minority of enterprise IT spend, 6 years after we argued it was early. 2022 repriced the multiple, not the demand.</a:t>
            </a:r>
          </a:p>
          <a:p/>
          <a:p>
            <a:r>
              <a:t>Third, the construction discipline was tested by the two hardest events in 20 years, and it held.</a:t>
            </a:r>
          </a:p>
          <a:p/>
          <a:p>
            <a:r>
              <a:t>But I'd be doing you a disservice if I asked for renewal without saying what I'd change. We need to widen our tail-scenario assumptions, because we said a recession would cost 4% and it cost 22.5. We need a valuation discipline on entry, because Illumina was a correct thesis bought with no margin of safety. And I'd ask you to consider raising the position cap from 16 to 20%, because that cap forced us to trim Microsoft, our single best decision, at 19 of the 24 rebalances. The sector floors I'd leave completely untouched, because those are what saved us.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that's the review.</a:t>
            </a:r>
          </a:p>
          <a:p/>
          <a:p>
            <a:r>
              <a:t>Three sentences to summarise. $100 million became $279 million. We did it with a shallower drawdown than our own benchmark and a higher Sharpe ratio than any comparator I could construct. And after controlling for every standard risk factor, 6.6% a year remains unexplained by anything except the decisions we made.</a:t>
            </a:r>
          </a:p>
          <a:p/>
          <a:p>
            <a:r>
              <a:t>I'm recommending the fund continues, with the three mandate changes I've set out.</a:t>
            </a:r>
          </a:p>
          <a:p/>
          <a:p>
            <a:r>
              <a:t>Happy to take questions, and there's a substantial appendix if you want to go deeper. Thank you for 6 years of patient capital.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so anyone can reproduce every number in the deck.</a:t>
            </a:r>
          </a:p>
          <a:p/>
          <a:p>
            <a:r>
              <a:t>2 points I'd flag if challenged. The benchmarks first. I've used the QQQ and SPY funds rather than the raw index levels, because the raw series are price-only and exclude dividends. Comparing our dividend-inclusive return against a price-only index would have flattered us by roughly 2% a year. Using the funds makes it like-for-like, and investable.</a:t>
            </a:r>
          </a:p>
          <a:p/>
          <a:p>
            <a:r>
              <a:t>Second, what's excluded. These returns are gross of transaction costs and taxes. With 24 rebalances of 11 very liquid US names, realistic costs are a few basis points a year. That's immaterial at this scale, but I'd rather state it than have you discover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metric table if you want to interrogate a specific number.</a:t>
            </a:r>
          </a:p>
          <a:p/>
          <a:p>
            <a:r>
              <a:t>The comparison I'd encourage is our column against the equal-weight column beside it, because equal weighting the same 11 stocks is a genuinely hard benchmark.</a:t>
            </a:r>
          </a:p>
          <a:p/>
          <a:p>
            <a:r>
              <a:t>We beat it on cumulative return, annualised return, Sharpe, Sortino, Treynor and information ratio. It beat us on maximum drawdown and Calmar, because it held less of the mega-caps that fell hardest in 2022.</a:t>
            </a:r>
          </a:p>
          <a:p/>
          <a:p>
            <a:r>
              <a:t>So conviction weighting added return and risk-adjusted return while costing a little on worst-case drawdown. That's a fair characterisation of what active weighting bought you.</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holding, measured on the same basis as the portfolio.</a:t>
            </a:r>
          </a:p>
          <a:p/>
          <a:p>
            <a:r>
              <a:t>The interesting part is the last two columns and the bottom row. Only Microsoft and NextEra produced a statistically significant alpha on their own. Costco misses by a whisker at 1.95, and everything else sits below 2.</a:t>
            </a:r>
          </a:p>
          <a:p/>
          <a:p>
            <a:r>
              <a:t>But the portfolio's alpha has a t-statistic of 2.19 on the CAPM and 3.06 on the five-factor model. So the portfolio is more significant than almost every stock in it.</a:t>
            </a:r>
          </a:p>
          <a:p/>
          <a:p>
            <a:r>
              <a:t>That isn't a paradox, it's diversification. Combining 11 imperfectly correlated positions cancels out a lot of idiosyncratic noise while keeping the common component of the selection skill. The signal survives and much of the noise doesn't.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regression output, if you want to check the work.</a:t>
            </a:r>
          </a:p>
          <a:p/>
          <a:p>
            <a:r>
              <a:t>Read across the alpha row. 7.2, 5.9, 6.6, 6.5. The alpha is stable across specifications, and that matters, because an alpha that collapses when you add a factor was never alpha. It was an unmeasured exposure.</a:t>
            </a:r>
          </a:p>
          <a:p/>
          <a:p>
            <a:r>
              <a:t>Market loading sits between 2.05 in every model, always with a t-statistic above 15. Size and value are significantly negative everywhere, which confirms the large-cap growth profile. Profitability, investment and momentum are all insignificant, and that's a meaningful negative result, because it means our excess return isn't a repackaged quality factor.</a:t>
            </a:r>
          </a:p>
          <a:p/>
          <a:p>
            <a:r>
              <a:t>I've used Newey-West standard errors with four lags throughout. Ordinary errors would have given me higher t-statistics, so this is the conservative choice.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matrix of monthly returns across the 11 holdings.</a:t>
            </a:r>
          </a:p>
          <a:p/>
          <a:p>
            <a:r>
              <a:t>Average pairwise correlation is 0.40. For 11 stocks inside a single theme, that's low.</a:t>
            </a:r>
          </a:p>
          <a:p/>
          <a:p>
            <a:r>
              <a:t>The structure is intuitive. The three platforms cluster tightly, with Microsoft and Alphabet at 0.74. That's the concentration risk inside tier one, and it's why the position cap mattered.</a:t>
            </a:r>
          </a:p>
          <a:p/>
          <a:p>
            <a:r>
              <a:t>At the other end are the genuine diversifiers. NextEra against Schlumberger is minus 0.12, so they're actually negatively correlated. That corner of the matrix is where the ballast lives, and those low correlations produced our 10-point drawdown advantage in 2022.</a:t>
            </a:r>
          </a:p>
          <a:p/>
          <a:p>
            <a:r>
              <a:t>It's also why the portfolio's volatility of 19% sits so far below the average constituent volatility of about 29.</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classic risk-return scatter, with each bubble sized by target weight.</a:t>
            </a:r>
          </a:p>
          <a:p/>
          <a:p>
            <a:r>
              <a:t>The important feature is where the star sits, up and to the left of almost every individual holding. Only Microsoft, NextEra and Costco sit above the portfolio on return, and all three did it at comparable or higher volatility. Meanwhile Schlumberger is out at 49% volatility and Albemarle at 44.</a:t>
            </a:r>
          </a:p>
          <a:p/>
          <a:p>
            <a:r>
              <a:t>The portfolio ran lower volatility than every 1 of its 11 constituents. Combining assets that individually carried 20 to 49% volatility produced something carrying 19. That's the argument for diversification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ex-post efficient frontier, built from the 11 stocks we owned. Nobody could have known this frontier in advance. It only exists because we now know the answers.</a:t>
            </a:r>
          </a:p>
          <a:p/>
          <a:p>
            <a:r>
              <a:t>The fund sits below it and slightly to the right, which is where a real portfolio should sit. The vertical distance at our realised volatility is about 7 points of annual return, and that's the price of not having known the future.</a:t>
            </a:r>
          </a:p>
          <a:p/>
          <a:p>
            <a:r>
              <a:t>What I find more informative is that the fund, the equal-weight portfolio and the ex-ante optimiser all cluster in the same small region. Three different construction philosophies converged on almost the same outcome, which tells you the dominant driver was which 11 stocks we chose, not how we weighted them.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supporting exhibits here.</a:t>
            </a:r>
          </a:p>
          <a:p/>
          <a:p>
            <a:r>
              <a:t>The box plot compares the four distributions directly. Our median monthly return is visibly higher than both benchmarks, our interquartile range is tighter than the NASDAQ-100's, and our extremes are contained relative to it.</a:t>
            </a:r>
          </a:p>
          <a:p/>
          <a:p>
            <a:r>
              <a:t>The chart underneath shows dispersion across the 11 holdings. The range runs from minus 24% to plus 319, inside an 11-stock portfolio, in a single theme, over 6 years.</a:t>
            </a:r>
          </a:p>
          <a:p/>
          <a:p>
            <a:r>
              <a:t>That dispersion is exactly why the position cap mattered. Suppose we'd been permitted a 30% position and had put it into Illumina rather than Microsoft. In 2016 the genomics thesis was every bit as compelling as the cloud thesis, so that was a live possibility. This would be a very different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stability checks.</a:t>
            </a:r>
          </a:p>
          <a:p/>
          <a:p>
            <a:r>
              <a:t>The top chart is our rolling three-year market beta. It stays inside a narrow band for the entire sample, between about 0.97 and 1.08. So we never drifted into higher-beta positioning as markets rose, and that's a common and destructive pattern in growth funds.</a:t>
            </a:r>
          </a:p>
          <a:p/>
          <a:p>
            <a:r>
              <a:t>The chart underneath is rolling one-year volatility. You can see the shape of the period in it. Low volatility through 2017, the COVID spike, a calm 2021, then the sustained rise through 2022.</a:t>
            </a:r>
          </a:p>
          <a:p/>
          <a:p>
            <a:r>
              <a:t>The detail that matters is that our line sits below the NASDAQ-100's for most of the sample. We ran less total risk than our own benchmark while delivering more return, which is, in one sentence, the argument this whole deck has been making.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pieces of supporting detail.</a:t>
            </a:r>
          </a:p>
          <a:p/>
          <a:p>
            <a:r>
              <a:t>The chart is the month-of-year seasonality I mentioned earlier. July strongest at plus 5.8%, September weakest at minus 2.8%. 6 observations per month, so treat it as description rather than signal.</a:t>
            </a:r>
          </a:p>
          <a:p/>
          <a:p>
            <a:r>
              <a:t>The table is the fee benchmarking, and this is the comparison I'd want if I were sitting where you are. A passive S and P 500 fund costs about 9 basis points and returned 90%. A NASDAQ-100 fund costs about 20 basis points and returned 135%. We cost 1.15% all in and returned 179%.</a:t>
            </a:r>
          </a:p>
          <a:p/>
          <a:p>
            <a:r>
              <a:t>So the arithmetic. We cost you $5.7 million more than the NASDAQ fund and delivered $44.4 million more in terminal value. You kept $38.7 million after every dollar of fee.</a:t>
            </a:r>
          </a:p>
          <a:p/>
          <a:p>
            <a:r>
              <a:t>I put this in the appendix deliberately, because a manager should be prepared to defend a fee on request, not only when it flatters them.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references and declarations.</a:t>
            </a:r>
          </a:p>
          <a:p/>
          <a:p>
            <a:r>
              <a:t>The methodology follows the standard literature throughout. Jensen for alpha, Sharpe, Sortino and Treynor for the risk-adjusted ratios, Fama and French for the factor models, Brinson for attribution, Markowitz for the frontier, and Newey and West for the standard-error correction.</a:t>
            </a:r>
          </a:p>
          <a:p/>
          <a:p>
            <a:r>
              <a:t>On AI use, this assessment is classified as AI-Supported, and I've declared the tools and, more importantly, the division of labour. The analytical scope, the choice of benchmarks and factor models, the interpretation of every result and the recommendation are mine. Every number traces back to a reproducible calculation on primary market data, and the code and workbook accompany this submission.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1115568"/>
            <a:ext cx="8229600" cy="365760"/>
          </a:xfrm>
          <a:prstGeom prst="rect">
            <a:avLst/>
          </a:prstGeom>
          <a:noFill/>
        </p:spPr>
        <p:txBody>
          <a:bodyPr wrap="square" lIns="0" rIns="0" tIns="0" bIns="0" anchor="t">
            <a:spAutoFit/>
          </a:bodyPr>
          <a:lstStyle/>
          <a:p>
            <a:pPr algn="l">
              <a:lnSpc>
                <a:spcPct val="105000"/>
              </a:lnSpc>
            </a:pPr>
            <a:r>
              <a:rPr sz="1200" b="0" i="0" spc="340">
                <a:solidFill>
                  <a:srgbClr val="C4551A"/>
                </a:solidFill>
                <a:latin typeface="Corbel"/>
              </a:rPr>
              <a:t>NORTHPOINT</a:t>
            </a:r>
          </a:p>
        </p:txBody>
      </p:sp>
      <p:sp>
        <p:nvSpPr>
          <p:cNvPr id="4" name="TextBox 3"/>
          <p:cNvSpPr txBox="1"/>
          <p:nvPr/>
        </p:nvSpPr>
        <p:spPr>
          <a:xfrm>
            <a:off x="960120" y="1591056"/>
            <a:ext cx="7863840" cy="1920240"/>
          </a:xfrm>
          <a:prstGeom prst="rect">
            <a:avLst/>
          </a:prstGeom>
          <a:noFill/>
        </p:spPr>
        <p:txBody>
          <a:bodyPr wrap="square" lIns="0" rIns="0" tIns="0" bIns="0" anchor="t">
            <a:spAutoFit/>
          </a:bodyPr>
          <a:lstStyle/>
          <a:p>
            <a:pPr algn="l">
              <a:lnSpc>
                <a:spcPct val="106000"/>
              </a:lnSpc>
            </a:pPr>
            <a:r>
              <a:rPr sz="5000" b="0" i="0">
                <a:solidFill>
                  <a:srgbClr val="F2ECDE"/>
                </a:solidFill>
                <a:latin typeface="Georgia"/>
              </a:rPr>
              <a:t>Northpoint Digital</a:t>
            </a:r>
          </a:p>
          <a:p>
            <a:pPr algn="l">
              <a:lnSpc>
                <a:spcPct val="106000"/>
              </a:lnSpc>
            </a:pPr>
            <a:r>
              <a:rPr sz="5000" b="0" i="0">
                <a:solidFill>
                  <a:srgbClr val="F2ECDE"/>
                </a:solidFill>
                <a:latin typeface="Georgia"/>
              </a:rPr>
              <a:t>Innovation Fund</a:t>
            </a:r>
          </a:p>
        </p:txBody>
      </p:sp>
      <p:sp>
        <p:nvSpPr>
          <p:cNvPr id="5" name="Rectangle 4"/>
          <p:cNvSpPr/>
          <p:nvPr/>
        </p:nvSpPr>
        <p:spPr>
          <a:xfrm>
            <a:off x="1024128" y="3529584"/>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3858768"/>
            <a:ext cx="7680960" cy="914400"/>
          </a:xfrm>
          <a:prstGeom prst="rect">
            <a:avLst/>
          </a:prstGeom>
          <a:noFill/>
        </p:spPr>
        <p:txBody>
          <a:bodyPr wrap="square" lIns="0" rIns="0" tIns="0" bIns="0" anchor="t">
            <a:spAutoFit/>
          </a:bodyPr>
          <a:lstStyle/>
          <a:p>
            <a:pPr algn="l">
              <a:lnSpc>
                <a:spcPct val="138000"/>
              </a:lnSpc>
            </a:pPr>
            <a:r>
              <a:rPr sz="1450" b="0" i="0">
                <a:solidFill>
                  <a:srgbClr val="A9BEB8"/>
                </a:solidFill>
                <a:latin typeface="Corbel"/>
              </a:rPr>
              <a:t>Six-year performance review  ·  January 2017 – December 2022</a:t>
            </a:r>
          </a:p>
          <a:p>
            <a:pPr algn="l">
              <a:lnSpc>
                <a:spcPct val="138000"/>
              </a:lnSpc>
            </a:pPr>
            <a:r>
              <a:rPr sz="1450" b="0" i="0">
                <a:solidFill>
                  <a:srgbClr val="A9BEB8"/>
                </a:solidFill>
                <a:latin typeface="Corbel"/>
              </a:rPr>
              <a:t>Final report to investors  ·  New York · San Francisco · London · Hong Kong · Shanghai · Sydney</a:t>
            </a:r>
          </a:p>
        </p:txBody>
      </p:sp>
      <p:sp>
        <p:nvSpPr>
          <p:cNvPr id="7" name="TextBox 6"/>
          <p:cNvSpPr txBox="1"/>
          <p:nvPr/>
        </p:nvSpPr>
        <p:spPr>
          <a:xfrm>
            <a:off x="987552" y="5358384"/>
            <a:ext cx="7680960" cy="1005840"/>
          </a:xfrm>
          <a:prstGeom prst="rect">
            <a:avLst/>
          </a:prstGeom>
          <a:noFill/>
        </p:spPr>
        <p:txBody>
          <a:bodyPr wrap="square" lIns="0" rIns="0" tIns="0" bIns="0" anchor="t">
            <a:spAutoFit/>
          </a:bodyPr>
          <a:lstStyle/>
          <a:p>
            <a:pPr algn="l">
              <a:lnSpc>
                <a:spcPct val="138000"/>
              </a:lnSpc>
            </a:pPr>
            <a:r>
              <a:rPr sz="1150" b="0" i="0">
                <a:solidFill>
                  <a:srgbClr val="7E9994"/>
                </a:solidFill>
                <a:latin typeface="Corbel"/>
              </a:rPr>
              <a:t>Callum O'Connor  ·  Portfolio Manager</a:t>
            </a:r>
          </a:p>
          <a:p>
            <a:pPr algn="l">
              <a:lnSpc>
                <a:spcPct val="138000"/>
              </a:lnSpc>
            </a:pPr>
            <a:r>
              <a:rPr sz="1150" b="0" i="0">
                <a:solidFill>
                  <a:srgbClr val="7E9994"/>
                </a:solidFill>
                <a:latin typeface="Corbel"/>
              </a:rPr>
              <a:t>Student ID 14053836  ·  FINC13-303 Portfolio Analysis and Investments  ·  Bond University</a:t>
            </a:r>
          </a:p>
        </p:txBody>
      </p:sp>
      <p:sp>
        <p:nvSpPr>
          <p:cNvPr id="8" name="Rectangle 7"/>
          <p:cNvSpPr/>
          <p:nvPr/>
        </p:nvSpPr>
        <p:spPr>
          <a:xfrm>
            <a:off x="9162288" y="1700784"/>
            <a:ext cx="12801" cy="2834640"/>
          </a:xfrm>
          <a:prstGeom prst="rect">
            <a:avLst/>
          </a:prstGeom>
          <a:solidFill>
            <a:srgbClr val="1B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54896" y="1755648"/>
            <a:ext cx="2377440" cy="274320"/>
          </a:xfrm>
          <a:prstGeom prst="rect">
            <a:avLst/>
          </a:prstGeom>
          <a:noFill/>
        </p:spPr>
        <p:txBody>
          <a:bodyPr wrap="square" lIns="0" rIns="0" tIns="0" bIns="0" anchor="t">
            <a:spAutoFit/>
          </a:bodyPr>
          <a:lstStyle/>
          <a:p>
            <a:pPr algn="l">
              <a:lnSpc>
                <a:spcPct val="105000"/>
              </a:lnSpc>
            </a:pPr>
            <a:r>
              <a:rPr sz="850" b="0" i="0" spc="180">
                <a:solidFill>
                  <a:srgbClr val="C4551A"/>
                </a:solidFill>
                <a:latin typeface="Corbel"/>
              </a:rPr>
              <a:t>MANDATE OUTCOME</a:t>
            </a:r>
          </a:p>
        </p:txBody>
      </p:sp>
      <p:sp>
        <p:nvSpPr>
          <p:cNvPr id="10" name="TextBox 9"/>
          <p:cNvSpPr txBox="1"/>
          <p:nvPr/>
        </p:nvSpPr>
        <p:spPr>
          <a:xfrm>
            <a:off x="9418320" y="2103120"/>
            <a:ext cx="2560320" cy="731520"/>
          </a:xfrm>
          <a:prstGeom prst="rect">
            <a:avLst/>
          </a:prstGeom>
          <a:noFill/>
        </p:spPr>
        <p:txBody>
          <a:bodyPr wrap="square" lIns="0" rIns="0" tIns="0" bIns="0" anchor="t">
            <a:spAutoFit/>
          </a:bodyPr>
          <a:lstStyle/>
          <a:p>
            <a:pPr algn="l">
              <a:lnSpc>
                <a:spcPct val="105000"/>
              </a:lnSpc>
            </a:pPr>
            <a:r>
              <a:rPr sz="4400" b="0" i="0">
                <a:solidFill>
                  <a:srgbClr val="F2ECDE"/>
                </a:solidFill>
                <a:latin typeface="Georgia"/>
              </a:rPr>
              <a:t>$279m</a:t>
            </a:r>
          </a:p>
        </p:txBody>
      </p:sp>
      <p:sp>
        <p:nvSpPr>
          <p:cNvPr id="11" name="TextBox 10"/>
          <p:cNvSpPr txBox="1"/>
          <p:nvPr/>
        </p:nvSpPr>
        <p:spPr>
          <a:xfrm>
            <a:off x="9454896" y="2889504"/>
            <a:ext cx="2468880" cy="1554480"/>
          </a:xfrm>
          <a:prstGeom prst="rect">
            <a:avLst/>
          </a:prstGeom>
          <a:noFill/>
        </p:spPr>
        <p:txBody>
          <a:bodyPr wrap="square" lIns="0" rIns="0" tIns="0" bIns="0" anchor="t">
            <a:spAutoFit/>
          </a:bodyPr>
          <a:lstStyle/>
          <a:p>
            <a:pPr algn="l">
              <a:lnSpc>
                <a:spcPct val="142000"/>
              </a:lnSpc>
            </a:pPr>
            <a:r>
              <a:rPr sz="1150" b="0" i="0">
                <a:solidFill>
                  <a:srgbClr val="A9BEB8"/>
                </a:solidFill>
                <a:latin typeface="Corbel"/>
              </a:rPr>
              <a:t>from a $100 million mandate</a:t>
            </a:r>
          </a:p>
          <a:p>
            <a:pPr algn="l">
              <a:lnSpc>
                <a:spcPct val="142000"/>
              </a:lnSpc>
            </a:pPr>
            <a:r>
              <a:rPr sz="1150" b="0" i="0">
                <a:solidFill>
                  <a:srgbClr val="A9BEB8"/>
                </a:solidFill>
                <a:latin typeface="Corbel"/>
              </a:rPr>
              <a:t/>
            </a:r>
          </a:p>
          <a:p>
            <a:pPr algn="l">
              <a:lnSpc>
                <a:spcPct val="142000"/>
              </a:lnSpc>
            </a:pPr>
            <a:r>
              <a:rPr sz="1150" b="0" i="0">
                <a:solidFill>
                  <a:srgbClr val="A9BEB8"/>
                </a:solidFill>
                <a:latin typeface="Corbel"/>
              </a:rPr>
              <a:t>+179.2% cumulative</a:t>
            </a:r>
          </a:p>
          <a:p>
            <a:pPr algn="l">
              <a:lnSpc>
                <a:spcPct val="142000"/>
              </a:lnSpc>
            </a:pPr>
            <a:r>
              <a:rPr sz="1150" b="0" i="0">
                <a:solidFill>
                  <a:srgbClr val="A9BEB8"/>
                </a:solidFill>
                <a:latin typeface="Corbel"/>
              </a:rPr>
              <a:t>18.7% a year</a:t>
            </a:r>
          </a:p>
          <a:p>
            <a:pPr algn="l">
              <a:lnSpc>
                <a:spcPct val="142000"/>
              </a:lnSpc>
            </a:pPr>
            <a:r>
              <a:rPr sz="1150" b="0" i="0">
                <a:solidFill>
                  <a:srgbClr val="A9BEB8"/>
                </a:solidFill>
                <a:latin typeface="Corbel"/>
              </a:rPr>
              <a:t/>
            </a:r>
          </a:p>
          <a:p>
            <a:pPr algn="l">
              <a:lnSpc>
                <a:spcPct val="142000"/>
              </a:lnSpc>
            </a:pPr>
            <a:r>
              <a:rPr sz="1150" b="0" i="0">
                <a:solidFill>
                  <a:srgbClr val="A9BEB8"/>
                </a:solidFill>
                <a:latin typeface="Corbel"/>
              </a:rPr>
              <a:t>6.6% alpha, t = 3.06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02</a:t>
            </a:r>
          </a:p>
        </p:txBody>
      </p:sp>
      <p:sp>
        <p:nvSpPr>
          <p:cNvPr id="4" name="TextBox 3"/>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Agenda</a:t>
            </a:r>
          </a:p>
        </p:txBody>
      </p:sp>
      <p:sp>
        <p:nvSpPr>
          <p:cNvPr id="5" name="TextBox 4"/>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Six sections, twenty-five minutes, then questions</a:t>
            </a:r>
          </a:p>
        </p:txBody>
      </p:sp>
      <p:sp>
        <p:nvSpPr>
          <p:cNvPr id="6" name="Rectangle 5"/>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8" name="TextBox 7"/>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9" name="Rectangle 8"/>
          <p:cNvSpPr/>
          <p:nvPr/>
        </p:nvSpPr>
        <p:spPr>
          <a:xfrm>
            <a:off x="1298448" y="175564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98448" y="193852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1</a:t>
            </a:r>
          </a:p>
        </p:txBody>
      </p:sp>
      <p:sp>
        <p:nvSpPr>
          <p:cNvPr id="11" name="TextBox 10"/>
          <p:cNvSpPr txBox="1"/>
          <p:nvPr/>
        </p:nvSpPr>
        <p:spPr>
          <a:xfrm>
            <a:off x="1865376" y="199339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Where we started</a:t>
            </a:r>
          </a:p>
        </p:txBody>
      </p:sp>
      <p:sp>
        <p:nvSpPr>
          <p:cNvPr id="12" name="TextBox 11"/>
          <p:cNvSpPr txBox="1"/>
          <p:nvPr/>
        </p:nvSpPr>
        <p:spPr>
          <a:xfrm>
            <a:off x="5614416" y="202996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The mandate, the theme, and how the fund was actually run</a:t>
            </a:r>
          </a:p>
        </p:txBody>
      </p:sp>
      <p:sp>
        <p:nvSpPr>
          <p:cNvPr id="13" name="Rectangle 12"/>
          <p:cNvSpPr/>
          <p:nvPr/>
        </p:nvSpPr>
        <p:spPr>
          <a:xfrm>
            <a:off x="1298448" y="248716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267004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2</a:t>
            </a:r>
          </a:p>
        </p:txBody>
      </p:sp>
      <p:sp>
        <p:nvSpPr>
          <p:cNvPr id="15" name="TextBox 14"/>
          <p:cNvSpPr txBox="1"/>
          <p:nvPr/>
        </p:nvSpPr>
        <p:spPr>
          <a:xfrm>
            <a:off x="1865376" y="272491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The economy we lived through</a:t>
            </a:r>
          </a:p>
        </p:txBody>
      </p:sp>
      <p:sp>
        <p:nvSpPr>
          <p:cNvPr id="16" name="TextBox 15"/>
          <p:cNvSpPr txBox="1"/>
          <p:nvPr/>
        </p:nvSpPr>
        <p:spPr>
          <a:xfrm>
            <a:off x="5614416" y="276148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Six years, three regimes, and how our 2016 scenarios held up</a:t>
            </a:r>
          </a:p>
        </p:txBody>
      </p:sp>
      <p:sp>
        <p:nvSpPr>
          <p:cNvPr id="17" name="Rectangle 16"/>
          <p:cNvSpPr/>
          <p:nvPr/>
        </p:nvSpPr>
        <p:spPr>
          <a:xfrm>
            <a:off x="1298448" y="321868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340156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3</a:t>
            </a:r>
          </a:p>
        </p:txBody>
      </p:sp>
      <p:sp>
        <p:nvSpPr>
          <p:cNvPr id="19" name="TextBox 18"/>
          <p:cNvSpPr txBox="1"/>
          <p:nvPr/>
        </p:nvSpPr>
        <p:spPr>
          <a:xfrm>
            <a:off x="1865376" y="345643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What the fund returned</a:t>
            </a:r>
          </a:p>
        </p:txBody>
      </p:sp>
      <p:sp>
        <p:nvSpPr>
          <p:cNvPr id="20" name="TextBox 19"/>
          <p:cNvSpPr txBox="1"/>
          <p:nvPr/>
        </p:nvSpPr>
        <p:spPr>
          <a:xfrm>
            <a:off x="5614416" y="349300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Wealth created, benchmarked, and stress-tested through COVID and 2022</a:t>
            </a:r>
          </a:p>
        </p:txBody>
      </p:sp>
      <p:sp>
        <p:nvSpPr>
          <p:cNvPr id="21" name="Rectangle 20"/>
          <p:cNvSpPr/>
          <p:nvPr/>
        </p:nvSpPr>
        <p:spPr>
          <a:xfrm>
            <a:off x="1298448" y="395020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98448" y="413308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4</a:t>
            </a:r>
          </a:p>
        </p:txBody>
      </p:sp>
      <p:sp>
        <p:nvSpPr>
          <p:cNvPr id="23" name="TextBox 22"/>
          <p:cNvSpPr txBox="1"/>
          <p:nvPr/>
        </p:nvSpPr>
        <p:spPr>
          <a:xfrm>
            <a:off x="1865376" y="418795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How much risk we took</a:t>
            </a:r>
          </a:p>
        </p:txBody>
      </p:sp>
      <p:sp>
        <p:nvSpPr>
          <p:cNvPr id="24" name="TextBox 23"/>
          <p:cNvSpPr txBox="1"/>
          <p:nvPr/>
        </p:nvSpPr>
        <p:spPr>
          <a:xfrm>
            <a:off x="5614416" y="422452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Distribution, risk-adjusted returns, tail risk, and seasonality</a:t>
            </a:r>
          </a:p>
        </p:txBody>
      </p:sp>
      <p:sp>
        <p:nvSpPr>
          <p:cNvPr id="25" name="Rectangle 24"/>
          <p:cNvSpPr/>
          <p:nvPr/>
        </p:nvSpPr>
        <p:spPr>
          <a:xfrm>
            <a:off x="1298448" y="468172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98448" y="486460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5</a:t>
            </a:r>
          </a:p>
        </p:txBody>
      </p:sp>
      <p:sp>
        <p:nvSpPr>
          <p:cNvPr id="27" name="TextBox 26"/>
          <p:cNvSpPr txBox="1"/>
          <p:nvPr/>
        </p:nvSpPr>
        <p:spPr>
          <a:xfrm>
            <a:off x="1865376" y="491947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Was it skill?</a:t>
            </a:r>
          </a:p>
        </p:txBody>
      </p:sp>
      <p:sp>
        <p:nvSpPr>
          <p:cNvPr id="28" name="TextBox 27"/>
          <p:cNvSpPr txBox="1"/>
          <p:nvPr/>
        </p:nvSpPr>
        <p:spPr>
          <a:xfrm>
            <a:off x="5614416" y="495604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Jensen's alpha, factor models, attribution, and the optimised counterfactual</a:t>
            </a:r>
          </a:p>
        </p:txBody>
      </p:sp>
      <p:sp>
        <p:nvSpPr>
          <p:cNvPr id="29" name="Rectangle 28"/>
          <p:cNvSpPr/>
          <p:nvPr/>
        </p:nvSpPr>
        <p:spPr>
          <a:xfrm>
            <a:off x="1298448" y="541324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559612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6</a:t>
            </a:r>
          </a:p>
        </p:txBody>
      </p:sp>
      <p:sp>
        <p:nvSpPr>
          <p:cNvPr id="31" name="TextBox 30"/>
          <p:cNvSpPr txBox="1"/>
          <p:nvPr/>
        </p:nvSpPr>
        <p:spPr>
          <a:xfrm>
            <a:off x="1865376" y="565099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The verdict</a:t>
            </a:r>
          </a:p>
        </p:txBody>
      </p:sp>
      <p:sp>
        <p:nvSpPr>
          <p:cNvPr id="32" name="TextBox 31"/>
          <p:cNvSpPr txBox="1"/>
          <p:nvPr/>
        </p:nvSpPr>
        <p:spPr>
          <a:xfrm>
            <a:off x="5614416" y="568756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Objective scorecard, fees, and our recommendation on the fund's future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03</a:t>
            </a:r>
          </a:p>
        </p:txBody>
      </p:sp>
      <p:sp>
        <p:nvSpPr>
          <p:cNvPr id="4" name="TextBox 3"/>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six-year result</a:t>
            </a:r>
          </a:p>
        </p:txBody>
      </p:sp>
      <p:sp>
        <p:nvSpPr>
          <p:cNvPr id="5" name="TextBox 4"/>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figure on this slide is calculated from 72 months of dividend-adjusted total returns and is reproduced in the appendix</a:t>
            </a:r>
          </a:p>
        </p:txBody>
      </p:sp>
      <p:sp>
        <p:nvSpPr>
          <p:cNvPr id="6" name="Rectangle 5"/>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8" name="TextBox 7"/>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9" name="Rectangle 8"/>
          <p:cNvSpPr/>
          <p:nvPr/>
        </p:nvSpPr>
        <p:spPr>
          <a:xfrm>
            <a:off x="1298448" y="1664208"/>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98448"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+179.2%</a:t>
            </a:r>
          </a:p>
        </p:txBody>
      </p:sp>
      <p:sp>
        <p:nvSpPr>
          <p:cNvPr id="11" name="TextBox 10"/>
          <p:cNvSpPr txBox="1"/>
          <p:nvPr/>
        </p:nvSpPr>
        <p:spPr>
          <a:xfrm>
            <a:off x="1298448"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CUMULATIVE RETURN</a:t>
            </a:r>
          </a:p>
        </p:txBody>
      </p:sp>
      <p:sp>
        <p:nvSpPr>
          <p:cNvPr id="12" name="TextBox 11"/>
          <p:cNvSpPr txBox="1"/>
          <p:nvPr/>
        </p:nvSpPr>
        <p:spPr>
          <a:xfrm>
            <a:off x="1298448"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$100m mandate grew to $279.2m.</a:t>
            </a:r>
          </a:p>
          <a:p>
            <a:pPr algn="l">
              <a:lnSpc>
                <a:spcPct val="122000"/>
              </a:lnSpc>
            </a:pPr>
            <a:r>
              <a:rPr sz="900" b="0" i="0">
                <a:solidFill>
                  <a:srgbClr val="8C8478"/>
                </a:solidFill>
                <a:latin typeface="Corbel"/>
              </a:rPr>
              <a:t>S&amp;P 500 returned +90.0%;</a:t>
            </a:r>
          </a:p>
          <a:p>
            <a:pPr algn="l">
              <a:lnSpc>
                <a:spcPct val="122000"/>
              </a:lnSpc>
            </a:pPr>
            <a:r>
              <a:rPr sz="900" b="0" i="0">
                <a:solidFill>
                  <a:srgbClr val="8C8478"/>
                </a:solidFill>
                <a:latin typeface="Corbel"/>
              </a:rPr>
              <a:t>NASDAQ-100 +134.7%.</a:t>
            </a:r>
          </a:p>
        </p:txBody>
      </p:sp>
      <p:sp>
        <p:nvSpPr>
          <p:cNvPr id="13" name="Rectangle 12"/>
          <p:cNvSpPr/>
          <p:nvPr/>
        </p:nvSpPr>
        <p:spPr>
          <a:xfrm>
            <a:off x="3921175" y="1664208"/>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21175"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18.7%</a:t>
            </a:r>
          </a:p>
        </p:txBody>
      </p:sp>
      <p:sp>
        <p:nvSpPr>
          <p:cNvPr id="15" name="TextBox 14"/>
          <p:cNvSpPr txBox="1"/>
          <p:nvPr/>
        </p:nvSpPr>
        <p:spPr>
          <a:xfrm>
            <a:off x="3921175"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ANNUALISED RETURN</a:t>
            </a:r>
          </a:p>
        </p:txBody>
      </p:sp>
      <p:sp>
        <p:nvSpPr>
          <p:cNvPr id="16" name="TextBox 15"/>
          <p:cNvSpPr txBox="1"/>
          <p:nvPr/>
        </p:nvSpPr>
        <p:spPr>
          <a:xfrm>
            <a:off x="3921175"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Against a target of 8–10% net p.a.</a:t>
            </a:r>
          </a:p>
          <a:p>
            <a:pPr algn="l">
              <a:lnSpc>
                <a:spcPct val="122000"/>
              </a:lnSpc>
            </a:pPr>
            <a:r>
              <a:rPr sz="900" b="0" i="0">
                <a:solidFill>
                  <a:srgbClr val="8C8478"/>
                </a:solidFill>
                <a:latin typeface="Corbel"/>
              </a:rPr>
              <a:t>S&amp;P 500 11.3%; NASDAQ-100 15.3%.</a:t>
            </a:r>
          </a:p>
        </p:txBody>
      </p:sp>
      <p:sp>
        <p:nvSpPr>
          <p:cNvPr id="17" name="Rectangle 16"/>
          <p:cNvSpPr/>
          <p:nvPr/>
        </p:nvSpPr>
        <p:spPr>
          <a:xfrm>
            <a:off x="6543902" y="1664208"/>
            <a:ext cx="2348407" cy="18288"/>
          </a:xfrm>
          <a:prstGeom prst="rect">
            <a:avLst/>
          </a:prstGeom>
          <a:solidFill>
            <a:srgbClr val="8A6D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43902"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0.94</a:t>
            </a:r>
          </a:p>
        </p:txBody>
      </p:sp>
      <p:sp>
        <p:nvSpPr>
          <p:cNvPr id="19" name="TextBox 18"/>
          <p:cNvSpPr txBox="1"/>
          <p:nvPr/>
        </p:nvSpPr>
        <p:spPr>
          <a:xfrm>
            <a:off x="6543902"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SHARPE RATIO</a:t>
            </a:r>
          </a:p>
        </p:txBody>
      </p:sp>
      <p:sp>
        <p:nvSpPr>
          <p:cNvPr id="20" name="TextBox 19"/>
          <p:cNvSpPr txBox="1"/>
          <p:nvPr/>
        </p:nvSpPr>
        <p:spPr>
          <a:xfrm>
            <a:off x="6543902"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Highest of every comparator.</a:t>
            </a:r>
          </a:p>
          <a:p>
            <a:pPr algn="l">
              <a:lnSpc>
                <a:spcPct val="122000"/>
              </a:lnSpc>
            </a:pPr>
            <a:r>
              <a:rPr sz="900" b="0" i="0">
                <a:solidFill>
                  <a:srgbClr val="8C8478"/>
                </a:solidFill>
                <a:latin typeface="Corbel"/>
              </a:rPr>
              <a:t>NASDAQ-100 0.75; S&amp;P 500 0.65.</a:t>
            </a:r>
          </a:p>
          <a:p>
            <a:pPr algn="l">
              <a:lnSpc>
                <a:spcPct val="122000"/>
              </a:lnSpc>
            </a:pPr>
            <a:r>
              <a:rPr sz="900" b="0" i="0">
                <a:solidFill>
                  <a:srgbClr val="8C8478"/>
                </a:solidFill>
                <a:latin typeface="Corbel"/>
              </a:rPr>
              <a:t>Sortino 1.51.</a:t>
            </a:r>
          </a:p>
        </p:txBody>
      </p:sp>
      <p:sp>
        <p:nvSpPr>
          <p:cNvPr id="21" name="Rectangle 20"/>
          <p:cNvSpPr/>
          <p:nvPr/>
        </p:nvSpPr>
        <p:spPr>
          <a:xfrm>
            <a:off x="9166629" y="1664208"/>
            <a:ext cx="2348407" cy="18288"/>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66629"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-24.9%</a:t>
            </a:r>
          </a:p>
        </p:txBody>
      </p:sp>
      <p:sp>
        <p:nvSpPr>
          <p:cNvPr id="23" name="TextBox 22"/>
          <p:cNvSpPr txBox="1"/>
          <p:nvPr/>
        </p:nvSpPr>
        <p:spPr>
          <a:xfrm>
            <a:off x="9166629"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MAXIMUM DRAWDOWN</a:t>
            </a:r>
          </a:p>
        </p:txBody>
      </p:sp>
      <p:sp>
        <p:nvSpPr>
          <p:cNvPr id="24" name="TextBox 23"/>
          <p:cNvSpPr txBox="1"/>
          <p:nvPr/>
        </p:nvSpPr>
        <p:spPr>
          <a:xfrm>
            <a:off x="9166629"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Shallower than our own benchmark.</a:t>
            </a:r>
          </a:p>
          <a:p>
            <a:pPr algn="l">
              <a:lnSpc>
                <a:spcPct val="122000"/>
              </a:lnSpc>
            </a:pPr>
            <a:r>
              <a:rPr sz="900" b="0" i="0">
                <a:solidFill>
                  <a:srgbClr val="8C8478"/>
                </a:solidFill>
                <a:latin typeface="Corbel"/>
              </a:rPr>
              <a:t>NASDAQ-100 fell 32.6%.</a:t>
            </a:r>
          </a:p>
        </p:txBody>
      </p:sp>
      <p:sp>
        <p:nvSpPr>
          <p:cNvPr id="25" name="Rectangle 24"/>
          <p:cNvSpPr/>
          <p:nvPr/>
        </p:nvSpPr>
        <p:spPr>
          <a:xfrm>
            <a:off x="1298448" y="3803904"/>
            <a:ext cx="2348407" cy="18288"/>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98448"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6.6%</a:t>
            </a:r>
          </a:p>
        </p:txBody>
      </p:sp>
      <p:sp>
        <p:nvSpPr>
          <p:cNvPr id="27" name="TextBox 26"/>
          <p:cNvSpPr txBox="1"/>
          <p:nvPr/>
        </p:nvSpPr>
        <p:spPr>
          <a:xfrm>
            <a:off x="1298448"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ALPHA P.A. (FF5)</a:t>
            </a:r>
          </a:p>
        </p:txBody>
      </p:sp>
      <p:sp>
        <p:nvSpPr>
          <p:cNvPr id="28" name="TextBox 27"/>
          <p:cNvSpPr txBox="1"/>
          <p:nvPr/>
        </p:nvSpPr>
        <p:spPr>
          <a:xfrm>
            <a:off x="1298448"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Fama–French five-factor Jensen's</a:t>
            </a:r>
          </a:p>
          <a:p>
            <a:pPr algn="l">
              <a:lnSpc>
                <a:spcPct val="122000"/>
              </a:lnSpc>
            </a:pPr>
            <a:r>
              <a:rPr sz="900" b="0" i="0">
                <a:solidFill>
                  <a:srgbClr val="8C8478"/>
                </a:solidFill>
                <a:latin typeface="Corbel"/>
              </a:rPr>
              <a:t>alpha, t = 3.06, p = 0.002.</a:t>
            </a:r>
          </a:p>
          <a:p>
            <a:pPr algn="l">
              <a:lnSpc>
                <a:spcPct val="122000"/>
              </a:lnSpc>
            </a:pPr>
            <a:r>
              <a:rPr sz="900" b="0" i="0">
                <a:solidFill>
                  <a:srgbClr val="8C8478"/>
                </a:solidFill>
                <a:latin typeface="Corbel"/>
              </a:rPr>
              <a:t>Statistically significant.</a:t>
            </a:r>
          </a:p>
        </p:txBody>
      </p:sp>
      <p:sp>
        <p:nvSpPr>
          <p:cNvPr id="29" name="Rectangle 28"/>
          <p:cNvSpPr/>
          <p:nvPr/>
        </p:nvSpPr>
        <p:spPr>
          <a:xfrm>
            <a:off x="3921175" y="3803904"/>
            <a:ext cx="2348407" cy="18288"/>
          </a:xfrm>
          <a:prstGeom prst="rect">
            <a:avLst/>
          </a:prstGeom>
          <a:solidFill>
            <a:srgbClr val="8A6D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21175"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1.04</a:t>
            </a:r>
          </a:p>
        </p:txBody>
      </p:sp>
      <p:sp>
        <p:nvSpPr>
          <p:cNvPr id="31" name="TextBox 30"/>
          <p:cNvSpPr txBox="1"/>
          <p:nvPr/>
        </p:nvSpPr>
        <p:spPr>
          <a:xfrm>
            <a:off x="3921175"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BETA TO THE MARKET</a:t>
            </a:r>
          </a:p>
        </p:txBody>
      </p:sp>
      <p:sp>
        <p:nvSpPr>
          <p:cNvPr id="32" name="TextBox 31"/>
          <p:cNvSpPr txBox="1"/>
          <p:nvPr/>
        </p:nvSpPr>
        <p:spPr>
          <a:xfrm>
            <a:off x="3921175"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Market-like sensitivity.</a:t>
            </a:r>
          </a:p>
          <a:p>
            <a:pPr algn="l">
              <a:lnSpc>
                <a:spcPct val="122000"/>
              </a:lnSpc>
            </a:pPr>
            <a:r>
              <a:rPr sz="900" b="0" i="0">
                <a:solidFill>
                  <a:srgbClr val="8C8478"/>
                </a:solidFill>
                <a:latin typeface="Corbel"/>
              </a:rPr>
              <a:t>The excess return is not</a:t>
            </a:r>
          </a:p>
          <a:p>
            <a:pPr algn="l">
              <a:lnSpc>
                <a:spcPct val="122000"/>
              </a:lnSpc>
            </a:pPr>
            <a:r>
              <a:rPr sz="900" b="0" i="0">
                <a:solidFill>
                  <a:srgbClr val="8C8478"/>
                </a:solidFill>
                <a:latin typeface="Corbel"/>
              </a:rPr>
              <a:t>simply leverage on the index.</a:t>
            </a:r>
          </a:p>
        </p:txBody>
      </p:sp>
      <p:sp>
        <p:nvSpPr>
          <p:cNvPr id="33" name="Rectangle 32"/>
          <p:cNvSpPr/>
          <p:nvPr/>
        </p:nvSpPr>
        <p:spPr>
          <a:xfrm>
            <a:off x="6543902" y="3803904"/>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43902"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0.98</a:t>
            </a:r>
          </a:p>
        </p:txBody>
      </p:sp>
      <p:sp>
        <p:nvSpPr>
          <p:cNvPr id="35" name="TextBox 34"/>
          <p:cNvSpPr txBox="1"/>
          <p:nvPr/>
        </p:nvSpPr>
        <p:spPr>
          <a:xfrm>
            <a:off x="6543902"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INFORMATION RATIO</a:t>
            </a:r>
          </a:p>
        </p:txBody>
      </p:sp>
      <p:sp>
        <p:nvSpPr>
          <p:cNvPr id="36" name="TextBox 35"/>
          <p:cNvSpPr txBox="1"/>
          <p:nvPr/>
        </p:nvSpPr>
        <p:spPr>
          <a:xfrm>
            <a:off x="6543902"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Active return per unit of</a:t>
            </a:r>
          </a:p>
          <a:p>
            <a:pPr algn="l">
              <a:lnSpc>
                <a:spcPct val="122000"/>
              </a:lnSpc>
            </a:pPr>
            <a:r>
              <a:rPr sz="900" b="0" i="0">
                <a:solidFill>
                  <a:srgbClr val="8C8478"/>
                </a:solidFill>
                <a:latin typeface="Corbel"/>
              </a:rPr>
              <a:t>tracking error vs the S&amp;P 500</a:t>
            </a:r>
          </a:p>
          <a:p>
            <a:pPr algn="l">
              <a:lnSpc>
                <a:spcPct val="122000"/>
              </a:lnSpc>
            </a:pPr>
            <a:r>
              <a:rPr sz="900" b="0" i="0">
                <a:solidFill>
                  <a:srgbClr val="8C8478"/>
                </a:solidFill>
                <a:latin typeface="Corbel"/>
              </a:rPr>
              <a:t>(6.98% tracking error).</a:t>
            </a:r>
          </a:p>
        </p:txBody>
      </p:sp>
      <p:sp>
        <p:nvSpPr>
          <p:cNvPr id="37" name="Rectangle 36"/>
          <p:cNvSpPr/>
          <p:nvPr/>
        </p:nvSpPr>
        <p:spPr>
          <a:xfrm>
            <a:off x="9166629" y="3803904"/>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66629"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50 / 72</a:t>
            </a:r>
          </a:p>
        </p:txBody>
      </p:sp>
      <p:sp>
        <p:nvSpPr>
          <p:cNvPr id="39" name="TextBox 38"/>
          <p:cNvSpPr txBox="1"/>
          <p:nvPr/>
        </p:nvSpPr>
        <p:spPr>
          <a:xfrm>
            <a:off x="9166629"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POSITIVE MONTHS</a:t>
            </a:r>
          </a:p>
        </p:txBody>
      </p:sp>
      <p:sp>
        <p:nvSpPr>
          <p:cNvPr id="40" name="TextBox 39"/>
          <p:cNvSpPr txBox="1"/>
          <p:nvPr/>
        </p:nvSpPr>
        <p:spPr>
          <a:xfrm>
            <a:off x="9166629"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A 69.4% hit rate.</a:t>
            </a:r>
          </a:p>
          <a:p>
            <a:pPr algn="l">
              <a:lnSpc>
                <a:spcPct val="122000"/>
              </a:lnSpc>
            </a:pPr>
            <a:r>
              <a:rPr sz="900" b="0" i="0">
                <a:solidFill>
                  <a:srgbClr val="8C8478"/>
                </a:solidFill>
                <a:latin typeface="Corbel"/>
              </a:rPr>
              <a:t>Average up month +4.6%,</a:t>
            </a:r>
          </a:p>
          <a:p>
            <a:pPr algn="l">
              <a:lnSpc>
                <a:spcPct val="122000"/>
              </a:lnSpc>
            </a:pPr>
            <a:r>
              <a:rPr sz="900" b="0" i="0">
                <a:solidFill>
                  <a:srgbClr val="8C8478"/>
                </a:solidFill>
                <a:latin typeface="Corbel"/>
              </a:rPr>
              <a:t>average down month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01</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Where we started</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The mandate you funded in 2016, the eleven positions we bought, and whether we stayed faithful to the brief</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Where we started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WHERE WE STARTED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mandate you funded</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Nothing in the strategy changed over six years. The discipline was in the rules, not in the reacting</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00784"/>
          <a:ext cx="10344606" cy="4023360"/>
        </p:xfrm>
        <a:graphic>
          <a:graphicData uri="http://schemas.openxmlformats.org/drawingml/2006/table">
            <a:tbl>
              <a:tblPr>
                <a:tableStyleId>{5C22544A-7EE6-4342-B048-85BDC9FD1C3A}</a:tableStyleId>
              </a:tblPr>
              <a:tblGrid>
                <a:gridCol w="2793043"/>
                <a:gridCol w="7551563"/>
              </a:tblGrid>
              <a:tr h="365760">
                <a:tc>
                  <a:txBody>
                    <a:bodyPr wrap="square"/>
                    <a:lstStyle/>
                    <a:p>
                      <a:pPr algn="l"/>
                      <a:r>
                        <a:rPr sz="1000" b="1" spc="130">
                          <a:solidFill>
                            <a:srgbClr val="4A443C"/>
                          </a:solidFill>
                          <a:latin typeface="Corbel"/>
                        </a:rPr>
                        <a:t>MANDATE PARAMETER</a:t>
                      </a:r>
                    </a:p>
                  </a:txBody>
                  <a:tcPr marL="18288" marR="91440" marT="27432" marB="27432" anchor="ctr">
                    <a:noFill/>
                    <a:lnB w="6350" cap="flat">
                      <a:solidFill>
                        <a:srgbClr val="16130F"/>
                      </a:solidFill>
                    </a:lnB>
                  </a:tcPr>
                </a:tc>
                <a:tc>
                  <a:txBody>
                    <a:bodyPr wrap="square"/>
                    <a:lstStyle/>
                    <a:p>
                      <a:pPr algn="l"/>
                      <a:r>
                        <a:rPr sz="1000" b="1" spc="130">
                          <a:solidFill>
                            <a:srgbClr val="4A443C"/>
                          </a:solidFill>
                          <a:latin typeface="Corbel"/>
                        </a:rPr>
                        <a:t>WHAT WE COMMITTED TO IN JANUARY 2016</a:t>
                      </a:r>
                    </a:p>
                  </a:txBody>
                  <a:tcPr marL="91440" marR="91440" marT="27432" marB="27432" anchor="ctr">
                    <a:noFill/>
                    <a:lnB w="6350" cap="flat">
                      <a:solidFill>
                        <a:srgbClr val="16130F"/>
                      </a:solidFill>
                    </a:lnB>
                  </a:tcPr>
                </a:tc>
              </a:tr>
              <a:tr h="365760">
                <a:tc>
                  <a:txBody>
                    <a:bodyPr wrap="square"/>
                    <a:lstStyle/>
                    <a:p>
                      <a:pPr algn="l"/>
                      <a:r>
                        <a:rPr sz="1150" b="0">
                          <a:solidFill>
                            <a:srgbClr val="16130F"/>
                          </a:solidFill>
                          <a:latin typeface="Corbel"/>
                        </a:rPr>
                        <a:t>Capital</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US$100 million, six-year fund life (Jan 2017 – Dec 2022)</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Strategy</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Active, high-conviction thematic equity — technology and innovation</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Theme</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Digital transformation: cloud, mobile data, payments, automation, genomics</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Holdings</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Eleven US-listed stocks — exactly one per GICS sector</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Weighting</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Conviction tiers, 5% floor per sector, 16% cap on the largest position</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Rebalancing</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Quarterly, plus a 5-percentage-point drift threshold; mid-life review at end-2019</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Primary benchmark</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NASDAQ-100 (theme-aligned — measures selection skill within the theme)</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Secondary benchmark</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S&amp;P 500 (broad market — measures whether the theme was worth owning)</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Fees</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0.90% p.a. management + 10% of returns over the hurdle, high-water mark</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Return target</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8–10% net p.a., roughly 55–70% cumulative net over the fund life</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Where we started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WHERE WE STARTED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Eleven sectors, one idea</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The theme was expressed through conviction tiers, never by abandoning a sector</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6_weights_donut.png"/>
          <p:cNvPicPr>
            <a:picLocks noChangeAspect="1"/>
          </p:cNvPicPr>
          <p:nvPr/>
        </p:nvPicPr>
        <p:blipFill>
          <a:blip r:embed="rId2"/>
          <a:stretch>
            <a:fillRect/>
          </a:stretch>
        </p:blipFill>
        <p:spPr>
          <a:xfrm>
            <a:off x="2551878" y="1517904"/>
            <a:ext cx="3855073" cy="4498847"/>
          </a:xfrm>
          <a:prstGeom prst="rect">
            <a:avLst/>
          </a:prstGeom>
        </p:spPr>
      </p:pic>
      <p:sp>
        <p:nvSpPr>
          <p:cNvPr id="12" name="TextBox 11"/>
          <p:cNvSpPr txBox="1"/>
          <p:nvPr/>
        </p:nvSpPr>
        <p:spPr>
          <a:xfrm>
            <a:off x="7934701" y="155448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THE BOOK WAS BUILT</a:t>
            </a:r>
          </a:p>
        </p:txBody>
      </p:sp>
      <p:sp>
        <p:nvSpPr>
          <p:cNvPr id="13" name="TextBox 12"/>
          <p:cNvSpPr txBox="1"/>
          <p:nvPr/>
        </p:nvSpPr>
        <p:spPr>
          <a:xfrm>
            <a:off x="7934701" y="1920240"/>
            <a:ext cx="3708354" cy="944880"/>
          </a:xfrm>
          <a:prstGeom prst="rect">
            <a:avLst/>
          </a:prstGeom>
          <a:noFill/>
        </p:spPr>
        <p:txBody>
          <a:bodyPr wrap="square" lIns="0" rIns="0" tIns="0" bIns="0">
            <a:spAutoFit/>
          </a:bodyPr>
          <a:lstStyle/>
          <a:p>
            <a:pPr>
              <a:lnSpc>
                <a:spcPct val="122000"/>
              </a:lnSpc>
            </a:pPr>
            <a:r>
              <a:rPr sz="1200" b="1">
                <a:solidFill>
                  <a:srgbClr val="0D3B38"/>
                </a:solidFill>
                <a:latin typeface="Corbel"/>
              </a:rPr>
              <a:t>Tier 1, 42%.  </a:t>
            </a:r>
            <a:r>
              <a:rPr sz="1200">
                <a:solidFill>
                  <a:srgbClr val="16130F"/>
                </a:solidFill>
                <a:latin typeface="Corbel"/>
              </a:rPr>
              <a:t>Microsoft, Alphabet and Amazon: the platform companies where the cloud, advertising and e-commerce theses all compound at once. Highest conviction, largest weights.</a:t>
            </a:r>
          </a:p>
        </p:txBody>
      </p:sp>
      <p:sp>
        <p:nvSpPr>
          <p:cNvPr id="14" name="TextBox 13"/>
          <p:cNvSpPr txBox="1"/>
          <p:nvPr/>
        </p:nvSpPr>
        <p:spPr>
          <a:xfrm>
            <a:off x="7934701" y="3066288"/>
            <a:ext cx="3708354" cy="755904"/>
          </a:xfrm>
          <a:prstGeom prst="rect">
            <a:avLst/>
          </a:prstGeom>
          <a:noFill/>
        </p:spPr>
        <p:txBody>
          <a:bodyPr wrap="square" lIns="0" rIns="0" tIns="0" bIns="0">
            <a:spAutoFit/>
          </a:bodyPr>
          <a:lstStyle/>
          <a:p>
            <a:pPr>
              <a:lnSpc>
                <a:spcPct val="122000"/>
              </a:lnSpc>
            </a:pPr>
            <a:r>
              <a:rPr sz="1200" b="1">
                <a:solidFill>
                  <a:srgbClr val="0D3B38"/>
                </a:solidFill>
                <a:latin typeface="Corbel"/>
              </a:rPr>
              <a:t>Tier 2, 34%.  </a:t>
            </a:r>
            <a:r>
              <a:rPr sz="1200">
                <a:solidFill>
                  <a:srgbClr val="16130F"/>
                </a:solidFill>
                <a:latin typeface="Corbel"/>
              </a:rPr>
              <a:t>Visa, Equinix, Illumina and Rockwell: the enablers. Each monetises digitisation in one specific channel — payments, data centres, genomics, factory automation.</a:t>
            </a:r>
          </a:p>
        </p:txBody>
      </p:sp>
      <p:sp>
        <p:nvSpPr>
          <p:cNvPr id="15" name="TextBox 14"/>
          <p:cNvSpPr txBox="1"/>
          <p:nvPr/>
        </p:nvSpPr>
        <p:spPr>
          <a:xfrm>
            <a:off x="7934701" y="4023360"/>
            <a:ext cx="3708354" cy="755904"/>
          </a:xfrm>
          <a:prstGeom prst="rect">
            <a:avLst/>
          </a:prstGeom>
          <a:noFill/>
        </p:spPr>
        <p:txBody>
          <a:bodyPr wrap="square" lIns="0" rIns="0" tIns="0" bIns="0">
            <a:spAutoFit/>
          </a:bodyPr>
          <a:lstStyle/>
          <a:p>
            <a:pPr>
              <a:lnSpc>
                <a:spcPct val="122000"/>
              </a:lnSpc>
            </a:pPr>
            <a:r>
              <a:rPr sz="1200" b="1">
                <a:solidFill>
                  <a:srgbClr val="0D3B38"/>
                </a:solidFill>
                <a:latin typeface="Corbel"/>
              </a:rPr>
              <a:t>Tier 3, 24%.  </a:t>
            </a:r>
            <a:r>
              <a:rPr sz="1200">
                <a:solidFill>
                  <a:srgbClr val="16130F"/>
                </a:solidFill>
                <a:latin typeface="Corbel"/>
              </a:rPr>
              <a:t>NextEra, Costco, Albemarle and Schlumberger: diversification and ballast, each still carrying an innovation or recovery angle.</a:t>
            </a:r>
          </a:p>
        </p:txBody>
      </p:sp>
      <p:sp>
        <p:nvSpPr>
          <p:cNvPr id="16" name="TextBox 15"/>
          <p:cNvSpPr txBox="1"/>
          <p:nvPr/>
        </p:nvSpPr>
        <p:spPr>
          <a:xfrm>
            <a:off x="7934701" y="4980432"/>
            <a:ext cx="3708354" cy="944880"/>
          </a:xfrm>
          <a:prstGeom prst="rect">
            <a:avLst/>
          </a:prstGeom>
          <a:noFill/>
        </p:spPr>
        <p:txBody>
          <a:bodyPr wrap="square" lIns="0" rIns="0" tIns="0" bIns="0">
            <a:spAutoFit/>
          </a:bodyPr>
          <a:lstStyle/>
          <a:p>
            <a:pPr>
              <a:lnSpc>
                <a:spcPct val="122000"/>
              </a:lnSpc>
            </a:pPr>
            <a:r>
              <a:rPr sz="1200" b="1">
                <a:solidFill>
                  <a:srgbClr val="0D3B38"/>
                </a:solidFill>
                <a:latin typeface="Corbel"/>
              </a:rPr>
              <a:t>The floor mattered.  </a:t>
            </a:r>
            <a:r>
              <a:rPr sz="1200">
                <a:solidFill>
                  <a:srgbClr val="16130F"/>
                </a:solidFill>
                <a:latin typeface="Corbel"/>
              </a:rPr>
              <a:t>Energy at 5% and Materials at 6% looked like drag for five years. In 2022 they were the two reasons our drawdown ran ten points shallower than the NASDAQ's.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Where we started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WHERE WE STARTED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We rebalanced. That was a decision, and it paid.</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Quarterly rebalancing added 1.3 percentage points a year over letting the winners run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1_weight_drift.png"/>
          <p:cNvPicPr>
            <a:picLocks noChangeAspect="1"/>
          </p:cNvPicPr>
          <p:nvPr/>
        </p:nvPicPr>
        <p:blipFill>
          <a:blip r:embed="rId2"/>
          <a:stretch>
            <a:fillRect/>
          </a:stretch>
        </p:blipFill>
        <p:spPr>
          <a:xfrm>
            <a:off x="2024287" y="1517904"/>
            <a:ext cx="8892928" cy="3730751"/>
          </a:xfrm>
          <a:prstGeom prst="rect">
            <a:avLst/>
          </a:prstGeom>
        </p:spPr>
      </p:pic>
      <p:graphicFrame>
        <p:nvGraphicFramePr>
          <p:cNvPr id="12" name="Table 11"/>
          <p:cNvGraphicFramePr>
            <a:graphicFrameLocks noGrp="1"/>
          </p:cNvGraphicFramePr>
          <p:nvPr/>
        </p:nvGraphicFramePr>
        <p:xfrm>
          <a:off x="1298448" y="5376672"/>
          <a:ext cx="10344604" cy="822960"/>
        </p:xfrm>
        <a:graphic>
          <a:graphicData uri="http://schemas.openxmlformats.org/drawingml/2006/table">
            <a:tbl>
              <a:tblPr>
                <a:tableStyleId>{5C22544A-7EE6-4342-B048-85BDC9FD1C3A}</a:tableStyleId>
              </a:tblPr>
              <a:tblGrid>
                <a:gridCol w="3103382"/>
                <a:gridCol w="1448244"/>
                <a:gridCol w="1241352"/>
                <a:gridCol w="1241352"/>
                <a:gridCol w="1655137"/>
                <a:gridCol w="1655137"/>
              </a:tblGrid>
              <a:tr h="274320">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CUMULATIVE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SHARPE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MAX DRAWDOWN</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TERMINAL ON $100M</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Quarterly rebalanced (as run)</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179.2%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$279m</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Left to drift (buy &amp; hold)</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160.9%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17.3%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0.88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$261m</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02</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The economy we lived through</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Three distinct regimes in six years — and an honest mark-to-market of the scenarios we published in January 2016</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economy we lived through</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ECONOMY WE LIVED THROUGH</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Six years, seven turning points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The events that shaped the fund, plotted against the wealth they created or destroyed</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2_growth_events.png"/>
          <p:cNvPicPr>
            <a:picLocks noChangeAspect="1"/>
          </p:cNvPicPr>
          <p:nvPr/>
        </p:nvPicPr>
        <p:blipFill>
          <a:blip r:embed="rId2"/>
          <a:stretch>
            <a:fillRect/>
          </a:stretch>
        </p:blipFill>
        <p:spPr>
          <a:xfrm>
            <a:off x="2191359" y="1536192"/>
            <a:ext cx="8558784" cy="460857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economy we lived through</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ECONOMY WE LIVED THROUGH</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macro backdrop, regime by regime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How the state of the economy translated into the portfolio's returns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11" name="Rectangle 10"/>
          <p:cNvSpPr/>
          <p:nvPr/>
        </p:nvSpPr>
        <p:spPr>
          <a:xfrm>
            <a:off x="1298448" y="1645920"/>
            <a:ext cx="5035143"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1773936"/>
            <a:ext cx="3657600" cy="292608"/>
          </a:xfrm>
          <a:prstGeom prst="rect">
            <a:avLst/>
          </a:prstGeom>
          <a:noFill/>
        </p:spPr>
        <p:txBody>
          <a:bodyPr wrap="square" lIns="0" rIns="0" tIns="0" bIns="0" anchor="t">
            <a:spAutoFit/>
          </a:bodyPr>
          <a:lstStyle/>
          <a:p>
            <a:pPr algn="l">
              <a:lnSpc>
                <a:spcPct val="105000"/>
              </a:lnSpc>
            </a:pPr>
            <a:r>
              <a:rPr sz="1900" b="0" i="0">
                <a:solidFill>
                  <a:srgbClr val="16130F"/>
                </a:solidFill>
                <a:latin typeface="Georgia"/>
              </a:rPr>
              <a:t>2017 – 2019</a:t>
            </a:r>
          </a:p>
        </p:txBody>
      </p:sp>
      <p:sp>
        <p:nvSpPr>
          <p:cNvPr id="13" name="TextBox 12"/>
          <p:cNvSpPr txBox="1"/>
          <p:nvPr/>
        </p:nvSpPr>
        <p:spPr>
          <a:xfrm>
            <a:off x="1298448" y="2103120"/>
            <a:ext cx="4852263" cy="237744"/>
          </a:xfrm>
          <a:prstGeom prst="rect">
            <a:avLst/>
          </a:prstGeom>
          <a:noFill/>
        </p:spPr>
        <p:txBody>
          <a:bodyPr wrap="square" lIns="0" rIns="0" tIns="0" bIns="0" anchor="t">
            <a:spAutoFit/>
          </a:bodyPr>
          <a:lstStyle/>
          <a:p>
            <a:pPr algn="l">
              <a:lnSpc>
                <a:spcPct val="105000"/>
              </a:lnSpc>
            </a:pPr>
            <a:r>
              <a:rPr sz="850" b="1" i="0" spc="130">
                <a:solidFill>
                  <a:srgbClr val="8C8478"/>
                </a:solidFill>
                <a:latin typeface="Corbel"/>
              </a:rPr>
              <a:t>SYNCHRONISED GROWTH</a:t>
            </a:r>
          </a:p>
        </p:txBody>
      </p:sp>
      <p:sp>
        <p:nvSpPr>
          <p:cNvPr id="14" name="TextBox 13"/>
          <p:cNvSpPr txBox="1"/>
          <p:nvPr/>
        </p:nvSpPr>
        <p:spPr>
          <a:xfrm>
            <a:off x="1298448" y="2560320"/>
            <a:ext cx="4797399" cy="755904"/>
          </a:xfrm>
          <a:prstGeom prst="rect">
            <a:avLst/>
          </a:prstGeom>
          <a:noFill/>
        </p:spPr>
        <p:txBody>
          <a:bodyPr wrap="square" lIns="0" rIns="0" tIns="0" bIns="0">
            <a:spAutoFit/>
          </a:bodyPr>
          <a:lstStyle/>
          <a:p>
            <a:pPr>
              <a:lnSpc>
                <a:spcPct val="122000"/>
              </a:lnSpc>
            </a:pPr>
            <a:r>
              <a:rPr sz="1200" b="1">
                <a:solidFill>
                  <a:srgbClr val="0D3B38"/>
                </a:solidFill>
                <a:latin typeface="Corbel"/>
              </a:rPr>
              <a:t>2017: +40.0%  </a:t>
            </a:r>
            <a:r>
              <a:rPr sz="1200">
                <a:solidFill>
                  <a:srgbClr val="16130F"/>
                </a:solidFill>
                <a:latin typeface="Corbel"/>
              </a:rPr>
              <a:t>Synchronised global growth, benign inflation, a gradual Fed. US tax reform cut the corporate rate from 35% to 21%, lifting after-tax earnings across the book.</a:t>
            </a:r>
          </a:p>
        </p:txBody>
      </p:sp>
      <p:sp>
        <p:nvSpPr>
          <p:cNvPr id="15" name="TextBox 14"/>
          <p:cNvSpPr txBox="1"/>
          <p:nvPr/>
        </p:nvSpPr>
        <p:spPr>
          <a:xfrm>
            <a:off x="1298448" y="3499104"/>
            <a:ext cx="4797399" cy="755904"/>
          </a:xfrm>
          <a:prstGeom prst="rect">
            <a:avLst/>
          </a:prstGeom>
          <a:noFill/>
        </p:spPr>
        <p:txBody>
          <a:bodyPr wrap="square" lIns="0" rIns="0" tIns="0" bIns="0">
            <a:spAutoFit/>
          </a:bodyPr>
          <a:lstStyle/>
          <a:p>
            <a:pPr>
              <a:lnSpc>
                <a:spcPct val="122000"/>
              </a:lnSpc>
            </a:pPr>
            <a:r>
              <a:rPr sz="1200" b="1">
                <a:solidFill>
                  <a:srgbClr val="0D3B38"/>
                </a:solidFill>
                <a:latin typeface="Corbel"/>
              </a:rPr>
              <a:t>2018: +3.7%  </a:t>
            </a:r>
            <a:r>
              <a:rPr sz="1200">
                <a:solidFill>
                  <a:srgbClr val="16130F"/>
                </a:solidFill>
                <a:latin typeface="Corbel"/>
              </a:rPr>
              <a:t>Trade-war escalation and a hawkish Fed produced a violent Q4. We lost 9.6% in October and 9.8% in December — and still finished positive while the S&amp;P fell 4.6%.</a:t>
            </a:r>
          </a:p>
        </p:txBody>
      </p:sp>
      <p:sp>
        <p:nvSpPr>
          <p:cNvPr id="16" name="TextBox 15"/>
          <p:cNvSpPr txBox="1"/>
          <p:nvPr/>
        </p:nvSpPr>
        <p:spPr>
          <a:xfrm>
            <a:off x="1298448" y="4437888"/>
            <a:ext cx="4797399" cy="566928"/>
          </a:xfrm>
          <a:prstGeom prst="rect">
            <a:avLst/>
          </a:prstGeom>
          <a:noFill/>
        </p:spPr>
        <p:txBody>
          <a:bodyPr wrap="square" lIns="0" rIns="0" tIns="0" bIns="0">
            <a:spAutoFit/>
          </a:bodyPr>
          <a:lstStyle/>
          <a:p>
            <a:pPr>
              <a:lnSpc>
                <a:spcPct val="122000"/>
              </a:lnSpc>
            </a:pPr>
            <a:r>
              <a:rPr sz="1200" b="1">
                <a:solidFill>
                  <a:srgbClr val="0D3B38"/>
                </a:solidFill>
                <a:latin typeface="Corbel"/>
              </a:rPr>
              <a:t>2019: +36.6%  </a:t>
            </a:r>
            <a:r>
              <a:rPr sz="1200">
                <a:solidFill>
                  <a:srgbClr val="16130F"/>
                </a:solidFill>
                <a:latin typeface="Corbel"/>
              </a:rPr>
              <a:t>The Fed pivoted to cutting. Multiple expansion did most of the work; cloud and payments earnings kept compounding underneath it.</a:t>
            </a:r>
          </a:p>
        </p:txBody>
      </p:sp>
      <p:sp>
        <p:nvSpPr>
          <p:cNvPr id="17" name="Rectangle 16"/>
          <p:cNvSpPr/>
          <p:nvPr/>
        </p:nvSpPr>
        <p:spPr>
          <a:xfrm>
            <a:off x="6607911" y="1645920"/>
            <a:ext cx="5035143" cy="20116"/>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7911" y="1773936"/>
            <a:ext cx="3657600" cy="292608"/>
          </a:xfrm>
          <a:prstGeom prst="rect">
            <a:avLst/>
          </a:prstGeom>
          <a:noFill/>
        </p:spPr>
        <p:txBody>
          <a:bodyPr wrap="square" lIns="0" rIns="0" tIns="0" bIns="0" anchor="t">
            <a:spAutoFit/>
          </a:bodyPr>
          <a:lstStyle/>
          <a:p>
            <a:pPr algn="l">
              <a:lnSpc>
                <a:spcPct val="105000"/>
              </a:lnSpc>
            </a:pPr>
            <a:r>
              <a:rPr sz="1900" b="0" i="0">
                <a:solidFill>
                  <a:srgbClr val="16130F"/>
                </a:solidFill>
                <a:latin typeface="Georgia"/>
              </a:rPr>
              <a:t>2020 – 2022</a:t>
            </a:r>
          </a:p>
        </p:txBody>
      </p:sp>
      <p:sp>
        <p:nvSpPr>
          <p:cNvPr id="19" name="TextBox 18"/>
          <p:cNvSpPr txBox="1"/>
          <p:nvPr/>
        </p:nvSpPr>
        <p:spPr>
          <a:xfrm>
            <a:off x="6607911" y="2103120"/>
            <a:ext cx="4852263" cy="237744"/>
          </a:xfrm>
          <a:prstGeom prst="rect">
            <a:avLst/>
          </a:prstGeom>
          <a:noFill/>
        </p:spPr>
        <p:txBody>
          <a:bodyPr wrap="square" lIns="0" rIns="0" tIns="0" bIns="0" anchor="t">
            <a:spAutoFit/>
          </a:bodyPr>
          <a:lstStyle/>
          <a:p>
            <a:pPr algn="l">
              <a:lnSpc>
                <a:spcPct val="105000"/>
              </a:lnSpc>
            </a:pPr>
            <a:r>
              <a:rPr sz="850" b="1" i="0" spc="130">
                <a:solidFill>
                  <a:srgbClr val="8C8478"/>
                </a:solidFill>
                <a:latin typeface="Corbel"/>
              </a:rPr>
              <a:t>PANDEMIC, STIMULUS, THEN THE RATE SHOCK</a:t>
            </a:r>
          </a:p>
        </p:txBody>
      </p:sp>
      <p:sp>
        <p:nvSpPr>
          <p:cNvPr id="20" name="TextBox 19"/>
          <p:cNvSpPr txBox="1"/>
          <p:nvPr/>
        </p:nvSpPr>
        <p:spPr>
          <a:xfrm>
            <a:off x="6607911" y="2560320"/>
            <a:ext cx="4797399" cy="755904"/>
          </a:xfrm>
          <a:prstGeom prst="rect">
            <a:avLst/>
          </a:prstGeom>
          <a:noFill/>
        </p:spPr>
        <p:txBody>
          <a:bodyPr wrap="square" lIns="0" rIns="0" tIns="0" bIns="0">
            <a:spAutoFit/>
          </a:bodyPr>
          <a:lstStyle/>
          <a:p>
            <a:pPr>
              <a:lnSpc>
                <a:spcPct val="122000"/>
              </a:lnSpc>
            </a:pPr>
            <a:r>
              <a:rPr sz="1200" b="1">
                <a:solidFill>
                  <a:srgbClr val="0D3B38"/>
                </a:solidFill>
                <a:latin typeface="Corbel"/>
              </a:rPr>
              <a:t>2020: +37.1%  </a:t>
            </a:r>
            <a:r>
              <a:rPr sz="1200">
                <a:solidFill>
                  <a:srgbClr val="16130F"/>
                </a:solidFill>
                <a:latin typeface="Corbel"/>
              </a:rPr>
              <a:t>The COVID crash took 12.6% off the fund in two months. Then the pandemic became the single largest accelerant our thesis ever received: remote work, e-commerce and cloud migration pulled forward by years.</a:t>
            </a:r>
          </a:p>
        </p:txBody>
      </p:sp>
      <p:sp>
        <p:nvSpPr>
          <p:cNvPr id="21" name="TextBox 20"/>
          <p:cNvSpPr txBox="1"/>
          <p:nvPr/>
        </p:nvSpPr>
        <p:spPr>
          <a:xfrm>
            <a:off x="6607911" y="3499104"/>
            <a:ext cx="4797399" cy="566928"/>
          </a:xfrm>
          <a:prstGeom prst="rect">
            <a:avLst/>
          </a:prstGeom>
          <a:noFill/>
        </p:spPr>
        <p:txBody>
          <a:bodyPr wrap="square" lIns="0" rIns="0" tIns="0" bIns="0">
            <a:spAutoFit/>
          </a:bodyPr>
          <a:lstStyle/>
          <a:p>
            <a:pPr>
              <a:lnSpc>
                <a:spcPct val="122000"/>
              </a:lnSpc>
            </a:pPr>
            <a:r>
              <a:rPr sz="1200" b="1">
                <a:solidFill>
                  <a:srgbClr val="0D3B38"/>
                </a:solidFill>
                <a:latin typeface="Corbel"/>
              </a:rPr>
              <a:t>2021: +32.5%  </a:t>
            </a:r>
            <a:r>
              <a:rPr sz="1200">
                <a:solidFill>
                  <a:srgbClr val="16130F"/>
                </a:solidFill>
                <a:latin typeface="Corbel"/>
              </a:rPr>
              <a:t>Reopening, record stimulus and peak growth valuations. Our thesis was consensus by now — which is usually the warning sign, and it was.</a:t>
            </a:r>
          </a:p>
        </p:txBody>
      </p:sp>
      <p:sp>
        <p:nvSpPr>
          <p:cNvPr id="22" name="TextBox 21"/>
          <p:cNvSpPr txBox="1"/>
          <p:nvPr/>
        </p:nvSpPr>
        <p:spPr>
          <a:xfrm>
            <a:off x="6607911" y="4248912"/>
            <a:ext cx="4797399" cy="944880"/>
          </a:xfrm>
          <a:prstGeom prst="rect">
            <a:avLst/>
          </a:prstGeom>
          <a:noFill/>
        </p:spPr>
        <p:txBody>
          <a:bodyPr wrap="square" lIns="0" rIns="0" tIns="0" bIns="0">
            <a:spAutoFit/>
          </a:bodyPr>
          <a:lstStyle/>
          <a:p>
            <a:pPr>
              <a:lnSpc>
                <a:spcPct val="122000"/>
              </a:lnSpc>
            </a:pPr>
            <a:r>
              <a:rPr sz="1200" b="1">
                <a:solidFill>
                  <a:srgbClr val="0D3B38"/>
                </a:solidFill>
                <a:latin typeface="Corbel"/>
              </a:rPr>
              <a:t>2022: −22.5%  </a:t>
            </a:r>
            <a:r>
              <a:rPr sz="1200">
                <a:solidFill>
                  <a:srgbClr val="16130F"/>
                </a:solidFill>
                <a:latin typeface="Corbel"/>
              </a:rPr>
              <a:t>The sharpest tightening cycle since 1981. CPI peaked at 9.1%; the Fed raised 425bp. Long-duration growth equity de-rated hardest. Our energy and materials ballast is why we fell 10 points less than the NASDAQ-100.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economy we lived through</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ECONOMY WE LIVED THROUGH</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Marking our 2016 scenarios to market</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We were right about direction in five of six years, and consistently too conservative about magnitude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5_scenario.png"/>
          <p:cNvPicPr>
            <a:picLocks noChangeAspect="1"/>
          </p:cNvPicPr>
          <p:nvPr/>
        </p:nvPicPr>
        <p:blipFill>
          <a:blip r:embed="rId2"/>
          <a:stretch>
            <a:fillRect/>
          </a:stretch>
        </p:blipFill>
        <p:spPr>
          <a:xfrm>
            <a:off x="2097473" y="1517904"/>
            <a:ext cx="8746557" cy="3456431"/>
          </a:xfrm>
          <a:prstGeom prst="rect">
            <a:avLst/>
          </a:prstGeom>
        </p:spPr>
      </p:pic>
      <p:graphicFrame>
        <p:nvGraphicFramePr>
          <p:cNvPr id="12" name="Table 11"/>
          <p:cNvGraphicFramePr>
            <a:graphicFrameLocks noGrp="1"/>
          </p:cNvGraphicFramePr>
          <p:nvPr/>
        </p:nvGraphicFramePr>
        <p:xfrm>
          <a:off x="1298448" y="5102352"/>
          <a:ext cx="10344604" cy="1097280"/>
        </p:xfrm>
        <a:graphic>
          <a:graphicData uri="http://schemas.openxmlformats.org/drawingml/2006/table">
            <a:tbl>
              <a:tblPr>
                <a:tableStyleId>{5C22544A-7EE6-4342-B048-85BDC9FD1C3A}</a:tableStyleId>
              </a:tblPr>
              <a:tblGrid>
                <a:gridCol w="2793043"/>
                <a:gridCol w="1551691"/>
                <a:gridCol w="1344798"/>
                <a:gridCol w="2379259"/>
                <a:gridCol w="2275813"/>
              </a:tblGrid>
              <a:tr h="274320">
                <a:tc>
                  <a:txBody>
                    <a:bodyPr wrap="square"/>
                    <a:lstStyle/>
                    <a:p>
                      <a:pPr algn="l"/>
                      <a:r>
                        <a:rPr sz="900" b="1" spc="130">
                          <a:solidFill>
                            <a:srgbClr val="4A443C"/>
                          </a:solidFill>
                          <a:latin typeface="Corbel"/>
                        </a:rPr>
                        <a:t>SCENARIO (AS PUBLISHED, JAN 2016)</a:t>
                      </a:r>
                    </a:p>
                  </a:txBody>
                  <a:tcPr marL="18288" marR="91440" marT="27432" marB="27432" anchor="ctr">
                    <a:noFill/>
                    <a:lnB w="6350" cap="flat">
                      <a:solidFill>
                        <a:srgbClr val="16130F"/>
                      </a:solidFill>
                    </a:lnB>
                  </a:tcPr>
                </a:tc>
                <a:tc>
                  <a:txBody>
                    <a:bodyPr wrap="square"/>
                    <a:lstStyle/>
                    <a:p>
                      <a:pPr algn="ctr"/>
                      <a:r>
                        <a:rPr sz="900" b="1" spc="130">
                          <a:solidFill>
                            <a:srgbClr val="4A443C"/>
                          </a:solidFill>
                          <a:latin typeface="Corbel"/>
                        </a:rPr>
                        <a:t>ASSIGNED PROBABILITY</a:t>
                      </a:r>
                    </a:p>
                  </a:txBody>
                  <a:tcPr marL="91440" marR="91440" marT="27432" marB="27432" anchor="ctr">
                    <a:noFill/>
                    <a:lnB w="6350" cap="flat">
                      <a:solidFill>
                        <a:srgbClr val="16130F"/>
                      </a:solidFill>
                    </a:lnB>
                  </a:tcPr>
                </a:tc>
                <a:tc>
                  <a:txBody>
                    <a:bodyPr wrap="square"/>
                    <a:lstStyle/>
                    <a:p>
                      <a:pPr algn="ctr"/>
                      <a:r>
                        <a:rPr sz="900" b="1" spc="130">
                          <a:solidFill>
                            <a:srgbClr val="4A443C"/>
                          </a:solidFill>
                          <a:latin typeface="Corbel"/>
                        </a:rPr>
                        <a:t>ASSUMED RETURN P.A.</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YEARS IT ACTUALLY DESCRIBED</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VERDICT</a:t>
                      </a:r>
                    </a:p>
                  </a:txBody>
                  <a:tcPr marL="91440" marR="91440" marT="27432" marB="27432" anchor="ctr">
                    <a:noFill/>
                    <a:lnB w="6350" cap="flat">
                      <a:solidFill>
                        <a:srgbClr val="16130F"/>
                      </a:solidFill>
                    </a:lnB>
                  </a:tcPr>
                </a:tc>
              </a:tr>
              <a:tr h="274320">
                <a:tc>
                  <a:txBody>
                    <a:bodyPr wrap="square"/>
                    <a:lstStyle/>
                    <a:p>
                      <a:pPr algn="l"/>
                      <a:r>
                        <a:rPr sz="1050" b="1">
                          <a:solidFill>
                            <a:srgbClr val="16130F"/>
                          </a:solidFill>
                          <a:latin typeface="Corbel"/>
                        </a:rPr>
                        <a:t>A — Growth &amp; digital acceleration</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50% ST / 40% MT</a:t>
                      </a:r>
                    </a:p>
                  </a:txBody>
                  <a:tcPr marL="91440" marR="91440" marT="27432" marB="27432" anchor="ctr">
                    <a:noFill/>
                    <a:lnT w="3175" cap="flat">
                      <a:solidFill>
                        <a:srgbClr val="E2DCCF"/>
                      </a:solidFill>
                    </a:lnT>
                  </a:tcPr>
                </a:tc>
                <a:tc>
                  <a:txBody>
                    <a:bodyPr wrap="square"/>
                    <a:lstStyle/>
                    <a:p>
                      <a:pPr algn="ctr"/>
                      <a:r>
                        <a:rPr sz="1050" b="0">
                          <a:solidFill>
                            <a:srgbClr val="16130F"/>
                          </a:solidFill>
                          <a:latin typeface="Corbel"/>
                        </a:rPr>
                        <a:t>+18%</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2017, 2018, 2020, 2021</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Occurred in 4 of 6 years</a:t>
                      </a:r>
                    </a:p>
                  </a:txBody>
                  <a:tcPr marL="91440" marR="91440" marT="27432" marB="27432" anchor="ctr">
                    <a:noFill/>
                    <a:lnT w="3175" cap="flat">
                      <a:solidFill>
                        <a:srgbClr val="E2DCCF"/>
                      </a:solidFill>
                    </a:lnT>
                  </a:tcPr>
                </a:tc>
              </a:tr>
              <a:tr h="274320">
                <a:tc>
                  <a:txBody>
                    <a:bodyPr wrap="square"/>
                    <a:lstStyle/>
                    <a:p>
                      <a:pPr algn="l"/>
                      <a:r>
                        <a:rPr sz="1050" b="1">
                          <a:solidFill>
                            <a:srgbClr val="16130F"/>
                          </a:solidFill>
                          <a:latin typeface="Corbel"/>
                        </a:rPr>
                        <a:t>B — Stagnation / low-growth grind</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30% ST / 30% MT</a:t>
                      </a:r>
                    </a:p>
                  </a:txBody>
                  <a:tcPr marL="91440" marR="91440" marT="27432" marB="27432" anchor="ctr">
                    <a:noFill/>
                    <a:lnT w="3175" cap="flat">
                      <a:solidFill>
                        <a:srgbClr val="E2DCCF"/>
                      </a:solidFill>
                    </a:lnT>
                  </a:tcPr>
                </a:tc>
                <a:tc>
                  <a:txBody>
                    <a:bodyPr wrap="square"/>
                    <a:lstStyle/>
                    <a:p>
                      <a:pPr algn="ctr"/>
                      <a:r>
                        <a:rPr sz="1050" b="0">
                          <a:solidFill>
                            <a:srgbClr val="16130F"/>
                          </a:solidFill>
                          <a:latin typeface="Corbel"/>
                        </a:rPr>
                        <a:t>+9%</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2019</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Understated: we returned 36.6%</a:t>
                      </a:r>
                    </a:p>
                  </a:txBody>
                  <a:tcPr marL="91440" marR="91440" marT="27432" marB="27432" anchor="ctr">
                    <a:noFill/>
                    <a:lnT w="3175" cap="flat">
                      <a:solidFill>
                        <a:srgbClr val="E2DCCF"/>
                      </a:solidFill>
                    </a:lnT>
                  </a:tcPr>
                </a:tc>
              </a:tr>
              <a:tr h="274320">
                <a:tc>
                  <a:txBody>
                    <a:bodyPr wrap="square"/>
                    <a:lstStyle/>
                    <a:p>
                      <a:pPr algn="l"/>
                      <a:r>
                        <a:rPr sz="1050" b="1">
                          <a:solidFill>
                            <a:srgbClr val="16130F"/>
                          </a:solidFill>
                          <a:latin typeface="Corbel"/>
                        </a:rPr>
                        <a:t>C — Recession / risk-off shock</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20% ST / 30% MT</a:t>
                      </a:r>
                    </a:p>
                  </a:txBody>
                  <a:tcPr marL="91440" marR="91440" marT="27432" marB="27432" anchor="ctr">
                    <a:noFill/>
                    <a:lnT w="3175" cap="flat">
                      <a:solidFill>
                        <a:srgbClr val="E2DCCF"/>
                      </a:solidFill>
                    </a:lnT>
                  </a:tcPr>
                </a:tc>
                <a:tc>
                  <a:txBody>
                    <a:bodyPr wrap="square"/>
                    <a:lstStyle/>
                    <a:p>
                      <a:pPr algn="ctr"/>
                      <a:r>
                        <a:rPr sz="1050" b="0">
                          <a:solidFill>
                            <a:srgbClr val="16130F"/>
                          </a:solidFill>
                          <a:latin typeface="Corbel"/>
                        </a:rPr>
                        <a:t>−4%</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2022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Understated: we lost 22.5%</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03</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What the fund returned</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Wealth created, benchmarked against the indices you are paying us to beat, and stress-tested through the two events that mattered</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13</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 $100m mandate became $279m</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Ahead of the S&amp;P 500 by 89 percentage points, and ahead of our own theme-aligned benchmark by 44</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1_growth.png"/>
          <p:cNvPicPr>
            <a:picLocks noChangeAspect="1"/>
          </p:cNvPicPr>
          <p:nvPr/>
        </p:nvPicPr>
        <p:blipFill>
          <a:blip r:embed="rId2"/>
          <a:stretch>
            <a:fillRect/>
          </a:stretch>
        </p:blipFill>
        <p:spPr>
          <a:xfrm>
            <a:off x="2193930" y="1517904"/>
            <a:ext cx="8553642" cy="3182111"/>
          </a:xfrm>
          <a:prstGeom prst="rect">
            <a:avLst/>
          </a:prstGeom>
        </p:spPr>
      </p:pic>
      <p:graphicFrame>
        <p:nvGraphicFramePr>
          <p:cNvPr id="12" name="Table 11"/>
          <p:cNvGraphicFramePr>
            <a:graphicFrameLocks noGrp="1"/>
          </p:cNvGraphicFramePr>
          <p:nvPr/>
        </p:nvGraphicFramePr>
        <p:xfrm>
          <a:off x="1298448" y="4828032"/>
          <a:ext cx="10344605" cy="1371600"/>
        </p:xfrm>
        <a:graphic>
          <a:graphicData uri="http://schemas.openxmlformats.org/drawingml/2006/table">
            <a:tbl>
              <a:tblPr>
                <a:tableStyleId>{5C22544A-7EE6-4342-B048-85BDC9FD1C3A}</a:tableStyleId>
              </a:tblPr>
              <a:tblGrid>
                <a:gridCol w="3517166"/>
                <a:gridCol w="1551691"/>
                <a:gridCol w="1241352"/>
                <a:gridCol w="2172367"/>
                <a:gridCol w="1862029"/>
              </a:tblGrid>
              <a:tr h="274320">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CUMULATIVE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TERMINAL VALUE ON $100M</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VALUE ADDED VS NDIF</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Northpoint Digital Innovation Fund</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179.2%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$279.2m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NASDAQ-100 (primary benchmark)</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134.7%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15.3%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$234.7m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+$44.4m</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S&amp;P 500 (secondary benchmark)</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90.0%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$190.0m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+$89.2m</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60/40 stock/bond portfolio</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51.9%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$151.9m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+$127.3m</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14</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Beat the S&amp;P 500 in five of six years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Including 2018 and 2022, the two years the market fell</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4_annual_bars.png"/>
          <p:cNvPicPr>
            <a:picLocks noChangeAspect="1"/>
          </p:cNvPicPr>
          <p:nvPr/>
        </p:nvPicPr>
        <p:blipFill>
          <a:blip r:embed="rId2"/>
          <a:stretch>
            <a:fillRect/>
          </a:stretch>
        </p:blipFill>
        <p:spPr>
          <a:xfrm>
            <a:off x="2302687" y="1517904"/>
            <a:ext cx="8336128" cy="3182111"/>
          </a:xfrm>
          <a:prstGeom prst="rect">
            <a:avLst/>
          </a:prstGeom>
        </p:spPr>
      </p:pic>
      <p:graphicFrame>
        <p:nvGraphicFramePr>
          <p:cNvPr id="12" name="Table 11"/>
          <p:cNvGraphicFramePr>
            <a:graphicFrameLocks noGrp="1"/>
          </p:cNvGraphicFramePr>
          <p:nvPr/>
        </p:nvGraphicFramePr>
        <p:xfrm>
          <a:off x="1298448" y="4828032"/>
          <a:ext cx="10344602" cy="1371600"/>
        </p:xfrm>
        <a:graphic>
          <a:graphicData uri="http://schemas.openxmlformats.org/drawingml/2006/table">
            <a:tbl>
              <a:tblPr>
                <a:tableStyleId>{5C22544A-7EE6-4342-B048-85BDC9FD1C3A}</a:tableStyleId>
              </a:tblPr>
              <a:tblGrid>
                <a:gridCol w="2477750"/>
                <a:gridCol w="1311142"/>
                <a:gridCol w="1311142"/>
                <a:gridCol w="1311142"/>
                <a:gridCol w="1311142"/>
                <a:gridCol w="1311142"/>
                <a:gridCol w="1311142"/>
              </a:tblGrid>
              <a:tr h="274320">
                <a:tc>
                  <a:txBody>
                    <a:bodyPr wrap="square"/>
                    <a:lstStyle/>
                    <a:p>
                      <a:pPr algn="l"/>
                      <a:r>
                        <a:rPr sz="950" b="1" spc="130">
                          <a:solidFill>
                            <a:srgbClr val="4A443C"/>
                          </a:solidFill>
                          <a:latin typeface="Corbel"/>
                        </a:rPr>
                        <a:t>CALENDAR YEAR</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2017</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2018</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2019</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2020</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2021</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2022</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NDIF</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40.0%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36.6%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37.1%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32.5%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-22.5%</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NASDAQ-100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32.7%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39.0%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48.4%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-32.6%</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S&amp;P 500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21.7%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31.2%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-18.2%</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NDIF vs S&amp;P 500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+18.3%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+8.2%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+5.4%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-4.4%</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value-add compounded quietly, then paid off</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Cumulative performance relative to both benchmarks, rebased to zero at inception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3_relative.png"/>
          <p:cNvPicPr>
            <a:picLocks noChangeAspect="1"/>
          </p:cNvPicPr>
          <p:nvPr/>
        </p:nvPicPr>
        <p:blipFill>
          <a:blip r:embed="rId2"/>
          <a:stretch>
            <a:fillRect/>
          </a:stretch>
        </p:blipFill>
        <p:spPr>
          <a:xfrm>
            <a:off x="2117023" y="1517904"/>
            <a:ext cx="8707457" cy="4069079"/>
          </a:xfrm>
          <a:prstGeom prst="rect">
            <a:avLst/>
          </a:prstGeom>
        </p:spPr>
      </p:pic>
      <p:sp>
        <p:nvSpPr>
          <p:cNvPr id="12" name="TextBox 11"/>
          <p:cNvSpPr txBox="1"/>
          <p:nvPr/>
        </p:nvSpPr>
        <p:spPr>
          <a:xfrm>
            <a:off x="1298448" y="5696712"/>
            <a:ext cx="10344607" cy="457200"/>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Read this as the wealth ratio between the fund and each benchmark. A rising line means the fund is pulling ahead. Note that most of the outperformance versus the NASDAQ-100 was created after November 2021 — that is, on the way down, not on the way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fund fell less than its own benchmark</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Maximum drawdown of −24.9% against the NASDAQ-100's −32.6%</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3_drawdown.png"/>
          <p:cNvPicPr>
            <a:picLocks noChangeAspect="1"/>
          </p:cNvPicPr>
          <p:nvPr/>
        </p:nvPicPr>
        <p:blipFill>
          <a:blip r:embed="rId2"/>
          <a:stretch>
            <a:fillRect/>
          </a:stretch>
        </p:blipFill>
        <p:spPr>
          <a:xfrm>
            <a:off x="1416093" y="1517904"/>
            <a:ext cx="10109317" cy="3456431"/>
          </a:xfrm>
          <a:prstGeom prst="rect">
            <a:avLst/>
          </a:prstGeom>
        </p:spPr>
      </p:pic>
      <p:graphicFrame>
        <p:nvGraphicFramePr>
          <p:cNvPr id="12" name="Table 11"/>
          <p:cNvGraphicFramePr>
            <a:graphicFrameLocks noGrp="1"/>
          </p:cNvGraphicFramePr>
          <p:nvPr/>
        </p:nvGraphicFramePr>
        <p:xfrm>
          <a:off x="1298448" y="5102352"/>
          <a:ext cx="10344606" cy="1097280"/>
        </p:xfrm>
        <a:graphic>
          <a:graphicData uri="http://schemas.openxmlformats.org/drawingml/2006/table">
            <a:tbl>
              <a:tblPr>
                <a:tableStyleId>{5C22544A-7EE6-4342-B048-85BDC9FD1C3A}</a:tableStyleId>
              </a:tblPr>
              <a:tblGrid>
                <a:gridCol w="1862029"/>
                <a:gridCol w="1862029"/>
                <a:gridCol w="1551691"/>
                <a:gridCol w="1551691"/>
                <a:gridCol w="1655137"/>
                <a:gridCol w="1862029"/>
              </a:tblGrid>
              <a:tr h="274320">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MAXIMUM DRAWDOWN</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PEAK MONTH</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TROUGH MONTH</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CALMAR RATIO</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DOWNSIDE DEVIATION</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NDIF</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Nov 2021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Sep 2022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11.9%</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NASDAQ-100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-32.6%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Nov 2021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Dec 2022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12.9%</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S&amp;P 500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-23.9%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Dec 2021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Sep 2022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11.3%</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Stress test one: COVID-19</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Scenario C arrived in March 2020. The fund lost 12.6% in two months and had recovered it within eight weeks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8_covid.png"/>
          <p:cNvPicPr>
            <a:picLocks noChangeAspect="1"/>
          </p:cNvPicPr>
          <p:nvPr/>
        </p:nvPicPr>
        <p:blipFill>
          <a:blip r:embed="rId2"/>
          <a:stretch>
            <a:fillRect/>
          </a:stretch>
        </p:blipFill>
        <p:spPr>
          <a:xfrm>
            <a:off x="2258660" y="1517904"/>
            <a:ext cx="8424182" cy="3913631"/>
          </a:xfrm>
          <a:prstGeom prst="rect">
            <a:avLst/>
          </a:prstGeom>
        </p:spPr>
      </p:pic>
      <p:sp>
        <p:nvSpPr>
          <p:cNvPr id="12" name="TextBox 11"/>
          <p:cNvSpPr txBox="1"/>
          <p:nvPr/>
        </p:nvSpPr>
        <p:spPr>
          <a:xfrm>
            <a:off x="1298448" y="5541264"/>
            <a:ext cx="10344607" cy="658368"/>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Our 2016 document had explicitly named “a systemic disruption such as a global pandemic” as a Scenario C trigger and assigned it a 20% probability. The thesis assumption that held up: cloud migration, e-commerce and payment digitisation are cost-saving, so they continue — and in fact accelerate — through a recession.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18</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Stress test two: the 2022 rate shock</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Down 22.5% against a NASDAQ-100 down 32.6%, and the ballast is the entire reason why</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4_2022.png"/>
          <p:cNvPicPr>
            <a:picLocks noChangeAspect="1"/>
          </p:cNvPicPr>
          <p:nvPr/>
        </p:nvPicPr>
        <p:blipFill>
          <a:blip r:embed="rId2"/>
          <a:stretch>
            <a:fillRect/>
          </a:stretch>
        </p:blipFill>
        <p:spPr>
          <a:xfrm>
            <a:off x="2260311" y="1517904"/>
            <a:ext cx="8420880" cy="3913631"/>
          </a:xfrm>
          <a:prstGeom prst="rect">
            <a:avLst/>
          </a:prstGeom>
        </p:spPr>
      </p:pic>
      <p:sp>
        <p:nvSpPr>
          <p:cNvPr id="12" name="TextBox 11"/>
          <p:cNvSpPr txBox="1"/>
          <p:nvPr/>
        </p:nvSpPr>
        <p:spPr>
          <a:xfrm>
            <a:off x="1298448" y="5541264"/>
            <a:ext cx="10344607" cy="658368"/>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Schlumberger — the fund's worst holding over the full six years at −23.5% — returned +81.2% in 2022. Albemarle lost only 6.6% and NextEra 8.5%. Without the 5% energy floor and the 24% ballast tier, the fund's 2022 loss would have been close to the NASDAQ-100's. This is what a sector floor is for.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04</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How much risk we took</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The full distribution of 72 monthly returns, the risk-adjusted measures, tail risk, and where in the calendar the money was made</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shape of our returns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Close to normal, with a mild left tail. 72 monthly observations, Jan 2017 to Dec 2022</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5_histogram.png"/>
          <p:cNvPicPr>
            <a:picLocks noChangeAspect="1"/>
          </p:cNvPicPr>
          <p:nvPr/>
        </p:nvPicPr>
        <p:blipFill>
          <a:blip r:embed="rId2"/>
          <a:stretch>
            <a:fillRect/>
          </a:stretch>
        </p:blipFill>
        <p:spPr>
          <a:xfrm>
            <a:off x="1298448" y="2137160"/>
            <a:ext cx="6361933" cy="3150607"/>
          </a:xfrm>
          <a:prstGeom prst="rect">
            <a:avLst/>
          </a:prstGeom>
        </p:spPr>
      </p:pic>
      <p:sp>
        <p:nvSpPr>
          <p:cNvPr id="12" name="Rectangle 11"/>
          <p:cNvSpPr/>
          <p:nvPr/>
        </p:nvSpPr>
        <p:spPr>
          <a:xfrm>
            <a:off x="7934701" y="1700784"/>
            <a:ext cx="3708354"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34701" y="182880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DISTRIBUTIONAL STATISTICS</a:t>
            </a:r>
          </a:p>
        </p:txBody>
      </p:sp>
      <p:sp>
        <p:nvSpPr>
          <p:cNvPr id="14" name="TextBox 13"/>
          <p:cNvSpPr txBox="1"/>
          <p:nvPr/>
        </p:nvSpPr>
        <p:spPr>
          <a:xfrm>
            <a:off x="7934701" y="2231136"/>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Mean monthly return</a:t>
            </a:r>
          </a:p>
        </p:txBody>
      </p:sp>
      <p:sp>
        <p:nvSpPr>
          <p:cNvPr id="15" name="TextBox 14"/>
          <p:cNvSpPr txBox="1"/>
          <p:nvPr/>
        </p:nvSpPr>
        <p:spPr>
          <a:xfrm>
            <a:off x="7934701" y="2231136"/>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1.59%</a:t>
            </a:r>
          </a:p>
        </p:txBody>
      </p:sp>
      <p:sp>
        <p:nvSpPr>
          <p:cNvPr id="16" name="Rectangle 15"/>
          <p:cNvSpPr/>
          <p:nvPr/>
        </p:nvSpPr>
        <p:spPr>
          <a:xfrm>
            <a:off x="7934701" y="2478024"/>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4701" y="2555748"/>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Median monthly return</a:t>
            </a:r>
          </a:p>
        </p:txBody>
      </p:sp>
      <p:sp>
        <p:nvSpPr>
          <p:cNvPr id="18" name="TextBox 17"/>
          <p:cNvSpPr txBox="1"/>
          <p:nvPr/>
        </p:nvSpPr>
        <p:spPr>
          <a:xfrm>
            <a:off x="7934701" y="2555748"/>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2.73%</a:t>
            </a:r>
          </a:p>
        </p:txBody>
      </p:sp>
      <p:sp>
        <p:nvSpPr>
          <p:cNvPr id="19" name="Rectangle 18"/>
          <p:cNvSpPr/>
          <p:nvPr/>
        </p:nvSpPr>
        <p:spPr>
          <a:xfrm>
            <a:off x="7934701" y="2802636"/>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34701" y="2880360"/>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Standard deviation (monthly)</a:t>
            </a:r>
          </a:p>
        </p:txBody>
      </p:sp>
      <p:sp>
        <p:nvSpPr>
          <p:cNvPr id="21" name="TextBox 20"/>
          <p:cNvSpPr txBox="1"/>
          <p:nvPr/>
        </p:nvSpPr>
        <p:spPr>
          <a:xfrm>
            <a:off x="7934701" y="2880360"/>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5.50%</a:t>
            </a:r>
          </a:p>
        </p:txBody>
      </p:sp>
      <p:sp>
        <p:nvSpPr>
          <p:cNvPr id="22" name="Rectangle 21"/>
          <p:cNvSpPr/>
          <p:nvPr/>
        </p:nvSpPr>
        <p:spPr>
          <a:xfrm>
            <a:off x="7934701" y="3127248"/>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34701" y="3204972"/>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Annualised volatility</a:t>
            </a:r>
          </a:p>
        </p:txBody>
      </p:sp>
      <p:sp>
        <p:nvSpPr>
          <p:cNvPr id="24" name="TextBox 23"/>
          <p:cNvSpPr txBox="1"/>
          <p:nvPr/>
        </p:nvSpPr>
        <p:spPr>
          <a:xfrm>
            <a:off x="7934701" y="3204972"/>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19.06%</a:t>
            </a:r>
          </a:p>
        </p:txBody>
      </p:sp>
      <p:sp>
        <p:nvSpPr>
          <p:cNvPr id="25" name="Rectangle 24"/>
          <p:cNvSpPr/>
          <p:nvPr/>
        </p:nvSpPr>
        <p:spPr>
          <a:xfrm>
            <a:off x="7934701" y="3451860"/>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34701" y="3529584"/>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Skewness</a:t>
            </a:r>
          </a:p>
        </p:txBody>
      </p:sp>
      <p:sp>
        <p:nvSpPr>
          <p:cNvPr id="27" name="TextBox 26"/>
          <p:cNvSpPr txBox="1"/>
          <p:nvPr/>
        </p:nvSpPr>
        <p:spPr>
          <a:xfrm>
            <a:off x="7934701" y="3529584"/>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-0.472</a:t>
            </a:r>
          </a:p>
        </p:txBody>
      </p:sp>
      <p:sp>
        <p:nvSpPr>
          <p:cNvPr id="28" name="Rectangle 27"/>
          <p:cNvSpPr/>
          <p:nvPr/>
        </p:nvSpPr>
        <p:spPr>
          <a:xfrm>
            <a:off x="7934701" y="377647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34701" y="3854196"/>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Excess kurtosis</a:t>
            </a:r>
          </a:p>
        </p:txBody>
      </p:sp>
      <p:sp>
        <p:nvSpPr>
          <p:cNvPr id="30" name="TextBox 29"/>
          <p:cNvSpPr txBox="1"/>
          <p:nvPr/>
        </p:nvSpPr>
        <p:spPr>
          <a:xfrm>
            <a:off x="7934701" y="3854196"/>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0.067</a:t>
            </a:r>
          </a:p>
        </p:txBody>
      </p:sp>
      <p:sp>
        <p:nvSpPr>
          <p:cNvPr id="31" name="Rectangle 30"/>
          <p:cNvSpPr/>
          <p:nvPr/>
        </p:nvSpPr>
        <p:spPr>
          <a:xfrm>
            <a:off x="7934701" y="4101084"/>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34701" y="4178808"/>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Jarque–Bera p-value</a:t>
            </a:r>
          </a:p>
        </p:txBody>
      </p:sp>
      <p:sp>
        <p:nvSpPr>
          <p:cNvPr id="33" name="TextBox 32"/>
          <p:cNvSpPr txBox="1"/>
          <p:nvPr/>
        </p:nvSpPr>
        <p:spPr>
          <a:xfrm>
            <a:off x="7934701" y="4178808"/>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0.278</a:t>
            </a:r>
          </a:p>
        </p:txBody>
      </p:sp>
      <p:sp>
        <p:nvSpPr>
          <p:cNvPr id="34" name="Rectangle 33"/>
          <p:cNvSpPr/>
          <p:nvPr/>
        </p:nvSpPr>
        <p:spPr>
          <a:xfrm>
            <a:off x="7934701" y="4425696"/>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34701" y="4503420"/>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Best month (Apr 2020)</a:t>
            </a:r>
          </a:p>
        </p:txBody>
      </p:sp>
      <p:sp>
        <p:nvSpPr>
          <p:cNvPr id="36" name="TextBox 35"/>
          <p:cNvSpPr txBox="1"/>
          <p:nvPr/>
        </p:nvSpPr>
        <p:spPr>
          <a:xfrm>
            <a:off x="7934701" y="4503420"/>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14.5%</a:t>
            </a:r>
          </a:p>
        </p:txBody>
      </p:sp>
      <p:sp>
        <p:nvSpPr>
          <p:cNvPr id="37" name="Rectangle 36"/>
          <p:cNvSpPr/>
          <p:nvPr/>
        </p:nvSpPr>
        <p:spPr>
          <a:xfrm>
            <a:off x="7934701" y="4750308"/>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34701" y="4828032"/>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Worst month (Apr 2022)</a:t>
            </a:r>
          </a:p>
        </p:txBody>
      </p:sp>
      <p:sp>
        <p:nvSpPr>
          <p:cNvPr id="39" name="TextBox 38"/>
          <p:cNvSpPr txBox="1"/>
          <p:nvPr/>
        </p:nvSpPr>
        <p:spPr>
          <a:xfrm>
            <a:off x="7934701" y="4828032"/>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-12.1%</a:t>
            </a:r>
          </a:p>
        </p:txBody>
      </p:sp>
      <p:sp>
        <p:nvSpPr>
          <p:cNvPr id="40" name="Rectangle 39"/>
          <p:cNvSpPr/>
          <p:nvPr/>
        </p:nvSpPr>
        <p:spPr>
          <a:xfrm>
            <a:off x="7934701" y="5074920"/>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34701" y="5152644"/>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Positive months</a:t>
            </a:r>
          </a:p>
        </p:txBody>
      </p:sp>
      <p:sp>
        <p:nvSpPr>
          <p:cNvPr id="42" name="TextBox 41"/>
          <p:cNvSpPr txBox="1"/>
          <p:nvPr/>
        </p:nvSpPr>
        <p:spPr>
          <a:xfrm>
            <a:off x="7934701" y="5152644"/>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50 of 72  (69.4%)</a:t>
            </a:r>
          </a:p>
        </p:txBody>
      </p:sp>
      <p:sp>
        <p:nvSpPr>
          <p:cNvPr id="43" name="Rectangle 42"/>
          <p:cNvSpPr/>
          <p:nvPr/>
        </p:nvSpPr>
        <p:spPr>
          <a:xfrm>
            <a:off x="7934701" y="539953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Risk-adjusted, we beat every comparator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Highest Sharpe, Sortino, Calmar and Treynor, and the highest information ratio</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00784"/>
          <a:ext cx="10344603" cy="3840480"/>
        </p:xfrm>
        <a:graphic>
          <a:graphicData uri="http://schemas.openxmlformats.org/drawingml/2006/table">
            <a:tbl>
              <a:tblPr>
                <a:tableStyleId>{5C22544A-7EE6-4342-B048-85BDC9FD1C3A}</a:tableStyleId>
              </a:tblPr>
              <a:tblGrid>
                <a:gridCol w="1965475"/>
                <a:gridCol w="931014"/>
                <a:gridCol w="1137906"/>
                <a:gridCol w="931014"/>
                <a:gridCol w="1137906"/>
                <a:gridCol w="827568"/>
                <a:gridCol w="3413720"/>
              </a:tblGrid>
              <a:tr h="384048">
                <a:tc>
                  <a:txBody>
                    <a:bodyPr wrap="square"/>
                    <a:lstStyle/>
                    <a:p>
                      <a:pPr algn="l"/>
                      <a:r>
                        <a:rPr sz="900" b="1" spc="130">
                          <a:solidFill>
                            <a:srgbClr val="4A443C"/>
                          </a:solidFill>
                          <a:latin typeface="Corbel"/>
                        </a:rPr>
                        <a:t>MEASURE</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NDIF</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NASDAQ-100</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S&amp;P 500</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EQUAL WEIGHT</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60/40</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WHAT IT TELLS YOU</a:t>
                      </a:r>
                    </a:p>
                  </a:txBody>
                  <a:tcPr marL="91440" marR="91440" marT="27432" marB="27432" anchor="ctr">
                    <a:noFill/>
                    <a:lnB w="6350" cap="flat">
                      <a:solidFill>
                        <a:srgbClr val="16130F"/>
                      </a:solidFill>
                    </a:lnB>
                  </a:tcPr>
                </a:tc>
              </a:tr>
              <a:tr h="384048">
                <a:tc>
                  <a:txBody>
                    <a:bodyPr wrap="square"/>
                    <a:lstStyle/>
                    <a:p>
                      <a:pPr algn="l"/>
                      <a:r>
                        <a:rPr sz="1050" b="1">
                          <a:solidFill>
                            <a:srgbClr val="16130F"/>
                          </a:solidFill>
                          <a:latin typeface="Corbel"/>
                        </a:rPr>
                        <a:t>Annualised return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15.3%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18.0%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Geometric growth rate</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Annualised volatility</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19.1%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20.2%</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17.1%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19.4%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11.1%</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Total risk</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Sharpe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0.65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0.59</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Excess return per unit of total risk</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Sortino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1.51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1.45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0.88</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Excess return per unit of downside risk</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Treynor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0.173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0.139</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0.111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0.163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0.102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Excess return per unit of market beta</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Calmar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0.85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0.36</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Return per unit of maximum drawdown</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Information ratio (vs S&amp;P)</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0.98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0.54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-0.72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Active return per unit of tracking error</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Beta (vs S&amp;P 500)</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0.64</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Market sensitivity</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M² (risk-matched return)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17.2%</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14.0%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12.2%</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16.5%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11.1%</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Return at benchmark risk</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5724144"/>
            <a:ext cx="10344607" cy="457200"/>
          </a:xfrm>
          <a:prstGeom prst="rect">
            <a:avLst/>
          </a:prstGeom>
          <a:noFill/>
        </p:spPr>
        <p:txBody>
          <a:bodyPr wrap="square" lIns="0" rIns="0" tIns="0" bIns="0" anchor="t">
            <a:spAutoFit/>
          </a:bodyPr>
          <a:lstStyle/>
          <a:p>
            <a:pPr algn="l">
              <a:lnSpc>
                <a:spcPct val="120000"/>
              </a:lnSpc>
            </a:pPr>
            <a:r>
              <a:rPr sz="1050" b="0" i="0">
                <a:solidFill>
                  <a:srgbClr val="8C8478"/>
                </a:solidFill>
                <a:latin typeface="Corbel"/>
              </a:rPr>
              <a:t>Risk-free rate is the Fama–French one-month Treasury bill series (mean 1.25% p.a. over the period). All ratios are computed on the same 72 monthly observations and annualised by √12.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22</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Tail risk sits below the NASDAQ-100 on every measure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One-month value-at-risk and expected shortfall from the empirical distribution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2_var.png"/>
          <p:cNvPicPr>
            <a:picLocks noChangeAspect="1"/>
          </p:cNvPicPr>
          <p:nvPr/>
        </p:nvPicPr>
        <p:blipFill>
          <a:blip r:embed="rId2"/>
          <a:stretch>
            <a:fillRect/>
          </a:stretch>
        </p:blipFill>
        <p:spPr>
          <a:xfrm>
            <a:off x="1298448" y="2234679"/>
            <a:ext cx="6361933" cy="2955570"/>
          </a:xfrm>
          <a:prstGeom prst="rect">
            <a:avLst/>
          </a:prstGeom>
        </p:spPr>
      </p:pic>
      <p:sp>
        <p:nvSpPr>
          <p:cNvPr id="12" name="Rectangle 11"/>
          <p:cNvSpPr/>
          <p:nvPr/>
        </p:nvSpPr>
        <p:spPr>
          <a:xfrm>
            <a:off x="7934701" y="1700784"/>
            <a:ext cx="3708354"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34701" y="182880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NDIF TAIL MEASURES</a:t>
            </a:r>
          </a:p>
        </p:txBody>
      </p:sp>
      <p:sp>
        <p:nvSpPr>
          <p:cNvPr id="14" name="TextBox 13"/>
          <p:cNvSpPr txBox="1"/>
          <p:nvPr/>
        </p:nvSpPr>
        <p:spPr>
          <a:xfrm>
            <a:off x="7934701" y="22860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95% (historical)</a:t>
            </a:r>
          </a:p>
        </p:txBody>
      </p:sp>
      <p:sp>
        <p:nvSpPr>
          <p:cNvPr id="15" name="TextBox 14"/>
          <p:cNvSpPr txBox="1"/>
          <p:nvPr/>
        </p:nvSpPr>
        <p:spPr>
          <a:xfrm>
            <a:off x="7934701" y="22860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-8.82%</a:t>
            </a:r>
          </a:p>
        </p:txBody>
      </p:sp>
      <p:sp>
        <p:nvSpPr>
          <p:cNvPr id="16" name="Rectangle 15"/>
          <p:cNvSpPr/>
          <p:nvPr/>
        </p:nvSpPr>
        <p:spPr>
          <a:xfrm>
            <a:off x="7934701" y="25877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4701" y="27432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95% (parametric normal)</a:t>
            </a:r>
          </a:p>
        </p:txBody>
      </p:sp>
      <p:sp>
        <p:nvSpPr>
          <p:cNvPr id="18" name="TextBox 17"/>
          <p:cNvSpPr txBox="1"/>
          <p:nvPr/>
        </p:nvSpPr>
        <p:spPr>
          <a:xfrm>
            <a:off x="7934701" y="27432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-7.46%</a:t>
            </a:r>
          </a:p>
        </p:txBody>
      </p:sp>
      <p:sp>
        <p:nvSpPr>
          <p:cNvPr id="19" name="Rectangle 18"/>
          <p:cNvSpPr/>
          <p:nvPr/>
        </p:nvSpPr>
        <p:spPr>
          <a:xfrm>
            <a:off x="7934701" y="30449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34701" y="32004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95% (Cornish–Fisher)</a:t>
            </a:r>
          </a:p>
        </p:txBody>
      </p:sp>
      <p:sp>
        <p:nvSpPr>
          <p:cNvPr id="21" name="TextBox 20"/>
          <p:cNvSpPr txBox="1"/>
          <p:nvPr/>
        </p:nvSpPr>
        <p:spPr>
          <a:xfrm>
            <a:off x="7934701" y="32004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-8.17%</a:t>
            </a:r>
          </a:p>
        </p:txBody>
      </p:sp>
      <p:sp>
        <p:nvSpPr>
          <p:cNvPr id="22" name="Rectangle 21"/>
          <p:cNvSpPr/>
          <p:nvPr/>
        </p:nvSpPr>
        <p:spPr>
          <a:xfrm>
            <a:off x="7934701" y="35021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34701" y="36576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CVaR 95% (expected shortfall)</a:t>
            </a:r>
          </a:p>
        </p:txBody>
      </p:sp>
      <p:sp>
        <p:nvSpPr>
          <p:cNvPr id="24" name="TextBox 23"/>
          <p:cNvSpPr txBox="1"/>
          <p:nvPr/>
        </p:nvSpPr>
        <p:spPr>
          <a:xfrm>
            <a:off x="7934701" y="36576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-10.23%</a:t>
            </a:r>
          </a:p>
        </p:txBody>
      </p:sp>
      <p:sp>
        <p:nvSpPr>
          <p:cNvPr id="25" name="Rectangle 24"/>
          <p:cNvSpPr/>
          <p:nvPr/>
        </p:nvSpPr>
        <p:spPr>
          <a:xfrm>
            <a:off x="7934701" y="39593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34701" y="41148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99% (historical)</a:t>
            </a:r>
          </a:p>
        </p:txBody>
      </p:sp>
      <p:sp>
        <p:nvSpPr>
          <p:cNvPr id="27" name="TextBox 26"/>
          <p:cNvSpPr txBox="1"/>
          <p:nvPr/>
        </p:nvSpPr>
        <p:spPr>
          <a:xfrm>
            <a:off x="7934701" y="41148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-10.48%</a:t>
            </a:r>
          </a:p>
        </p:txBody>
      </p:sp>
      <p:sp>
        <p:nvSpPr>
          <p:cNvPr id="28" name="Rectangle 27"/>
          <p:cNvSpPr/>
          <p:nvPr/>
        </p:nvSpPr>
        <p:spPr>
          <a:xfrm>
            <a:off x="7934701" y="44165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34701" y="45720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CVaR 99% (expected shortfall)</a:t>
            </a:r>
          </a:p>
        </p:txBody>
      </p:sp>
      <p:sp>
        <p:nvSpPr>
          <p:cNvPr id="30" name="TextBox 29"/>
          <p:cNvSpPr txBox="1"/>
          <p:nvPr/>
        </p:nvSpPr>
        <p:spPr>
          <a:xfrm>
            <a:off x="7934701" y="45720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-12.14%</a:t>
            </a:r>
          </a:p>
        </p:txBody>
      </p:sp>
      <p:sp>
        <p:nvSpPr>
          <p:cNvPr id="31" name="Rectangle 30"/>
          <p:cNvSpPr/>
          <p:nvPr/>
        </p:nvSpPr>
        <p:spPr>
          <a:xfrm>
            <a:off x="7934701" y="48737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34701" y="50292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On $279m, a 95% VaR month is</a:t>
            </a:r>
          </a:p>
        </p:txBody>
      </p:sp>
      <p:sp>
        <p:nvSpPr>
          <p:cNvPr id="33" name="TextBox 32"/>
          <p:cNvSpPr txBox="1"/>
          <p:nvPr/>
        </p:nvSpPr>
        <p:spPr>
          <a:xfrm>
            <a:off x="7934701" y="50292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−$24.6m</a:t>
            </a:r>
          </a:p>
        </p:txBody>
      </p:sp>
      <p:sp>
        <p:nvSpPr>
          <p:cNvPr id="34" name="Rectangle 33"/>
          <p:cNvSpPr/>
          <p:nvPr/>
        </p:nvSpPr>
        <p:spPr>
          <a:xfrm>
            <a:off x="7934701" y="53309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23</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Where in the calendar the money was made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Seasonality across 72 months. Six observations per calendar month, so read this as description rather than a tradeable signal</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0_seasonality.png"/>
          <p:cNvPicPr>
            <a:picLocks noChangeAspect="1"/>
          </p:cNvPicPr>
          <p:nvPr/>
        </p:nvPicPr>
        <p:blipFill>
          <a:blip r:embed="rId2"/>
          <a:stretch>
            <a:fillRect/>
          </a:stretch>
        </p:blipFill>
        <p:spPr>
          <a:xfrm>
            <a:off x="2630136" y="1517904"/>
            <a:ext cx="7681230" cy="3035807"/>
          </a:xfrm>
          <a:prstGeom prst="rect">
            <a:avLst/>
          </a:prstGeom>
        </p:spPr>
      </p:pic>
      <p:sp>
        <p:nvSpPr>
          <p:cNvPr id="12" name="Rectangle 11"/>
          <p:cNvSpPr/>
          <p:nvPr/>
        </p:nvSpPr>
        <p:spPr>
          <a:xfrm>
            <a:off x="1298448" y="4718304"/>
            <a:ext cx="3277514" cy="20116"/>
          </a:xfrm>
          <a:prstGeom prst="rect">
            <a:avLst/>
          </a:prstGeom>
          <a:solidFill>
            <a:srgbClr val="8A6D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8448" y="4846320"/>
            <a:ext cx="3058058" cy="292608"/>
          </a:xfrm>
          <a:prstGeom prst="rect">
            <a:avLst/>
          </a:prstGeom>
          <a:noFill/>
        </p:spPr>
        <p:txBody>
          <a:bodyPr wrap="square" lIns="0" rIns="0" tIns="0" bIns="0" anchor="t">
            <a:spAutoFit/>
          </a:bodyPr>
          <a:lstStyle/>
          <a:p>
            <a:pPr algn="l">
              <a:lnSpc>
                <a:spcPct val="105000"/>
              </a:lnSpc>
            </a:pPr>
            <a:r>
              <a:rPr sz="1500" b="0" i="0">
                <a:solidFill>
                  <a:srgbClr val="16130F"/>
                </a:solidFill>
                <a:latin typeface="Georgia"/>
              </a:rPr>
              <a:t>July  +5.8%</a:t>
            </a:r>
          </a:p>
        </p:txBody>
      </p:sp>
      <p:sp>
        <p:nvSpPr>
          <p:cNvPr id="14" name="TextBox 13"/>
          <p:cNvSpPr txBox="1"/>
          <p:nvPr/>
        </p:nvSpPr>
        <p:spPr>
          <a:xfrm>
            <a:off x="1298448" y="5212080"/>
            <a:ext cx="3021482" cy="786384"/>
          </a:xfrm>
          <a:prstGeom prst="rect">
            <a:avLst/>
          </a:prstGeom>
          <a:noFill/>
        </p:spPr>
        <p:txBody>
          <a:bodyPr wrap="square" lIns="0" rIns="0" tIns="0" bIns="0" anchor="t">
            <a:spAutoFit/>
          </a:bodyPr>
          <a:lstStyle/>
          <a:p>
            <a:pPr algn="l">
              <a:lnSpc>
                <a:spcPct val="124000"/>
              </a:lnSpc>
            </a:pPr>
            <a:r>
              <a:rPr sz="1050" b="0" i="0">
                <a:solidFill>
                  <a:srgbClr val="4A443C"/>
                </a:solidFill>
                <a:latin typeface="Corbel"/>
              </a:rPr>
              <a:t>The strongest month, on the back of six positive Julys out of six — including +13.1% in July 2022 during the bear-market rally.</a:t>
            </a:r>
          </a:p>
        </p:txBody>
      </p:sp>
      <p:sp>
        <p:nvSpPr>
          <p:cNvPr id="15" name="Rectangle 14"/>
          <p:cNvSpPr/>
          <p:nvPr/>
        </p:nvSpPr>
        <p:spPr>
          <a:xfrm>
            <a:off x="4831994" y="4718304"/>
            <a:ext cx="3277514" cy="20116"/>
          </a:xfrm>
          <a:prstGeom prst="rect">
            <a:avLst/>
          </a:prstGeom>
          <a:solidFill>
            <a:srgbClr val="8F2F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1994" y="4846320"/>
            <a:ext cx="3058058" cy="292608"/>
          </a:xfrm>
          <a:prstGeom prst="rect">
            <a:avLst/>
          </a:prstGeom>
          <a:noFill/>
        </p:spPr>
        <p:txBody>
          <a:bodyPr wrap="square" lIns="0" rIns="0" tIns="0" bIns="0" anchor="t">
            <a:spAutoFit/>
          </a:bodyPr>
          <a:lstStyle/>
          <a:p>
            <a:pPr algn="l">
              <a:lnSpc>
                <a:spcPct val="105000"/>
              </a:lnSpc>
            </a:pPr>
            <a:r>
              <a:rPr sz="1500" b="0" i="0">
                <a:solidFill>
                  <a:srgbClr val="16130F"/>
                </a:solidFill>
                <a:latin typeface="Georgia"/>
              </a:rPr>
              <a:t>September  −2.8%</a:t>
            </a:r>
          </a:p>
        </p:txBody>
      </p:sp>
      <p:sp>
        <p:nvSpPr>
          <p:cNvPr id="17" name="TextBox 16"/>
          <p:cNvSpPr txBox="1"/>
          <p:nvPr/>
        </p:nvSpPr>
        <p:spPr>
          <a:xfrm>
            <a:off x="4831994" y="5212080"/>
            <a:ext cx="3021482" cy="786384"/>
          </a:xfrm>
          <a:prstGeom prst="rect">
            <a:avLst/>
          </a:prstGeom>
          <a:noFill/>
        </p:spPr>
        <p:txBody>
          <a:bodyPr wrap="square" lIns="0" rIns="0" tIns="0" bIns="0" anchor="t">
            <a:spAutoFit/>
          </a:bodyPr>
          <a:lstStyle/>
          <a:p>
            <a:pPr algn="l">
              <a:lnSpc>
                <a:spcPct val="124000"/>
              </a:lnSpc>
            </a:pPr>
            <a:r>
              <a:rPr sz="1050" b="0" i="0">
                <a:solidFill>
                  <a:srgbClr val="4A443C"/>
                </a:solidFill>
                <a:latin typeface="Corbel"/>
              </a:rPr>
              <a:t>The weakest month. Negative in three of six years, but heavily so: September 2022 alone cost 9.3%.</a:t>
            </a:r>
          </a:p>
        </p:txBody>
      </p:sp>
      <p:sp>
        <p:nvSpPr>
          <p:cNvPr id="18" name="Rectangle 17"/>
          <p:cNvSpPr/>
          <p:nvPr/>
        </p:nvSpPr>
        <p:spPr>
          <a:xfrm>
            <a:off x="8365540" y="4718304"/>
            <a:ext cx="3277514"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5540" y="4846320"/>
            <a:ext cx="3058058" cy="292608"/>
          </a:xfrm>
          <a:prstGeom prst="rect">
            <a:avLst/>
          </a:prstGeom>
          <a:noFill/>
        </p:spPr>
        <p:txBody>
          <a:bodyPr wrap="square" lIns="0" rIns="0" tIns="0" bIns="0" anchor="t">
            <a:spAutoFit/>
          </a:bodyPr>
          <a:lstStyle/>
          <a:p>
            <a:pPr algn="l">
              <a:lnSpc>
                <a:spcPct val="105000"/>
              </a:lnSpc>
            </a:pPr>
            <a:r>
              <a:rPr sz="1500" b="0" i="0">
                <a:solidFill>
                  <a:srgbClr val="16130F"/>
                </a:solidFill>
                <a:latin typeface="Georgia"/>
              </a:rPr>
              <a:t>The extremes cluster</a:t>
            </a:r>
          </a:p>
        </p:txBody>
      </p:sp>
      <p:sp>
        <p:nvSpPr>
          <p:cNvPr id="20" name="TextBox 19"/>
          <p:cNvSpPr txBox="1"/>
          <p:nvPr/>
        </p:nvSpPr>
        <p:spPr>
          <a:xfrm>
            <a:off x="8365540" y="5212080"/>
            <a:ext cx="3021482" cy="786384"/>
          </a:xfrm>
          <a:prstGeom prst="rect">
            <a:avLst/>
          </a:prstGeom>
          <a:noFill/>
        </p:spPr>
        <p:txBody>
          <a:bodyPr wrap="square" lIns="0" rIns="0" tIns="0" bIns="0" anchor="t">
            <a:spAutoFit/>
          </a:bodyPr>
          <a:lstStyle/>
          <a:p>
            <a:pPr algn="l">
              <a:lnSpc>
                <a:spcPct val="124000"/>
              </a:lnSpc>
            </a:pPr>
            <a:r>
              <a:rPr sz="1050" b="0" i="0">
                <a:solidFill>
                  <a:srgbClr val="4A443C"/>
                </a:solidFill>
                <a:latin typeface="Corbel"/>
              </a:rPr>
              <a:t>April 2020 was the best month on record at +14.5%; April 2022 the worst at −12.1%. Both sit inside the same two-year window.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05</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Was it skill?</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Jensen's alpha, factor models, performance attribution, and what a mean-variance optimiser would have done with the same eleven stocks</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Jensen's alpha: significant on every model we ran</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Excess return regressed on risk factors. 72 monthly observations, Newey–West standard errors with four lags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37360"/>
          <a:ext cx="10344602" cy="2633472"/>
        </p:xfrm>
        <a:graphic>
          <a:graphicData uri="http://schemas.openxmlformats.org/drawingml/2006/table">
            <a:tbl>
              <a:tblPr>
                <a:tableStyleId>{5C22544A-7EE6-4342-B048-85BDC9FD1C3A}</a:tableStyleId>
              </a:tblPr>
              <a:tblGrid>
                <a:gridCol w="2172367"/>
                <a:gridCol w="1344798"/>
                <a:gridCol w="1034460"/>
                <a:gridCol w="931014"/>
                <a:gridCol w="1034460"/>
                <a:gridCol w="1034460"/>
                <a:gridCol w="2793043"/>
              </a:tblGrid>
              <a:tr h="438912">
                <a:tc>
                  <a:txBody>
                    <a:bodyPr wrap="square"/>
                    <a:lstStyle/>
                    <a:p>
                      <a:pPr algn="l"/>
                      <a:r>
                        <a:rPr sz="950" b="1" spc="130">
                          <a:solidFill>
                            <a:srgbClr val="4A443C"/>
                          </a:solidFill>
                          <a:latin typeface="Corbel"/>
                        </a:rPr>
                        <a:t>MODEL</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ANNUALISED ALPHA</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ALPHA T-STAT</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P-VALUE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MARKET BETA</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ADJUSTED R²</a:t>
                      </a:r>
                    </a:p>
                  </a:txBody>
                  <a:tcPr marL="91440" marR="91440" marT="27432" marB="27432" anchor="ctr">
                    <a:noFill/>
                    <a:lnB w="6350" cap="flat">
                      <a:solidFill>
                        <a:srgbClr val="16130F"/>
                      </a:solidFill>
                    </a:lnB>
                  </a:tcPr>
                </a:tc>
                <a:tc>
                  <a:txBody>
                    <a:bodyPr wrap="square"/>
                    <a:lstStyle/>
                    <a:p>
                      <a:pPr algn="l"/>
                      <a:r>
                        <a:rPr sz="950" b="1" spc="130">
                          <a:solidFill>
                            <a:srgbClr val="4A443C"/>
                          </a:solidFill>
                          <a:latin typeface="Corbel"/>
                        </a:rPr>
                        <a:t>INTERPRETATION</a:t>
                      </a:r>
                    </a:p>
                  </a:txBody>
                  <a:tcPr marL="91440" marR="91440" marT="27432" marB="27432" anchor="ctr">
                    <a:noFill/>
                    <a:lnB w="6350" cap="flat">
                      <a:solidFill>
                        <a:srgbClr val="16130F"/>
                      </a:solidFill>
                    </a:lnB>
                  </a:tcPr>
                </a:tc>
              </a:tr>
              <a:tr h="438912">
                <a:tc>
                  <a:txBody>
                    <a:bodyPr wrap="square"/>
                    <a:lstStyle/>
                    <a:p>
                      <a:pPr algn="l"/>
                      <a:r>
                        <a:rPr sz="1100" b="1">
                          <a:solidFill>
                            <a:srgbClr val="16130F"/>
                          </a:solidFill>
                          <a:latin typeface="Corbel"/>
                        </a:rPr>
                        <a:t>CAPM (single factor)</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2.19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0.029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1.005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0.872</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5%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Fama–French 3-factor</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5.9%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2.83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0.005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1.040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0.915</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1%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Fama–French 5-factor</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6.6%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3.06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0.002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1.050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0.914</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1%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FF5 + momentum (Carhart)</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6.5%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2.95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0.003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1.054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0.913</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1%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NASDAQ-100, same FF5 test</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1.41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0.159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1.099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0.943</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Not statistically significant</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4663440"/>
            <a:ext cx="10344607" cy="1280160"/>
          </a:xfrm>
          <a:prstGeom prst="rect">
            <a:avLst/>
          </a:prstGeom>
          <a:noFill/>
        </p:spPr>
        <p:txBody>
          <a:bodyPr wrap="square" lIns="0" rIns="0" tIns="0" bIns="0" anchor="t">
            <a:spAutoFit/>
          </a:bodyPr>
          <a:lstStyle/>
          <a:p>
            <a:pPr algn="l">
              <a:lnSpc>
                <a:spcPct val="130000"/>
              </a:lnSpc>
            </a:pPr>
            <a:r>
              <a:rPr sz="1300" b="0" i="0">
                <a:solidFill>
                  <a:srgbClr val="16130F"/>
                </a:solidFill>
                <a:latin typeface="Corbel"/>
              </a:rPr>
              <a:t>The test that matters. After controlling for the market, size, value, profitability, investment and momentum factors, the fund still delivered 6.6% a year that those factors cannot explain, with a t-statistic of 3.06 (p = 0.002). The same test applied to the NASDAQ-100 returns an alpha of 2.4% that is statistically indistinguishable from zero. The benchmark's excess return is explained by its factor exposures. Ours is not.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What the factor loadings say about us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 large-cap growth fund with market-like beta, which is the profile the mandate described</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8_factors.png"/>
          <p:cNvPicPr>
            <a:picLocks noChangeAspect="1"/>
          </p:cNvPicPr>
          <p:nvPr/>
        </p:nvPicPr>
        <p:blipFill>
          <a:blip r:embed="rId2"/>
          <a:stretch>
            <a:fillRect/>
          </a:stretch>
        </p:blipFill>
        <p:spPr>
          <a:xfrm>
            <a:off x="1298448" y="2156908"/>
            <a:ext cx="6361933" cy="3111111"/>
          </a:xfrm>
          <a:prstGeom prst="rect">
            <a:avLst/>
          </a:prstGeom>
        </p:spPr>
      </p:pic>
      <p:sp>
        <p:nvSpPr>
          <p:cNvPr id="12" name="TextBox 11"/>
          <p:cNvSpPr txBox="1"/>
          <p:nvPr/>
        </p:nvSpPr>
        <p:spPr>
          <a:xfrm>
            <a:off x="7934701" y="173736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READING THE COEFFICIENTS</a:t>
            </a:r>
          </a:p>
        </p:txBody>
      </p:sp>
      <p:sp>
        <p:nvSpPr>
          <p:cNvPr id="13" name="TextBox 12"/>
          <p:cNvSpPr txBox="1"/>
          <p:nvPr/>
        </p:nvSpPr>
        <p:spPr>
          <a:xfrm>
            <a:off x="7934701" y="2066543"/>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Market +1.05.  </a:t>
            </a:r>
            <a:r>
              <a:rPr sz="1100">
                <a:solidFill>
                  <a:srgbClr val="16130F"/>
                </a:solidFill>
                <a:latin typeface="Corbel"/>
              </a:rPr>
              <a:t>Essentially one-for-one with the market. We were not levered.</a:t>
            </a:r>
          </a:p>
        </p:txBody>
      </p:sp>
      <p:sp>
        <p:nvSpPr>
          <p:cNvPr id="14" name="TextBox 13"/>
          <p:cNvSpPr txBox="1"/>
          <p:nvPr/>
        </p:nvSpPr>
        <p:spPr>
          <a:xfrm>
            <a:off x="7934701" y="2550159"/>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Size −0.22.  </a:t>
            </a:r>
            <a:r>
              <a:rPr sz="1100">
                <a:solidFill>
                  <a:srgbClr val="16130F"/>
                </a:solidFill>
                <a:latin typeface="Corbel"/>
              </a:rPr>
              <a:t>Significantly negative: a large-cap fund, as intended.</a:t>
            </a:r>
          </a:p>
        </p:txBody>
      </p:sp>
      <p:sp>
        <p:nvSpPr>
          <p:cNvPr id="15" name="TextBox 14"/>
          <p:cNvSpPr txBox="1"/>
          <p:nvPr/>
        </p:nvSpPr>
        <p:spPr>
          <a:xfrm>
            <a:off x="7934701" y="3033775"/>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Value −0.19.  </a:t>
            </a:r>
            <a:r>
              <a:rPr sz="1100">
                <a:solidFill>
                  <a:srgbClr val="16130F"/>
                </a:solidFill>
                <a:latin typeface="Corbel"/>
              </a:rPr>
              <a:t>Significantly negative: a growth fund, as intended.</a:t>
            </a:r>
          </a:p>
        </p:txBody>
      </p:sp>
      <p:sp>
        <p:nvSpPr>
          <p:cNvPr id="16" name="TextBox 15"/>
          <p:cNvSpPr txBox="1"/>
          <p:nvPr/>
        </p:nvSpPr>
        <p:spPr>
          <a:xfrm>
            <a:off x="7934701" y="3517391"/>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Profitability −0.11, Investment −0.05.  </a:t>
            </a:r>
            <a:r>
              <a:rPr sz="1100">
                <a:solidFill>
                  <a:srgbClr val="16130F"/>
                </a:solidFill>
                <a:latin typeface="Corbel"/>
              </a:rPr>
              <a:t>Neither is significant, so no hidden quality tilt.</a:t>
            </a:r>
          </a:p>
        </p:txBody>
      </p:sp>
      <p:sp>
        <p:nvSpPr>
          <p:cNvPr id="17" name="TextBox 16"/>
          <p:cNvSpPr txBox="1"/>
          <p:nvPr/>
        </p:nvSpPr>
        <p:spPr>
          <a:xfrm>
            <a:off x="7934701" y="4001007"/>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Momentum +0.02.  </a:t>
            </a:r>
            <a:r>
              <a:rPr sz="1100">
                <a:solidFill>
                  <a:srgbClr val="16130F"/>
                </a:solidFill>
                <a:latin typeface="Corbel"/>
              </a:rPr>
              <a:t>Effectively zero. This was not a momentum-chasing strategy.</a:t>
            </a:r>
          </a:p>
        </p:txBody>
      </p:sp>
      <p:sp>
        <p:nvSpPr>
          <p:cNvPr id="18" name="Rectangle 17"/>
          <p:cNvSpPr/>
          <p:nvPr/>
        </p:nvSpPr>
        <p:spPr>
          <a:xfrm>
            <a:off x="7934701" y="4630927"/>
            <a:ext cx="3708354" cy="1828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34701" y="4795519"/>
            <a:ext cx="3708354" cy="914400"/>
          </a:xfrm>
          <a:prstGeom prst="rect">
            <a:avLst/>
          </a:prstGeom>
          <a:noFill/>
        </p:spPr>
        <p:txBody>
          <a:bodyPr wrap="square" lIns="0" rIns="0" tIns="0" bIns="0" anchor="t">
            <a:spAutoFit/>
          </a:bodyPr>
          <a:lstStyle/>
          <a:p>
            <a:pPr algn="l">
              <a:lnSpc>
                <a:spcPct val="125000"/>
              </a:lnSpc>
            </a:pPr>
            <a:r>
              <a:rPr sz="1100" b="1" i="0">
                <a:solidFill>
                  <a:srgbClr val="0D3B38"/>
                </a:solidFill>
                <a:latin typeface="Corbel"/>
              </a:rPr>
              <a:t>Every loading sits where the January-2016 mandate said it would. There are no unexplained exposures hiding in this portfolio.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Alpha was persistent, not a single lucky year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Rolling 36-month Jensen's alpha stays positive across every window in the sample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5_rolling_alpha.png"/>
          <p:cNvPicPr>
            <a:picLocks noChangeAspect="1"/>
          </p:cNvPicPr>
          <p:nvPr/>
        </p:nvPicPr>
        <p:blipFill>
          <a:blip r:embed="rId2"/>
          <a:stretch>
            <a:fillRect/>
          </a:stretch>
        </p:blipFill>
        <p:spPr>
          <a:xfrm>
            <a:off x="1926308" y="1517904"/>
            <a:ext cx="9088887" cy="3950207"/>
          </a:xfrm>
          <a:prstGeom prst="rect">
            <a:avLst/>
          </a:prstGeom>
        </p:spPr>
      </p:pic>
      <p:sp>
        <p:nvSpPr>
          <p:cNvPr id="12" name="TextBox 11"/>
          <p:cNvSpPr txBox="1"/>
          <p:nvPr/>
        </p:nvSpPr>
        <p:spPr>
          <a:xfrm>
            <a:off x="1298448" y="5577840"/>
            <a:ext cx="10344607" cy="640080"/>
          </a:xfrm>
          <a:prstGeom prst="rect">
            <a:avLst/>
          </a:prstGeom>
          <a:noFill/>
        </p:spPr>
        <p:txBody>
          <a:bodyPr wrap="square" lIns="0" rIns="0" tIns="0" bIns="0" anchor="t">
            <a:spAutoFit/>
          </a:bodyPr>
          <a:lstStyle/>
          <a:p>
            <a:pPr algn="l">
              <a:lnSpc>
                <a:spcPct val="125000"/>
              </a:lnSpc>
            </a:pPr>
            <a:r>
              <a:rPr sz="1150" b="0" i="0">
                <a:solidFill>
                  <a:srgbClr val="4A443C"/>
                </a:solidFill>
                <a:latin typeface="Corbel"/>
              </a:rPr>
              <a:t>A single full-sample alpha can be produced by one exceptional year. This chart re-estimates the CAPM alpha on every rolling three-year window from Dec-2019 onward. It never turns negative — including the windows dominated by the 2022 drawdown, where the alpha comes from losing less rather than gaining more.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28</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Nine of eleven picks beat their own sector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Each holding measured against the GICS sector ETF it sits in, which is the fairest test of stock selection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3_stock_vs_sector.png"/>
          <p:cNvPicPr>
            <a:picLocks noChangeAspect="1"/>
          </p:cNvPicPr>
          <p:nvPr/>
        </p:nvPicPr>
        <p:blipFill>
          <a:blip r:embed="rId2"/>
          <a:stretch>
            <a:fillRect/>
          </a:stretch>
        </p:blipFill>
        <p:spPr>
          <a:xfrm>
            <a:off x="2484876" y="1517904"/>
            <a:ext cx="7971750" cy="4023359"/>
          </a:xfrm>
          <a:prstGeom prst="rect">
            <a:avLst/>
          </a:prstGeom>
        </p:spPr>
      </p:pic>
      <p:sp>
        <p:nvSpPr>
          <p:cNvPr id="12" name="TextBox 11"/>
          <p:cNvSpPr txBox="1"/>
          <p:nvPr/>
        </p:nvSpPr>
        <p:spPr>
          <a:xfrm>
            <a:off x="1298448" y="5669280"/>
            <a:ext cx="10344607" cy="548640"/>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Only two picks lagged: Illumina, 60 points behind XLV, and Schlumberger, 77 points behind XLE. The standouts were Costco at 152 points ahead of XLP, NextEra 146 ahead of XLU and Microsoft 142 ahead of XLK. XLC did not exist until June 2018, so the Communication Services sleeve is spliced with XLK before that date.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Where the 179% came from</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Compounded contribution to cumulative return by holding. Microsoft alone delivered nearly a quarter of it</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2_contribution.png"/>
          <p:cNvPicPr>
            <a:picLocks noChangeAspect="1"/>
          </p:cNvPicPr>
          <p:nvPr/>
        </p:nvPicPr>
        <p:blipFill>
          <a:blip r:embed="rId2"/>
          <a:stretch>
            <a:fillRect/>
          </a:stretch>
        </p:blipFill>
        <p:spPr>
          <a:xfrm>
            <a:off x="1298448" y="2201672"/>
            <a:ext cx="6361933" cy="3113023"/>
          </a:xfrm>
          <a:prstGeom prst="rect">
            <a:avLst/>
          </a:prstGeom>
        </p:spPr>
      </p:pic>
      <p:sp>
        <p:nvSpPr>
          <p:cNvPr id="12" name="TextBox 11"/>
          <p:cNvSpPr txBox="1"/>
          <p:nvPr/>
        </p:nvSpPr>
        <p:spPr>
          <a:xfrm>
            <a:off x="7934701" y="173736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TOP 3 AND BOTTOM 3</a:t>
            </a:r>
          </a:p>
        </p:txBody>
      </p:sp>
      <p:graphicFrame>
        <p:nvGraphicFramePr>
          <p:cNvPr id="13" name="Table 12"/>
          <p:cNvGraphicFramePr>
            <a:graphicFrameLocks noGrp="1"/>
          </p:cNvGraphicFramePr>
          <p:nvPr/>
        </p:nvGraphicFramePr>
        <p:xfrm>
          <a:off x="7934701" y="2084831"/>
          <a:ext cx="3708353" cy="2048256"/>
        </p:xfrm>
        <a:graphic>
          <a:graphicData uri="http://schemas.openxmlformats.org/drawingml/2006/table">
            <a:tbl>
              <a:tblPr>
                <a:tableStyleId>{5C22544A-7EE6-4342-B048-85BDC9FD1C3A}</a:tableStyleId>
              </a:tblPr>
              <a:tblGrid>
                <a:gridCol w="1112506"/>
                <a:gridCol w="1112506"/>
                <a:gridCol w="1483341"/>
              </a:tblGrid>
              <a:tr h="292608">
                <a:tc>
                  <a:txBody>
                    <a:bodyPr wrap="square"/>
                    <a:lstStyle/>
                    <a:p>
                      <a:pPr algn="l"/>
                      <a:r>
                        <a:rPr sz="90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CONTRIB.</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TOTAL RETURN</a:t>
                      </a:r>
                    </a:p>
                  </a:txBody>
                  <a:tcPr marL="91440" marR="91440" marT="27432" marB="27432" anchor="ctr">
                    <a:noFill/>
                    <a:lnB w="6350" cap="flat">
                      <a:solidFill>
                        <a:srgbClr val="16130F"/>
                      </a:solidFill>
                    </a:lnB>
                  </a:tcPr>
                </a:tc>
              </a:tr>
              <a:tr h="292608">
                <a:tc>
                  <a:txBody>
                    <a:bodyPr wrap="square"/>
                    <a:lstStyle/>
                    <a:p>
                      <a:pPr algn="l"/>
                      <a:r>
                        <a:rPr sz="1050" b="1">
                          <a:solidFill>
                            <a:srgbClr val="16130F"/>
                          </a:solidFill>
                          <a:latin typeface="Corbel"/>
                        </a:rPr>
                        <a:t>MSFT</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41.9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319%</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GOOGL</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22.1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123%</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ALB</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20.8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172%</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EQIX</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10.5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105%</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AMZN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10.3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124%</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ILMN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58%</a:t>
                      </a:r>
                    </a:p>
                  </a:txBody>
                  <a:tcPr marL="91440" marR="91440" marT="27432" marB="27432" anchor="ctr">
                    <a:noFill/>
                    <a:lnT w="3175" cap="flat">
                      <a:solidFill>
                        <a:srgbClr val="E2DCCF"/>
                      </a:solidFill>
                    </a:lnT>
                  </a:tcPr>
                </a:tc>
              </a:tr>
            </a:tbl>
          </a:graphicData>
        </a:graphic>
      </p:graphicFrame>
      <p:sp>
        <p:nvSpPr>
          <p:cNvPr id="14" name="TextBox 13"/>
          <p:cNvSpPr txBox="1"/>
          <p:nvPr/>
        </p:nvSpPr>
        <p:spPr>
          <a:xfrm>
            <a:off x="7934701" y="4279392"/>
            <a:ext cx="3708354" cy="1463040"/>
          </a:xfrm>
          <a:prstGeom prst="rect">
            <a:avLst/>
          </a:prstGeom>
          <a:noFill/>
        </p:spPr>
        <p:txBody>
          <a:bodyPr wrap="square" lIns="0" rIns="0" tIns="0" bIns="0" anchor="t">
            <a:spAutoFit/>
          </a:bodyPr>
          <a:lstStyle/>
          <a:p>
            <a:pPr algn="l">
              <a:lnSpc>
                <a:spcPct val="128000"/>
              </a:lnSpc>
            </a:pPr>
            <a:r>
              <a:rPr sz="1150" b="0" i="0">
                <a:solidFill>
                  <a:srgbClr val="4A443C"/>
                </a:solidFill>
                <a:latin typeface="Corbel"/>
              </a:rPr>
              <a:t>Schlumberger is the instructive case. It lost 23.5% over six years, yet contributed a positive 13.2 points — because quarterly rebalancing kept buying it back to its 5% floor at successively lower prices, and it then returned +81% in 2022.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94% of the value-add came from stock picking</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Brinson–Fachler attribution against an equal-weight benchmark of the eleven GICS sector ETFs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31_attribution.png"/>
          <p:cNvPicPr>
            <a:picLocks noChangeAspect="1"/>
          </p:cNvPicPr>
          <p:nvPr/>
        </p:nvPicPr>
        <p:blipFill>
          <a:blip r:embed="rId2"/>
          <a:stretch>
            <a:fillRect/>
          </a:stretch>
        </p:blipFill>
        <p:spPr>
          <a:xfrm>
            <a:off x="1298448" y="2135618"/>
            <a:ext cx="6361933" cy="3153691"/>
          </a:xfrm>
          <a:prstGeom prst="rect">
            <a:avLst/>
          </a:prstGeom>
        </p:spPr>
      </p:pic>
      <p:sp>
        <p:nvSpPr>
          <p:cNvPr id="12" name="TextBox 11"/>
          <p:cNvSpPr txBox="1"/>
          <p:nvPr/>
        </p:nvSpPr>
        <p:spPr>
          <a:xfrm>
            <a:off x="7934701" y="175564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DECOMPOSITION</a:t>
            </a:r>
          </a:p>
        </p:txBody>
      </p:sp>
      <p:sp>
        <p:nvSpPr>
          <p:cNvPr id="13" name="TextBox 12"/>
          <p:cNvSpPr txBox="1"/>
          <p:nvPr/>
        </p:nvSpPr>
        <p:spPr>
          <a:xfrm>
            <a:off x="7934701" y="2066543"/>
            <a:ext cx="3708354" cy="519684"/>
          </a:xfrm>
          <a:prstGeom prst="rect">
            <a:avLst/>
          </a:prstGeom>
          <a:noFill/>
        </p:spPr>
        <p:txBody>
          <a:bodyPr wrap="square" lIns="0" rIns="0" tIns="0" bIns="0">
            <a:spAutoFit/>
          </a:bodyPr>
          <a:lstStyle/>
          <a:p>
            <a:pPr>
              <a:lnSpc>
                <a:spcPct val="122000"/>
              </a:lnSpc>
            </a:pPr>
            <a:r>
              <a:rPr sz="1100" b="1">
                <a:solidFill>
                  <a:srgbClr val="0D3B38"/>
                </a:solidFill>
                <a:latin typeface="Corbel"/>
              </a:rPr>
              <a:t>Allocation +1.8 pts.  </a:t>
            </a:r>
            <a:r>
              <a:rPr sz="1100">
                <a:solidFill>
                  <a:srgbClr val="16130F"/>
                </a:solidFill>
                <a:latin typeface="Corbel"/>
              </a:rPr>
              <a:t>The sector tilts, overweight technology and underweight energy, contributed very little.</a:t>
            </a:r>
          </a:p>
        </p:txBody>
      </p:sp>
      <p:sp>
        <p:nvSpPr>
          <p:cNvPr id="14" name="TextBox 13"/>
          <p:cNvSpPr txBox="1"/>
          <p:nvPr/>
        </p:nvSpPr>
        <p:spPr>
          <a:xfrm>
            <a:off x="7934701" y="2732531"/>
            <a:ext cx="3708354" cy="519684"/>
          </a:xfrm>
          <a:prstGeom prst="rect">
            <a:avLst/>
          </a:prstGeom>
          <a:noFill/>
        </p:spPr>
        <p:txBody>
          <a:bodyPr wrap="square" lIns="0" rIns="0" tIns="0" bIns="0">
            <a:spAutoFit/>
          </a:bodyPr>
          <a:lstStyle/>
          <a:p>
            <a:pPr>
              <a:lnSpc>
                <a:spcPct val="122000"/>
              </a:lnSpc>
            </a:pPr>
            <a:r>
              <a:rPr sz="1100" b="1">
                <a:solidFill>
                  <a:srgbClr val="0D3B38"/>
                </a:solidFill>
                <a:latin typeface="Corbel"/>
              </a:rPr>
              <a:t>Selection +41.4 pts.  </a:t>
            </a:r>
            <a:r>
              <a:rPr sz="1100">
                <a:solidFill>
                  <a:srgbClr val="16130F"/>
                </a:solidFill>
                <a:latin typeface="Corbel"/>
              </a:rPr>
              <a:t>Almost all of the active return came from picking better stocks than the sector average.</a:t>
            </a:r>
          </a:p>
        </p:txBody>
      </p:sp>
      <p:sp>
        <p:nvSpPr>
          <p:cNvPr id="15" name="TextBox 14"/>
          <p:cNvSpPr txBox="1"/>
          <p:nvPr/>
        </p:nvSpPr>
        <p:spPr>
          <a:xfrm>
            <a:off x="7934701" y="3398519"/>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Interaction +1.0 pt.  </a:t>
            </a:r>
            <a:r>
              <a:rPr sz="1100">
                <a:solidFill>
                  <a:srgbClr val="16130F"/>
                </a:solidFill>
                <a:latin typeface="Corbel"/>
              </a:rPr>
              <a:t>The residual from being overweight where we also picked well.</a:t>
            </a:r>
          </a:p>
        </p:txBody>
      </p:sp>
      <p:sp>
        <p:nvSpPr>
          <p:cNvPr id="16" name="Rectangle 15"/>
          <p:cNvSpPr/>
          <p:nvPr/>
        </p:nvSpPr>
        <p:spPr>
          <a:xfrm>
            <a:off x="7934701" y="4037583"/>
            <a:ext cx="3708354" cy="1828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4701" y="4202175"/>
            <a:ext cx="3708354" cy="1828800"/>
          </a:xfrm>
          <a:prstGeom prst="rect">
            <a:avLst/>
          </a:prstGeom>
          <a:noFill/>
        </p:spPr>
        <p:txBody>
          <a:bodyPr wrap="square" lIns="0" rIns="0" tIns="0" bIns="0" anchor="t">
            <a:spAutoFit/>
          </a:bodyPr>
          <a:lstStyle/>
          <a:p>
            <a:pPr algn="l">
              <a:lnSpc>
                <a:spcPct val="130000"/>
              </a:lnSpc>
            </a:pPr>
            <a:r>
              <a:rPr sz="1100" b="0" i="0">
                <a:solidFill>
                  <a:srgbClr val="0D3B38"/>
                </a:solidFill>
                <a:latin typeface="Corbel"/>
              </a:rPr>
              <a:t>Why this matters for your decision: allocation skill is a macro call and is hard to repeat. Selection skill is a research process. That 94% of our value-add came from selection is the strongest argument that the result is repeatable.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Would an optimiser have done better?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 mean-variance model given three years of pre-launch data would have added 1.1% a year, by taking concentration risk we were not permitted to take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7_variants.png"/>
          <p:cNvPicPr>
            <a:picLocks noChangeAspect="1"/>
          </p:cNvPicPr>
          <p:nvPr/>
        </p:nvPicPr>
        <p:blipFill>
          <a:blip r:embed="rId2"/>
          <a:stretch>
            <a:fillRect/>
          </a:stretch>
        </p:blipFill>
        <p:spPr>
          <a:xfrm>
            <a:off x="1298448" y="2195310"/>
            <a:ext cx="6361933" cy="3125747"/>
          </a:xfrm>
          <a:prstGeom prst="rect">
            <a:avLst/>
          </a:prstGeom>
        </p:spPr>
      </p:pic>
      <p:graphicFrame>
        <p:nvGraphicFramePr>
          <p:cNvPr id="12" name="Table 11"/>
          <p:cNvGraphicFramePr>
            <a:graphicFrameLocks noGrp="1"/>
          </p:cNvGraphicFramePr>
          <p:nvPr/>
        </p:nvGraphicFramePr>
        <p:xfrm>
          <a:off x="7934701" y="1755648"/>
          <a:ext cx="3708352" cy="1865376"/>
        </p:xfrm>
        <a:graphic>
          <a:graphicData uri="http://schemas.openxmlformats.org/drawingml/2006/table">
            <a:tbl>
              <a:tblPr>
                <a:tableStyleId>{5C22544A-7EE6-4342-B048-85BDC9FD1C3A}</a:tableStyleId>
              </a:tblPr>
              <a:tblGrid>
                <a:gridCol w="1928344"/>
                <a:gridCol w="890004"/>
                <a:gridCol w="890004"/>
              </a:tblGrid>
              <a:tr h="310896">
                <a:tc>
                  <a:txBody>
                    <a:bodyPr wrap="square"/>
                    <a:lstStyle/>
                    <a:p>
                      <a:pPr algn="l"/>
                      <a:r>
                        <a:rPr sz="900" b="1" spc="130">
                          <a:solidFill>
                            <a:srgbClr val="4A443C"/>
                          </a:solidFill>
                          <a:latin typeface="Corbel"/>
                        </a:rPr>
                        <a:t>CONSTRUCTION RULE</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SHARPE</a:t>
                      </a:r>
                    </a:p>
                  </a:txBody>
                  <a:tcPr marL="91440" marR="91440" marT="27432" marB="27432" anchor="ctr">
                    <a:noFill/>
                    <a:lnB w="6350" cap="flat">
                      <a:solidFill>
                        <a:srgbClr val="16130F"/>
                      </a:solidFill>
                    </a:lnB>
                  </a:tcPr>
                </a:tc>
              </a:tr>
              <a:tr h="310896">
                <a:tc>
                  <a:txBody>
                    <a:bodyPr wrap="square"/>
                    <a:lstStyle/>
                    <a:p>
                      <a:pPr algn="l"/>
                      <a:r>
                        <a:rPr sz="1050" b="1">
                          <a:solidFill>
                            <a:srgbClr val="16130F"/>
                          </a:solidFill>
                          <a:latin typeface="Corbel"/>
                        </a:rPr>
                        <a:t>NDIF as run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0.94</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Mean–variance (2014–16 inputs)</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19.7%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1.07</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Equal weight (1/N)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0.90</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Buy &amp; hold</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17.3%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0.88</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Perfect-foresight optimum</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22.8%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1.32</a:t>
                      </a:r>
                    </a:p>
                  </a:txBody>
                  <a:tcPr marL="91440" marR="91440" marT="27432" marB="27432" anchor="ctr">
                    <a:noFill/>
                    <a:lnT w="3175" cap="flat">
                      <a:solidFill>
                        <a:srgbClr val="E2DCCF"/>
                      </a:solidFill>
                    </a:lnT>
                  </a:tcPr>
                </a:tc>
              </a:tr>
            </a:tbl>
          </a:graphicData>
        </a:graphic>
      </p:graphicFrame>
      <p:sp>
        <p:nvSpPr>
          <p:cNvPr id="13" name="TextBox 12"/>
          <p:cNvSpPr txBox="1"/>
          <p:nvPr/>
        </p:nvSpPr>
        <p:spPr>
          <a:xfrm>
            <a:off x="7934701" y="3803904"/>
            <a:ext cx="3708354" cy="2194560"/>
          </a:xfrm>
          <a:prstGeom prst="rect">
            <a:avLst/>
          </a:prstGeom>
          <a:noFill/>
        </p:spPr>
        <p:txBody>
          <a:bodyPr wrap="square" lIns="0" rIns="0" tIns="0" bIns="0" anchor="t">
            <a:spAutoFit/>
          </a:bodyPr>
          <a:lstStyle/>
          <a:p>
            <a:pPr algn="l">
              <a:lnSpc>
                <a:spcPct val="126000"/>
              </a:lnSpc>
            </a:pPr>
            <a:r>
              <a:rPr sz="1050" b="0" i="0">
                <a:solidFill>
                  <a:srgbClr val="4A443C"/>
                </a:solidFill>
                <a:latin typeface="Corbel"/>
              </a:rPr>
              <a:t>The optimiser's solution put 25% in Equinix and 25% in NextEra — breaching our 16% position cap — and zero in Alphabet, Visa, Albemarle and Schlumberger, breaching the 5% sector floor four times over. It bought a better backtest by discarding the mandate.</a:t>
            </a:r>
          </a:p>
          <a:p>
            <a:pPr algn="l">
              <a:lnSpc>
                <a:spcPct val="126000"/>
              </a:lnSpc>
            </a:pPr>
            <a:r>
              <a:rPr sz="1050" b="0" i="0">
                <a:solidFill>
                  <a:srgbClr val="4A443C"/>
                </a:solidFill>
                <a:latin typeface="Corbel"/>
              </a:rPr>
              <a:t/>
            </a:r>
          </a:p>
          <a:p>
            <a:pPr algn="l">
              <a:lnSpc>
                <a:spcPct val="126000"/>
              </a:lnSpc>
            </a:pPr>
            <a:r>
              <a:rPr sz="1050" b="0" i="0">
                <a:solidFill>
                  <a:srgbClr val="4A443C"/>
                </a:solidFill>
                <a:latin typeface="Corbel"/>
              </a:rPr>
              <a:t>Even with perfect foresight, the best achievable was 22.9% a year. We captured 82% of a result nobody could have known in advance.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32</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120% of the upside, 97% of the downside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The asymmetry that produced the result: most of the market's gains, without most of its losses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9_capture.png"/>
          <p:cNvPicPr>
            <a:picLocks noChangeAspect="1"/>
          </p:cNvPicPr>
          <p:nvPr/>
        </p:nvPicPr>
        <p:blipFill>
          <a:blip r:embed="rId2"/>
          <a:stretch>
            <a:fillRect/>
          </a:stretch>
        </p:blipFill>
        <p:spPr>
          <a:xfrm>
            <a:off x="1298448" y="2237698"/>
            <a:ext cx="6361933" cy="2949531"/>
          </a:xfrm>
          <a:prstGeom prst="rect">
            <a:avLst/>
          </a:prstGeom>
        </p:spPr>
      </p:pic>
      <p:sp>
        <p:nvSpPr>
          <p:cNvPr id="12" name="TextBox 11"/>
          <p:cNvSpPr txBox="1"/>
          <p:nvPr/>
        </p:nvSpPr>
        <p:spPr>
          <a:xfrm>
            <a:off x="7934701" y="175564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ASYMMETRY</a:t>
            </a:r>
          </a:p>
        </p:txBody>
      </p:sp>
      <p:sp>
        <p:nvSpPr>
          <p:cNvPr id="13" name="TextBox 12"/>
          <p:cNvSpPr txBox="1"/>
          <p:nvPr/>
        </p:nvSpPr>
        <p:spPr>
          <a:xfrm>
            <a:off x="7934701" y="2066543"/>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Upside capture 120%.  </a:t>
            </a:r>
            <a:r>
              <a:rPr sz="1100">
                <a:solidFill>
                  <a:srgbClr val="16130F"/>
                </a:solidFill>
                <a:latin typeface="Corbel"/>
              </a:rPr>
              <a:t>In months the S&amp;P 500 rose, we rose 20% more than it did.</a:t>
            </a:r>
          </a:p>
        </p:txBody>
      </p:sp>
      <p:sp>
        <p:nvSpPr>
          <p:cNvPr id="14" name="TextBox 13"/>
          <p:cNvSpPr txBox="1"/>
          <p:nvPr/>
        </p:nvSpPr>
        <p:spPr>
          <a:xfrm>
            <a:off x="7934701" y="2559303"/>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Downside capture 97%.  </a:t>
            </a:r>
            <a:r>
              <a:rPr sz="1100">
                <a:solidFill>
                  <a:srgbClr val="16130F"/>
                </a:solidFill>
                <a:latin typeface="Corbel"/>
              </a:rPr>
              <a:t>In months it fell, we fell slightly less.</a:t>
            </a:r>
          </a:p>
        </p:txBody>
      </p:sp>
      <p:sp>
        <p:nvSpPr>
          <p:cNvPr id="15" name="TextBox 14"/>
          <p:cNvSpPr txBox="1"/>
          <p:nvPr/>
        </p:nvSpPr>
        <p:spPr>
          <a:xfrm>
            <a:off x="7934701" y="3052063"/>
            <a:ext cx="3708354" cy="519684"/>
          </a:xfrm>
          <a:prstGeom prst="rect">
            <a:avLst/>
          </a:prstGeom>
          <a:noFill/>
        </p:spPr>
        <p:txBody>
          <a:bodyPr wrap="square" lIns="0" rIns="0" tIns="0" bIns="0">
            <a:spAutoFit/>
          </a:bodyPr>
          <a:lstStyle/>
          <a:p>
            <a:pPr>
              <a:lnSpc>
                <a:spcPct val="122000"/>
              </a:lnSpc>
            </a:pPr>
            <a:r>
              <a:rPr sz="1100" b="1">
                <a:solidFill>
                  <a:srgbClr val="0D3B38"/>
                </a:solidFill>
                <a:latin typeface="Corbel"/>
              </a:rPr>
              <a:t>The NASDAQ-100, by contrast,  </a:t>
            </a:r>
            <a:r>
              <a:rPr sz="1100">
                <a:solidFill>
                  <a:srgbClr val="16130F"/>
                </a:solidFill>
                <a:latin typeface="Corbel"/>
              </a:rPr>
              <a:t>captured 118% of the upside but 108% of the downside: more of the gains, and more of the losses.</a:t>
            </a:r>
          </a:p>
        </p:txBody>
      </p:sp>
      <p:sp>
        <p:nvSpPr>
          <p:cNvPr id="16" name="TextBox 15"/>
          <p:cNvSpPr txBox="1"/>
          <p:nvPr/>
        </p:nvSpPr>
        <p:spPr>
          <a:xfrm>
            <a:off x="7934701" y="3718051"/>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50 positive months of 72.  </a:t>
            </a:r>
            <a:r>
              <a:rPr sz="1100">
                <a:solidFill>
                  <a:srgbClr val="16130F"/>
                </a:solidFill>
                <a:latin typeface="Corbel"/>
              </a:rPr>
              <a:t>A 69.4% hit rate against 65.3% for the NASDAQ-100.</a:t>
            </a:r>
          </a:p>
        </p:txBody>
      </p:sp>
      <p:sp>
        <p:nvSpPr>
          <p:cNvPr id="17" name="Rectangle 16"/>
          <p:cNvSpPr/>
          <p:nvPr/>
        </p:nvSpPr>
        <p:spPr>
          <a:xfrm>
            <a:off x="7934701" y="4357115"/>
            <a:ext cx="3708354" cy="1828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34701" y="4521707"/>
            <a:ext cx="3708354" cy="1463040"/>
          </a:xfrm>
          <a:prstGeom prst="rect">
            <a:avLst/>
          </a:prstGeom>
          <a:noFill/>
        </p:spPr>
        <p:txBody>
          <a:bodyPr wrap="square" lIns="0" rIns="0" tIns="0" bIns="0" anchor="t">
            <a:spAutoFit/>
          </a:bodyPr>
          <a:lstStyle/>
          <a:p>
            <a:pPr algn="l">
              <a:lnSpc>
                <a:spcPct val="130000"/>
              </a:lnSpc>
            </a:pPr>
            <a:r>
              <a:rPr sz="1100" b="1" i="0">
                <a:solidFill>
                  <a:srgbClr val="0D3B38"/>
                </a:solidFill>
                <a:latin typeface="Corbel"/>
              </a:rPr>
              <a:t>Those two numbers, 120 up and 97 down, are the compact statement of what the fund did. Everything else in this deck elaborates on them.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06</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The verdict</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Marking the fund against the objective we set in 2016, the fees you paid, and our recommendation on what happens next</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34</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verdict</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VERDICT</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Marking ourselves against the 2016 objective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commitment we made when we asked you for the mandate, scored against what we actually delivered</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00784"/>
          <a:ext cx="10344605" cy="4224528"/>
        </p:xfrm>
        <a:graphic>
          <a:graphicData uri="http://schemas.openxmlformats.org/drawingml/2006/table">
            <a:tbl>
              <a:tblPr>
                <a:tableStyleId>{5C22544A-7EE6-4342-B048-85BDC9FD1C3A}</a:tableStyleId>
              </a:tblPr>
              <a:tblGrid>
                <a:gridCol w="3930950"/>
                <a:gridCol w="1448244"/>
                <a:gridCol w="3310274"/>
                <a:gridCol w="1655137"/>
              </a:tblGrid>
              <a:tr h="384048">
                <a:tc>
                  <a:txBody>
                    <a:bodyPr wrap="square"/>
                    <a:lstStyle/>
                    <a:p>
                      <a:pPr algn="l"/>
                      <a:r>
                        <a:rPr sz="900" b="1" spc="130">
                          <a:solidFill>
                            <a:srgbClr val="4A443C"/>
                          </a:solidFill>
                          <a:latin typeface="Corbel"/>
                        </a:rPr>
                        <a:t>WHAT WE COMMITTED TO IN JANUARY 2016</a:t>
                      </a:r>
                    </a:p>
                  </a:txBody>
                  <a:tcPr marL="18288" marR="91440" marT="27432" marB="27432" anchor="ctr">
                    <a:noFill/>
                    <a:lnB w="6350" cap="flat">
                      <a:solidFill>
                        <a:srgbClr val="16130F"/>
                      </a:solidFill>
                    </a:lnB>
                  </a:tcPr>
                </a:tc>
                <a:tc>
                  <a:txBody>
                    <a:bodyPr wrap="square"/>
                    <a:lstStyle/>
                    <a:p>
                      <a:pPr algn="ctr"/>
                      <a:r>
                        <a:rPr sz="900" b="1" spc="130">
                          <a:solidFill>
                            <a:srgbClr val="4A443C"/>
                          </a:solidFill>
                          <a:latin typeface="Corbel"/>
                        </a:rPr>
                        <a:t>TARGET</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DELIVERED</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VERDICT</a:t>
                      </a:r>
                    </a:p>
                  </a:txBody>
                  <a:tcPr marL="91440" marR="91440" marT="27432" marB="27432" anchor="ctr">
                    <a:noFill/>
                    <a:lnB w="6350" cap="flat">
                      <a:solidFill>
                        <a:srgbClr val="16130F"/>
                      </a:solidFill>
                    </a:lnB>
                  </a:tcPr>
                </a:tc>
              </a:tr>
              <a:tr h="384048">
                <a:tc>
                  <a:txBody>
                    <a:bodyPr wrap="square"/>
                    <a:lstStyle/>
                    <a:p>
                      <a:pPr algn="l"/>
                      <a:r>
                        <a:rPr sz="1050" b="1">
                          <a:solidFill>
                            <a:srgbClr val="16130F"/>
                          </a:solidFill>
                          <a:latin typeface="Corbel"/>
                        </a:rPr>
                        <a:t>Net annualised return</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8–10% p.a.</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17.5% p.a. net of all fees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Cumulative net return over the fund life</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55–70%</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163% net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Outperform the S&amp;P 500</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~2% p.a. net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+6.2% p.a. net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Outperform the NASDAQ-100 (primary benchmark)</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Beat it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+3.4% p.a. gross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Maintain all eleven GICS sectors, 5% floor</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No sector abandoned</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Held throughout, all 24 quarters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Cap the largest position at 16%</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16% cap</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Held at every rebalance; MSFT drifted to a peak of 17.6% within a quarter</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Rebalance quarterly with a 5-point drift rule</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24 rebalances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24 executed; drift never exceeded 2.9 pts, so the rule never fired</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Deliver a mid-life strategic review at end-2019</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Formal review</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Conducted; target weights reconfirmed</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Keep the drawdown below the theme benchmark's</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Beat NASDAQ-100</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−24.9% vs −32.6%</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Generate return the market cannot explain</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Positive alpha</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+6.6% p.a., t = 3.06, p = 0.002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verdict</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VERDICT</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Gross to net: what you actually kept</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0.90% management fee plus 10% of the excess over the NASDAQ-100 hurdle, subject to the high-water mark</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33_fees.png"/>
          <p:cNvPicPr>
            <a:picLocks noChangeAspect="1"/>
          </p:cNvPicPr>
          <p:nvPr/>
        </p:nvPicPr>
        <p:blipFill>
          <a:blip r:embed="rId2"/>
          <a:stretch>
            <a:fillRect/>
          </a:stretch>
        </p:blipFill>
        <p:spPr>
          <a:xfrm>
            <a:off x="1298448" y="2201795"/>
            <a:ext cx="6361933" cy="3112778"/>
          </a:xfrm>
          <a:prstGeom prst="rect">
            <a:avLst/>
          </a:prstGeom>
        </p:spPr>
      </p:pic>
      <p:graphicFrame>
        <p:nvGraphicFramePr>
          <p:cNvPr id="12" name="Table 11"/>
          <p:cNvGraphicFramePr>
            <a:graphicFrameLocks noGrp="1"/>
          </p:cNvGraphicFramePr>
          <p:nvPr/>
        </p:nvGraphicFramePr>
        <p:xfrm>
          <a:off x="7934701" y="1755648"/>
          <a:ext cx="3708352" cy="1554480"/>
        </p:xfrm>
        <a:graphic>
          <a:graphicData uri="http://schemas.openxmlformats.org/drawingml/2006/table">
            <a:tbl>
              <a:tblPr>
                <a:tableStyleId>{5C22544A-7EE6-4342-B048-85BDC9FD1C3A}</a:tableStyleId>
              </a:tblPr>
              <a:tblGrid>
                <a:gridCol w="1705842"/>
                <a:gridCol w="1001255"/>
                <a:gridCol w="1001255"/>
              </a:tblGrid>
              <a:tr h="310896">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P.A.</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OVER SIX YEARS</a:t>
                      </a:r>
                    </a:p>
                  </a:txBody>
                  <a:tcPr marL="91440" marR="91440" marT="27432" marB="27432" anchor="ctr">
                    <a:noFill/>
                    <a:lnB w="6350" cap="flat">
                      <a:solidFill>
                        <a:srgbClr val="16130F"/>
                      </a:solidFill>
                    </a:lnB>
                  </a:tcPr>
                </a:tc>
              </a:tr>
              <a:tr h="310896">
                <a:tc>
                  <a:txBody>
                    <a:bodyPr wrap="square"/>
                    <a:lstStyle/>
                    <a:p>
                      <a:pPr algn="l"/>
                      <a:r>
                        <a:rPr sz="1100" b="1">
                          <a:solidFill>
                            <a:srgbClr val="16130F"/>
                          </a:solidFill>
                          <a:latin typeface="Corbel"/>
                        </a:rPr>
                        <a:t>Gross return</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179%</a:t>
                      </a:r>
                    </a:p>
                  </a:txBody>
                  <a:tcPr marL="91440" marR="91440" marT="27432" marB="27432" anchor="ctr">
                    <a:noFill/>
                    <a:lnT w="3175" cap="flat">
                      <a:solidFill>
                        <a:srgbClr val="E2DCCF"/>
                      </a:solidFill>
                    </a:lnT>
                  </a:tcPr>
                </a:tc>
              </a:tr>
              <a:tr h="310896">
                <a:tc>
                  <a:txBody>
                    <a:bodyPr wrap="square"/>
                    <a:lstStyle/>
                    <a:p>
                      <a:pPr algn="l"/>
                      <a:r>
                        <a:rPr sz="1100" b="1">
                          <a:solidFill>
                            <a:srgbClr val="16130F"/>
                          </a:solidFill>
                          <a:latin typeface="Corbel"/>
                        </a:rPr>
                        <a:t>Management fee</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−0.90%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−5.3%</a:t>
                      </a:r>
                    </a:p>
                  </a:txBody>
                  <a:tcPr marL="91440" marR="91440" marT="27432" marB="27432" anchor="ctr">
                    <a:noFill/>
                    <a:lnT w="3175" cap="flat">
                      <a:solidFill>
                        <a:srgbClr val="E2DCCF"/>
                      </a:solidFill>
                    </a:lnT>
                  </a:tcPr>
                </a:tc>
              </a:tr>
              <a:tr h="310896">
                <a:tc>
                  <a:txBody>
                    <a:bodyPr wrap="square"/>
                    <a:lstStyle/>
                    <a:p>
                      <a:pPr algn="l"/>
                      <a:r>
                        <a:rPr sz="1100" b="1">
                          <a:solidFill>
                            <a:srgbClr val="16130F"/>
                          </a:solidFill>
                          <a:latin typeface="Corbel"/>
                        </a:rPr>
                        <a:t>Performance fee</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−0.25%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−1.5%</a:t>
                      </a:r>
                    </a:p>
                  </a:txBody>
                  <a:tcPr marL="91440" marR="91440" marT="27432" marB="27432" anchor="ctr">
                    <a:noFill/>
                    <a:lnT w="3175" cap="flat">
                      <a:solidFill>
                        <a:srgbClr val="E2DCCF"/>
                      </a:solidFill>
                    </a:lnT>
                  </a:tcPr>
                </a:tc>
              </a:tr>
              <a:tr h="310896">
                <a:tc>
                  <a:txBody>
                    <a:bodyPr wrap="square"/>
                    <a:lstStyle/>
                    <a:p>
                      <a:pPr algn="l"/>
                      <a:r>
                        <a:rPr sz="1100" b="1">
                          <a:solidFill>
                            <a:srgbClr val="16130F"/>
                          </a:solidFill>
                          <a:latin typeface="Corbel"/>
                        </a:rPr>
                        <a:t>Net to investors</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17.51%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163%</a:t>
                      </a:r>
                    </a:p>
                  </a:txBody>
                  <a:tcPr marL="91440" marR="91440" marT="27432" marB="27432" anchor="ctr">
                    <a:noFill/>
                    <a:lnT w="3175" cap="flat">
                      <a:solidFill>
                        <a:srgbClr val="E2DCCF"/>
                      </a:solidFill>
                    </a:lnT>
                  </a:tcPr>
                </a:tc>
              </a:tr>
            </a:tbl>
          </a:graphicData>
        </a:graphic>
      </p:graphicFrame>
      <p:sp>
        <p:nvSpPr>
          <p:cNvPr id="13" name="TextBox 12"/>
          <p:cNvSpPr txBox="1"/>
          <p:nvPr/>
        </p:nvSpPr>
        <p:spPr>
          <a:xfrm>
            <a:off x="7934701" y="3474720"/>
            <a:ext cx="3708354" cy="2468880"/>
          </a:xfrm>
          <a:prstGeom prst="rect">
            <a:avLst/>
          </a:prstGeom>
          <a:noFill/>
        </p:spPr>
        <p:txBody>
          <a:bodyPr wrap="square" lIns="0" rIns="0" tIns="0" bIns="0" anchor="t">
            <a:spAutoFit/>
          </a:bodyPr>
          <a:lstStyle/>
          <a:p>
            <a:pPr algn="l">
              <a:lnSpc>
                <a:spcPct val="128000"/>
              </a:lnSpc>
            </a:pPr>
            <a:r>
              <a:rPr sz="1100" b="0" i="0">
                <a:solidFill>
                  <a:srgbClr val="4A443C"/>
                </a:solidFill>
                <a:latin typeface="Corbel"/>
              </a:rPr>
              <a:t>Total fee load was 1.15% a year — 0.90% base plus 0.25% of performance fee, because the hurdle is the NASDAQ-100 rather than zero and we only cleared it by 2.5 points a year.</a:t>
            </a:r>
          </a:p>
          <a:p>
            <a:pPr algn="l">
              <a:lnSpc>
                <a:spcPct val="128000"/>
              </a:lnSpc>
            </a:pPr>
            <a:r>
              <a:rPr sz="1100" b="0" i="0">
                <a:solidFill>
                  <a:srgbClr val="4A443C"/>
                </a:solidFill>
                <a:latin typeface="Corbel"/>
              </a:rPr>
              <a:t/>
            </a:r>
          </a:p>
          <a:p>
            <a:pPr algn="l">
              <a:lnSpc>
                <a:spcPct val="128000"/>
              </a:lnSpc>
            </a:pPr>
            <a:r>
              <a:rPr sz="1100" b="0" i="0">
                <a:solidFill>
                  <a:srgbClr val="4A443C"/>
                </a:solidFill>
                <a:latin typeface="Corbel"/>
              </a:rPr>
              <a:t>A passive NASDAQ-100 ETF at 0.20% would have cost $5.7m less over the six years and returned $235m. We returned $279m, so investors kept $38.7m after paying for active management.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verdict</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VERDICT</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Our recommendation: the fund should continue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With three changes to the mandate, which we would want your agreement on before raising the successor vehicle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11" name="Rectangle 10"/>
          <p:cNvSpPr/>
          <p:nvPr/>
        </p:nvSpPr>
        <p:spPr>
          <a:xfrm>
            <a:off x="1298448" y="1682496"/>
            <a:ext cx="5224026"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182880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CASE FOR CONTINUING</a:t>
            </a:r>
          </a:p>
        </p:txBody>
      </p:sp>
      <p:sp>
        <p:nvSpPr>
          <p:cNvPr id="13" name="TextBox 12"/>
          <p:cNvSpPr txBox="1"/>
          <p:nvPr/>
        </p:nvSpPr>
        <p:spPr>
          <a:xfrm>
            <a:off x="1298448" y="2212848"/>
            <a:ext cx="5004570" cy="566928"/>
          </a:xfrm>
          <a:prstGeom prst="rect">
            <a:avLst/>
          </a:prstGeom>
          <a:noFill/>
        </p:spPr>
        <p:txBody>
          <a:bodyPr wrap="square" lIns="0" rIns="0" tIns="0" bIns="0">
            <a:spAutoFit/>
          </a:bodyPr>
          <a:lstStyle/>
          <a:p>
            <a:pPr>
              <a:lnSpc>
                <a:spcPct val="122000"/>
              </a:lnSpc>
            </a:pPr>
            <a:r>
              <a:rPr sz="1200" b="1">
                <a:solidFill>
                  <a:srgbClr val="0D3B38"/>
                </a:solidFill>
                <a:latin typeface="Corbel"/>
              </a:rPr>
              <a:t>The alpha is real and it is repeatable.  </a:t>
            </a:r>
            <a:r>
              <a:rPr sz="1200">
                <a:solidFill>
                  <a:srgbClr val="16130F"/>
                </a:solidFill>
                <a:latin typeface="Corbel"/>
              </a:rPr>
              <a:t>6.6% a year that five risk factors cannot explain, with 94% of it from security selection rather than sector timing.</a:t>
            </a:r>
          </a:p>
        </p:txBody>
      </p:sp>
      <p:sp>
        <p:nvSpPr>
          <p:cNvPr id="14" name="TextBox 13"/>
          <p:cNvSpPr txBox="1"/>
          <p:nvPr/>
        </p:nvSpPr>
        <p:spPr>
          <a:xfrm>
            <a:off x="1298448" y="2980944"/>
            <a:ext cx="5004570" cy="755904"/>
          </a:xfrm>
          <a:prstGeom prst="rect">
            <a:avLst/>
          </a:prstGeom>
          <a:noFill/>
        </p:spPr>
        <p:txBody>
          <a:bodyPr wrap="square" lIns="0" rIns="0" tIns="0" bIns="0">
            <a:spAutoFit/>
          </a:bodyPr>
          <a:lstStyle/>
          <a:p>
            <a:pPr>
              <a:lnSpc>
                <a:spcPct val="122000"/>
              </a:lnSpc>
            </a:pPr>
            <a:r>
              <a:rPr sz="1200" b="1">
                <a:solidFill>
                  <a:srgbClr val="0D3B38"/>
                </a:solidFill>
                <a:latin typeface="Corbel"/>
              </a:rPr>
              <a:t>The thesis is not exhausted.  </a:t>
            </a:r>
            <a:r>
              <a:rPr sz="1200">
                <a:solidFill>
                  <a:srgbClr val="16130F"/>
                </a:solidFill>
                <a:latin typeface="Corbel"/>
              </a:rPr>
              <a:t>Cloud is still a minority of enterprise IT spend; electrification and genomics are earlier still. The 2022 de-rating repriced the multiple, not the demand.</a:t>
            </a:r>
          </a:p>
        </p:txBody>
      </p:sp>
      <p:sp>
        <p:nvSpPr>
          <p:cNvPr id="15" name="TextBox 14"/>
          <p:cNvSpPr txBox="1"/>
          <p:nvPr/>
        </p:nvSpPr>
        <p:spPr>
          <a:xfrm>
            <a:off x="1298448" y="3938016"/>
            <a:ext cx="5004570" cy="566928"/>
          </a:xfrm>
          <a:prstGeom prst="rect">
            <a:avLst/>
          </a:prstGeom>
          <a:noFill/>
        </p:spPr>
        <p:txBody>
          <a:bodyPr wrap="square" lIns="0" rIns="0" tIns="0" bIns="0">
            <a:spAutoFit/>
          </a:bodyPr>
          <a:lstStyle/>
          <a:p>
            <a:pPr>
              <a:lnSpc>
                <a:spcPct val="122000"/>
              </a:lnSpc>
            </a:pPr>
            <a:r>
              <a:rPr sz="1200" b="1">
                <a:solidFill>
                  <a:srgbClr val="0D3B38"/>
                </a:solidFill>
                <a:latin typeface="Corbel"/>
              </a:rPr>
              <a:t>The construction discipline was tested and held.  </a:t>
            </a:r>
            <a:r>
              <a:rPr sz="1200">
                <a:solidFill>
                  <a:srgbClr val="16130F"/>
                </a:solidFill>
                <a:latin typeface="Corbel"/>
              </a:rPr>
              <a:t>Sector floors, the position cap and quarterly rebalancing were all worth measurable money — most visibly in 2022.</a:t>
            </a:r>
          </a:p>
        </p:txBody>
      </p:sp>
      <p:sp>
        <p:nvSpPr>
          <p:cNvPr id="16" name="Rectangle 15"/>
          <p:cNvSpPr/>
          <p:nvPr/>
        </p:nvSpPr>
        <p:spPr>
          <a:xfrm>
            <a:off x="6796794" y="1682496"/>
            <a:ext cx="4846261" cy="20116"/>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6794" y="1828800"/>
            <a:ext cx="8229600" cy="219456"/>
          </a:xfrm>
          <a:prstGeom prst="rect">
            <a:avLst/>
          </a:prstGeom>
          <a:noFill/>
        </p:spPr>
        <p:txBody>
          <a:bodyPr wrap="square" lIns="0" rIns="0" tIns="0" bIns="0" anchor="t">
            <a:spAutoFit/>
          </a:bodyPr>
          <a:lstStyle/>
          <a:p>
            <a:pPr algn="l">
              <a:lnSpc>
                <a:spcPct val="105000"/>
              </a:lnSpc>
            </a:pPr>
            <a:r>
              <a:rPr sz="950" b="1" i="0" spc="160">
                <a:solidFill>
                  <a:srgbClr val="C4551A"/>
                </a:solidFill>
                <a:latin typeface="Corbel"/>
              </a:rPr>
              <a:t>WHAT WE WOULD CHANGE</a:t>
            </a:r>
          </a:p>
        </p:txBody>
      </p:sp>
      <p:sp>
        <p:nvSpPr>
          <p:cNvPr id="18" name="TextBox 17"/>
          <p:cNvSpPr txBox="1"/>
          <p:nvPr/>
        </p:nvSpPr>
        <p:spPr>
          <a:xfrm>
            <a:off x="6796794" y="2212848"/>
            <a:ext cx="4626805" cy="755904"/>
          </a:xfrm>
          <a:prstGeom prst="rect">
            <a:avLst/>
          </a:prstGeom>
          <a:noFill/>
        </p:spPr>
        <p:txBody>
          <a:bodyPr wrap="square" lIns="0" rIns="0" tIns="0" bIns="0">
            <a:spAutoFit/>
          </a:bodyPr>
          <a:lstStyle/>
          <a:p>
            <a:pPr>
              <a:lnSpc>
                <a:spcPct val="122000"/>
              </a:lnSpc>
            </a:pPr>
            <a:r>
              <a:rPr sz="1200" b="1">
                <a:solidFill>
                  <a:srgbClr val="0D3B38"/>
                </a:solidFill>
                <a:latin typeface="Corbel"/>
              </a:rPr>
              <a:t>Widen the tail-scenario assumptions.  </a:t>
            </a:r>
            <a:r>
              <a:rPr sz="1200">
                <a:solidFill>
                  <a:srgbClr val="16130F"/>
                </a:solidFill>
                <a:latin typeface="Corbel"/>
              </a:rPr>
              <a:t>Our Scenario C assumed a 4% loss. The real one cost 22.5%. The framework identified the regime correctly and sized it badly.</a:t>
            </a:r>
          </a:p>
        </p:txBody>
      </p:sp>
      <p:sp>
        <p:nvSpPr>
          <p:cNvPr id="19" name="TextBox 18"/>
          <p:cNvSpPr txBox="1"/>
          <p:nvPr/>
        </p:nvSpPr>
        <p:spPr>
          <a:xfrm>
            <a:off x="6796794" y="3169920"/>
            <a:ext cx="4626805" cy="566928"/>
          </a:xfrm>
          <a:prstGeom prst="rect">
            <a:avLst/>
          </a:prstGeom>
          <a:noFill/>
        </p:spPr>
        <p:txBody>
          <a:bodyPr wrap="square" lIns="0" rIns="0" tIns="0" bIns="0">
            <a:spAutoFit/>
          </a:bodyPr>
          <a:lstStyle/>
          <a:p>
            <a:pPr>
              <a:lnSpc>
                <a:spcPct val="122000"/>
              </a:lnSpc>
            </a:pPr>
            <a:r>
              <a:rPr sz="1200" b="1">
                <a:solidFill>
                  <a:srgbClr val="0D3B38"/>
                </a:solidFill>
                <a:latin typeface="Corbel"/>
              </a:rPr>
              <a:t>Add a valuation discipline to the entry rule.  </a:t>
            </a:r>
            <a:r>
              <a:rPr sz="1200">
                <a:solidFill>
                  <a:srgbClr val="16130F"/>
                </a:solidFill>
                <a:latin typeface="Corbel"/>
              </a:rPr>
              <a:t>Illumina, our worst selection decision, was a correct thesis bought without a price constraint.</a:t>
            </a:r>
          </a:p>
        </p:txBody>
      </p:sp>
      <p:sp>
        <p:nvSpPr>
          <p:cNvPr id="20" name="TextBox 19"/>
          <p:cNvSpPr txBox="1"/>
          <p:nvPr/>
        </p:nvSpPr>
        <p:spPr>
          <a:xfrm>
            <a:off x="6796794" y="3938016"/>
            <a:ext cx="4626805" cy="755904"/>
          </a:xfrm>
          <a:prstGeom prst="rect">
            <a:avLst/>
          </a:prstGeom>
          <a:noFill/>
        </p:spPr>
        <p:txBody>
          <a:bodyPr wrap="square" lIns="0" rIns="0" tIns="0" bIns="0">
            <a:spAutoFit/>
          </a:bodyPr>
          <a:lstStyle/>
          <a:p>
            <a:pPr>
              <a:lnSpc>
                <a:spcPct val="122000"/>
              </a:lnSpc>
            </a:pPr>
            <a:r>
              <a:rPr sz="1200" b="1">
                <a:solidFill>
                  <a:srgbClr val="0D3B38"/>
                </a:solidFill>
                <a:latin typeface="Corbel"/>
              </a:rPr>
              <a:t>Review the position cap upward, carefully.  </a:t>
            </a:r>
            <a:r>
              <a:rPr sz="1200">
                <a:solidFill>
                  <a:srgbClr val="16130F"/>
                </a:solidFill>
                <a:latin typeface="Corbel"/>
              </a:rPr>
              <a:t>The 16% cap forced us to trim Microsoft, our single best decision, at 19 of the 24 rebalances. We would seek 20%, with the sector floors untouched.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1700784"/>
            <a:ext cx="6766560" cy="365760"/>
          </a:xfrm>
          <a:prstGeom prst="rect">
            <a:avLst/>
          </a:prstGeom>
          <a:noFill/>
        </p:spPr>
        <p:txBody>
          <a:bodyPr wrap="square" lIns="0" rIns="0" tIns="0" bIns="0" anchor="t">
            <a:spAutoFit/>
          </a:bodyPr>
          <a:lstStyle/>
          <a:p>
            <a:pPr algn="l">
              <a:lnSpc>
                <a:spcPct val="105000"/>
              </a:lnSpc>
            </a:pPr>
            <a:r>
              <a:rPr sz="1100" b="0" i="0" spc="300">
                <a:solidFill>
                  <a:srgbClr val="C4551A"/>
                </a:solidFill>
                <a:latin typeface="Corbel"/>
              </a:rPr>
              <a:t>NORTHPOINT</a:t>
            </a:r>
          </a:p>
        </p:txBody>
      </p:sp>
      <p:sp>
        <p:nvSpPr>
          <p:cNvPr id="4" name="TextBox 3"/>
          <p:cNvSpPr txBox="1"/>
          <p:nvPr/>
        </p:nvSpPr>
        <p:spPr>
          <a:xfrm>
            <a:off x="960120" y="2157984"/>
            <a:ext cx="8778240" cy="1005840"/>
          </a:xfrm>
          <a:prstGeom prst="rect">
            <a:avLst/>
          </a:prstGeom>
          <a:noFill/>
        </p:spPr>
        <p:txBody>
          <a:bodyPr wrap="square" lIns="0" rIns="0" tIns="0" bIns="0" anchor="t">
            <a:spAutoFit/>
          </a:bodyPr>
          <a:lstStyle/>
          <a:p>
            <a:pPr algn="l">
              <a:lnSpc>
                <a:spcPct val="105000"/>
              </a:lnSpc>
            </a:pPr>
            <a:r>
              <a:rPr sz="5200" b="0" i="0">
                <a:solidFill>
                  <a:srgbClr val="F2ECDE"/>
                </a:solidFill>
                <a:latin typeface="Georgia"/>
              </a:rPr>
              <a:t>Thank you.</a:t>
            </a:r>
          </a:p>
        </p:txBody>
      </p:sp>
      <p:sp>
        <p:nvSpPr>
          <p:cNvPr id="5" name="Rectangle 4"/>
          <p:cNvSpPr/>
          <p:nvPr/>
        </p:nvSpPr>
        <p:spPr>
          <a:xfrm>
            <a:off x="1024128" y="3310128"/>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3639312"/>
            <a:ext cx="8778240" cy="1280160"/>
          </a:xfrm>
          <a:prstGeom prst="rect">
            <a:avLst/>
          </a:prstGeom>
          <a:noFill/>
        </p:spPr>
        <p:txBody>
          <a:bodyPr wrap="square" lIns="0" rIns="0" tIns="0" bIns="0" anchor="t">
            <a:spAutoFit/>
          </a:bodyPr>
          <a:lstStyle/>
          <a:p>
            <a:pPr algn="l">
              <a:lnSpc>
                <a:spcPct val="136000"/>
              </a:lnSpc>
            </a:pPr>
            <a:r>
              <a:rPr sz="1450" b="0" i="0">
                <a:solidFill>
                  <a:srgbClr val="A9BEB8"/>
                </a:solidFill>
                <a:latin typeface="Corbel"/>
              </a:rPr>
              <a:t>I am happy to take questions on any part of this review.</a:t>
            </a:r>
          </a:p>
          <a:p>
            <a:pPr algn="l">
              <a:lnSpc>
                <a:spcPct val="136000"/>
              </a:lnSpc>
            </a:pPr>
            <a:r>
              <a:rPr sz="1450" b="0" i="0">
                <a:solidFill>
                  <a:srgbClr val="A9BEB8"/>
                </a:solidFill>
                <a:latin typeface="Corbel"/>
              </a:rPr>
              <a:t>An appendix follows with the full methodology, the complete metric tables, the per-holding statistics, and the full factor-model output.</a:t>
            </a:r>
          </a:p>
        </p:txBody>
      </p:sp>
      <p:sp>
        <p:nvSpPr>
          <p:cNvPr id="7" name="TextBox 6"/>
          <p:cNvSpPr txBox="1"/>
          <p:nvPr/>
        </p:nvSpPr>
        <p:spPr>
          <a:xfrm>
            <a:off x="987552" y="5138928"/>
            <a:ext cx="8778240" cy="731520"/>
          </a:xfrm>
          <a:prstGeom prst="rect">
            <a:avLst/>
          </a:prstGeom>
          <a:noFill/>
        </p:spPr>
        <p:txBody>
          <a:bodyPr wrap="square" lIns="0" rIns="0" tIns="0" bIns="0" anchor="t">
            <a:spAutoFit/>
          </a:bodyPr>
          <a:lstStyle/>
          <a:p>
            <a:pPr algn="l">
              <a:lnSpc>
                <a:spcPct val="136000"/>
              </a:lnSpc>
            </a:pPr>
            <a:r>
              <a:rPr sz="1150" b="0" i="0">
                <a:solidFill>
                  <a:srgbClr val="7E9994"/>
                </a:solidFill>
                <a:latin typeface="Corbel"/>
              </a:rPr>
              <a:t>Callum O'Connor  ·  Portfolio Manager  ·  Northpoint Capital Partners</a:t>
            </a:r>
          </a:p>
          <a:p>
            <a:pPr algn="l">
              <a:lnSpc>
                <a:spcPct val="136000"/>
              </a:lnSpc>
            </a:pPr>
            <a:r>
              <a:rPr sz="1150" b="0" i="0">
                <a:solidFill>
                  <a:srgbClr val="7E9994"/>
                </a:solidFill>
                <a:latin typeface="Corbel"/>
              </a:rPr>
              <a:t>FINC13-303 Portfolio Analysis and Investments  ·  Student ID 14053836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A</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Appendix</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Methodology and data sources, full metric tables, per-holding statistics, complete factor-model output, and supporting exhibits</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A1 · Methodology, data and assumptions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Everything in this deck is reproducible from the accompanying Python analysis and Excel workbook</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64208"/>
          <a:ext cx="10344606" cy="4279392"/>
        </p:xfrm>
        <a:graphic>
          <a:graphicData uri="http://schemas.openxmlformats.org/drawingml/2006/table">
            <a:tbl>
              <a:tblPr>
                <a:tableStyleId>{5C22544A-7EE6-4342-B048-85BDC9FD1C3A}</a:tableStyleId>
              </a:tblPr>
              <a:tblGrid>
                <a:gridCol w="2379259"/>
                <a:gridCol w="7965347"/>
              </a:tblGrid>
              <a:tr h="329184">
                <a:tc>
                  <a:txBody>
                    <a:bodyPr wrap="square"/>
                    <a:lstStyle/>
                    <a:p>
                      <a:pPr algn="l"/>
                      <a:r>
                        <a:rPr sz="850" b="1" spc="130">
                          <a:solidFill>
                            <a:srgbClr val="4A443C"/>
                          </a:solidFill>
                          <a:latin typeface="Corbel"/>
                        </a:rPr>
                        <a:t>ITEM</a:t>
                      </a:r>
                    </a:p>
                  </a:txBody>
                  <a:tcPr marL="18288" marR="91440" marT="27432" marB="27432" anchor="ctr">
                    <a:noFill/>
                    <a:lnB w="6350" cap="flat">
                      <a:solidFill>
                        <a:srgbClr val="16130F"/>
                      </a:solidFill>
                    </a:lnB>
                  </a:tcPr>
                </a:tc>
                <a:tc>
                  <a:txBody>
                    <a:bodyPr wrap="square"/>
                    <a:lstStyle/>
                    <a:p>
                      <a:pPr algn="l"/>
                      <a:r>
                        <a:rPr sz="850" b="1" spc="130">
                          <a:solidFill>
                            <a:srgbClr val="4A443C"/>
                          </a:solidFill>
                          <a:latin typeface="Corbel"/>
                        </a:rPr>
                        <a:t>TREATMENT</a:t>
                      </a:r>
                    </a:p>
                  </a:txBody>
                  <a:tcPr marL="91440" marR="91440" marT="27432" marB="27432" anchor="ctr">
                    <a:noFill/>
                    <a:lnB w="6350" cap="flat">
                      <a:solidFill>
                        <a:srgbClr val="16130F"/>
                      </a:solidFill>
                    </a:lnB>
                  </a:tcPr>
                </a:tc>
              </a:tr>
              <a:tr h="329184">
                <a:tc>
                  <a:txBody>
                    <a:bodyPr wrap="square"/>
                    <a:lstStyle/>
                    <a:p>
                      <a:pPr algn="l"/>
                      <a:r>
                        <a:rPr sz="1000" b="0">
                          <a:solidFill>
                            <a:srgbClr val="16130F"/>
                          </a:solidFill>
                          <a:latin typeface="Corbel"/>
                        </a:rPr>
                        <a:t>Return data</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Monthly total returns from dividend- and split-adjusted closing prices, Jan 2017 – Dec 2022 (72 observations per series)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Portfolio construction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Target weights per the January-2016 mandate; drift within the quarter, restored to target at each calendar quarter-end (24 rebalances)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Primary benchmark</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NASDAQ-100 total return, proxied by the QQQ ETF so that dividends are included (the ^NDX index itself is price-only)</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Secondary benchmark</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S&amp;P 500 total return, proxied by the SPY ETF on the same basis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Sector benchmarks</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The eleven SPDR GICS sector ETFs. XLC launched Jun-2018, so XLK is used for the Communication Services sleeve before that date</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Risk-free rate</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Fama–French one-month Treasury bill series; mean 1.25% p.a. over the sample</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Risk factors</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Kenneth R. French Data Library: Mkt-RF, SMB, HML, RMW, CMA and the momentum factor, monthly, US research series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Regressions</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OLS with Newey–West (HAC) standard errors, four lags, to correct for autocorrelation and heteroskedasticity in monthly returns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Annualisation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Returns compounded geometrically; volatility scaled by √12; ratios computed on monthly data then annualised</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Attribution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Brinson–Fachler, summed arithmetically across 72 months against an equal-weight benchmark of the eleven sector ETFs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Mean–variance optimisation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SLSQP, long-only, maximum Sharpe, 25% position bound; in-sample window Jan 2014 – Dec 2016 for the ex-ante case</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Excluded</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Transaction costs, market impact, taxes and cash drag. All returns are gross of these unless a slide states otherwise</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A2 · Full performance and risk metrics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All strategies and benchmarks, 72 monthly observations, January 2017 – December 2022</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45920"/>
          <a:ext cx="10344603" cy="4458596"/>
        </p:xfrm>
        <a:graphic>
          <a:graphicData uri="http://schemas.openxmlformats.org/drawingml/2006/table">
            <a:tbl>
              <a:tblPr>
                <a:tableStyleId>{5C22544A-7EE6-4342-B048-85BDC9FD1C3A}</a:tableStyleId>
              </a:tblPr>
              <a:tblGrid>
                <a:gridCol w="2694987"/>
                <a:gridCol w="1274936"/>
                <a:gridCol w="1274936"/>
                <a:gridCol w="1274936"/>
                <a:gridCol w="1274936"/>
                <a:gridCol w="1274936"/>
                <a:gridCol w="1274936"/>
              </a:tblGrid>
              <a:tr h="193852">
                <a:tc>
                  <a:txBody>
                    <a:bodyPr wrap="square"/>
                    <a:lstStyle/>
                    <a:p>
                      <a:pPr algn="l"/>
                      <a:r>
                        <a:rPr sz="700" b="1" spc="130">
                          <a:solidFill>
                            <a:srgbClr val="4A443C"/>
                          </a:solidFill>
                          <a:latin typeface="Corbel"/>
                        </a:rPr>
                        <a:t>METRIC</a:t>
                      </a:r>
                    </a:p>
                  </a:txBody>
                  <a:tcPr marL="18288" marR="91440" marT="27432" marB="27432" anchor="ctr">
                    <a:noFill/>
                    <a:lnB w="6350" cap="flat">
                      <a:solidFill>
                        <a:srgbClr val="16130F"/>
                      </a:solidFill>
                    </a:lnB>
                  </a:tcPr>
                </a:tc>
                <a:tc>
                  <a:txBody>
                    <a:bodyPr wrap="square"/>
                    <a:lstStyle/>
                    <a:p>
                      <a:pPr algn="r"/>
                      <a:r>
                        <a:rPr sz="700" b="1" spc="130">
                          <a:solidFill>
                            <a:srgbClr val="4A443C"/>
                          </a:solidFill>
                          <a:latin typeface="Corbel"/>
                        </a:rPr>
                        <a:t>NDIF</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EQUAL WEIGHT</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MEAN–VARIANCE</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NASDAQ-100</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S&amp;P 500</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60/40</a:t>
                      </a:r>
                    </a:p>
                  </a:txBody>
                  <a:tcPr marL="91440" marR="91440" marT="27432" marB="27432" anchor="ctr">
                    <a:noFill/>
                    <a:lnB w="6350" cap="flat">
                      <a:solidFill>
                        <a:srgbClr val="16130F"/>
                      </a:solidFill>
                    </a:lnB>
                  </a:tcPr>
                </a:tc>
              </a:tr>
              <a:tr h="193852">
                <a:tc>
                  <a:txBody>
                    <a:bodyPr wrap="square"/>
                    <a:lstStyle/>
                    <a:p>
                      <a:pPr algn="l"/>
                      <a:r>
                        <a:rPr sz="850" b="1">
                          <a:solidFill>
                            <a:srgbClr val="16130F"/>
                          </a:solidFill>
                          <a:latin typeface="Corbel"/>
                        </a:rPr>
                        <a:t>Cumulative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179%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170%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52%</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Annualised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18.0%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7.2%</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Annualised volatility</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19.1%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17.4%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20.2%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17.1%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11.1%</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Mean monthly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1.59%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1.64%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Median monthly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2.73%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2.26%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2.69%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1.83%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Skewness</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-0.48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-0.50</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Excess kurtosis</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0.07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-0.04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0.56</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Best month</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14.5%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14.0%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8.3%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Worst month</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-12.1%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-7.7%</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Sharpe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0.90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0.59</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Sortino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1.51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1.45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1.69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0.98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0.88</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Treynor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0.173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0.163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0.238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0.139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0.111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0.102</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Calmar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0.85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0.36</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Maximum drawdown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-21.3%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-25.2%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-32.6%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-23.9%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-20.0%</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Downside deviation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11.9%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7.4%</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VaR 95% (monthly)</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-8.8%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-8.8%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-8.5%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-5.0%</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CVaR 95% (monthly)</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-10.2%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-6.8%</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Beta vs S&amp;P 500</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0.64</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Tracking error vs S&amp;P 500</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7.0%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6.4%</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Upside capture</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Downside capture</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97%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Terminal value on $100m</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$279m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$270m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$294m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$235m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$190m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$152m</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A3 · Per-holding statistics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position measured over the full six years on the same basis as the portfolio</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82496"/>
          <a:ext cx="10344600" cy="3982212"/>
        </p:xfrm>
        <a:graphic>
          <a:graphicData uri="http://schemas.openxmlformats.org/drawingml/2006/table">
            <a:tbl>
              <a:tblPr>
                <a:tableStyleId>{5C22544A-7EE6-4342-B048-85BDC9FD1C3A}</a:tableStyleId>
              </a:tblPr>
              <a:tblGrid>
                <a:gridCol w="724122"/>
                <a:gridCol w="1241352"/>
                <a:gridCol w="724122"/>
                <a:gridCol w="982737"/>
                <a:gridCol w="827568"/>
                <a:gridCol w="931014"/>
                <a:gridCol w="724122"/>
                <a:gridCol w="879291"/>
                <a:gridCol w="672399"/>
                <a:gridCol w="982737"/>
                <a:gridCol w="724122"/>
                <a:gridCol w="931014"/>
              </a:tblGrid>
              <a:tr h="306324">
                <a:tc>
                  <a:txBody>
                    <a:bodyPr wrap="square"/>
                    <a:lstStyle/>
                    <a:p>
                      <a:pPr algn="l"/>
                      <a:r>
                        <a:rPr sz="800" b="1" spc="130">
                          <a:solidFill>
                            <a:srgbClr val="4A443C"/>
                          </a:solidFill>
                          <a:latin typeface="Corbel"/>
                        </a:rPr>
                        <a:t>TICKER</a:t>
                      </a:r>
                    </a:p>
                  </a:txBody>
                  <a:tcPr marL="18288" marR="91440" marT="27432" marB="27432" anchor="ctr">
                    <a:noFill/>
                    <a:lnB w="6350" cap="flat">
                      <a:solidFill>
                        <a:srgbClr val="16130F"/>
                      </a:solidFill>
                    </a:lnB>
                  </a:tcPr>
                </a:tc>
                <a:tc>
                  <a:txBody>
                    <a:bodyPr wrap="square"/>
                    <a:lstStyle/>
                    <a:p>
                      <a:pPr algn="r"/>
                      <a:r>
                        <a:rPr sz="800" b="1" spc="130">
                          <a:solidFill>
                            <a:srgbClr val="4A443C"/>
                          </a:solidFill>
                          <a:latin typeface="Corbel"/>
                        </a:rPr>
                        <a:t>GICS SECTOR</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WEIGHT</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TOTAL RETURN</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VOLATILITY</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SHARPE</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MAX DD</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BETA</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CAPM ALPHA</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T-STAT</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CONTRIBUTION</a:t>
                      </a:r>
                    </a:p>
                  </a:txBody>
                  <a:tcPr marL="91440" marR="91440" marT="27432" marB="27432" anchor="ctr">
                    <a:noFill/>
                    <a:lnB w="6350" cap="flat">
                      <a:solidFill>
                        <a:srgbClr val="16130F"/>
                      </a:solidFill>
                    </a:lnB>
                  </a:tcPr>
                </a:tc>
              </a:tr>
              <a:tr h="306324">
                <a:tc>
                  <a:txBody>
                    <a:bodyPr wrap="square"/>
                    <a:lstStyle/>
                    <a:p>
                      <a:pPr algn="l"/>
                      <a:r>
                        <a:rPr sz="950" b="1">
                          <a:solidFill>
                            <a:srgbClr val="16130F"/>
                          </a:solidFill>
                          <a:latin typeface="Corbel"/>
                        </a:rPr>
                        <a:t>MSFT</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Info Tech</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319%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27.0%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-30.5%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16.4%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2.76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41.9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GOOGL</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Comm Svcs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24.1%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0.70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22.1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AMZN</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Cons Disc</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-52.1%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0.37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10.3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V</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Financials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0.83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-27.3%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8.8%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15.9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EQIX</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Real Estate</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-32.1%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0.87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10.5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ILMN</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Health Care</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36.3%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0.36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-62.8%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0.05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ROK</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Industrials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0.20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11.5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NEE</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Utilities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21.5%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19.6%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-23.5%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16.5%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15.7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COST</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Cons Staples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21.5%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-20.3%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0.79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1.95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15.5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ALB</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Materials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43.8%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-58.3%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9.3%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20.8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SLB</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Energy</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49.0%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-81.6%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13.2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NDIF</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All eleven</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19.1%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2.19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179.2 pts</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5632704"/>
            <a:ext cx="10344607" cy="457200"/>
          </a:xfrm>
          <a:prstGeom prst="rect">
            <a:avLst/>
          </a:prstGeom>
          <a:noFill/>
        </p:spPr>
        <p:txBody>
          <a:bodyPr wrap="square" lIns="0" rIns="0" tIns="0" bIns="0" anchor="t">
            <a:spAutoFit/>
          </a:bodyPr>
          <a:lstStyle/>
          <a:p>
            <a:pPr algn="l">
              <a:lnSpc>
                <a:spcPct val="125000"/>
              </a:lnSpc>
            </a:pPr>
            <a:r>
              <a:rPr sz="1100" b="0" i="0">
                <a:solidFill>
                  <a:srgbClr val="4A443C"/>
                </a:solidFill>
                <a:latin typeface="Corbel"/>
              </a:rPr>
              <a:t>Only Microsoft (t = 2.76) and NextEra (t = 3.14) clear the 1.96 threshold on their own; Costco misses it by a whisker at 1.95. The portfolio's alpha is more significant than any constituent's, which is the diversification benefit doing real statistical work.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42</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A4 · Complete factor-model output</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Coefficient, t-statistic and significance for every factor across all four models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82496"/>
          <a:ext cx="10344605" cy="4023360"/>
        </p:xfrm>
        <a:graphic>
          <a:graphicData uri="http://schemas.openxmlformats.org/drawingml/2006/table">
            <a:tbl>
              <a:tblPr>
                <a:tableStyleId>{5C22544A-7EE6-4342-B048-85BDC9FD1C3A}</a:tableStyleId>
              </a:tblPr>
              <a:tblGrid>
                <a:gridCol w="2482705"/>
                <a:gridCol w="1965475"/>
                <a:gridCol w="1965475"/>
                <a:gridCol w="1965475"/>
                <a:gridCol w="1965475"/>
              </a:tblGrid>
              <a:tr h="402336">
                <a:tc>
                  <a:txBody>
                    <a:bodyPr wrap="square"/>
                    <a:lstStyle/>
                    <a:p>
                      <a:pPr algn="l"/>
                      <a:r>
                        <a:rPr sz="850" b="1" spc="130">
                          <a:solidFill>
                            <a:srgbClr val="4A443C"/>
                          </a:solidFill>
                          <a:latin typeface="Corbel"/>
                        </a:rPr>
                        <a:t>FACTOR</a:t>
                      </a:r>
                    </a:p>
                  </a:txBody>
                  <a:tcPr marL="18288" marR="91440" marT="27432" marB="27432" anchor="ctr">
                    <a:noFill/>
                    <a:lnB w="6350" cap="flat">
                      <a:solidFill>
                        <a:srgbClr val="16130F"/>
                      </a:solidFill>
                    </a:lnB>
                  </a:tcPr>
                </a:tc>
                <a:tc>
                  <a:txBody>
                    <a:bodyPr wrap="square"/>
                    <a:lstStyle/>
                    <a:p>
                      <a:pPr algn="ctr"/>
                      <a:r>
                        <a:rPr sz="850" b="1" spc="130">
                          <a:solidFill>
                            <a:srgbClr val="4A443C"/>
                          </a:solidFill>
                          <a:latin typeface="Corbel"/>
                        </a:rPr>
                        <a:t>CAPM</a:t>
                      </a:r>
                    </a:p>
                  </a:txBody>
                  <a:tcPr marL="91440" marR="91440" marT="27432" marB="27432" anchor="ctr">
                    <a:noFill/>
                    <a:lnB w="6350" cap="flat">
                      <a:solidFill>
                        <a:srgbClr val="16130F"/>
                      </a:solidFill>
                    </a:lnB>
                  </a:tcPr>
                </a:tc>
                <a:tc>
                  <a:txBody>
                    <a:bodyPr wrap="square"/>
                    <a:lstStyle/>
                    <a:p>
                      <a:pPr algn="ctr"/>
                      <a:r>
                        <a:rPr sz="850" b="1" spc="130">
                          <a:solidFill>
                            <a:srgbClr val="4A443C"/>
                          </a:solidFill>
                          <a:latin typeface="Corbel"/>
                        </a:rPr>
                        <a:t>FAMA–FRENCH 3</a:t>
                      </a:r>
                    </a:p>
                  </a:txBody>
                  <a:tcPr marL="91440" marR="91440" marT="27432" marB="27432" anchor="ctr">
                    <a:noFill/>
                    <a:lnB w="6350" cap="flat">
                      <a:solidFill>
                        <a:srgbClr val="16130F"/>
                      </a:solidFill>
                    </a:lnB>
                  </a:tcPr>
                </a:tc>
                <a:tc>
                  <a:txBody>
                    <a:bodyPr wrap="square"/>
                    <a:lstStyle/>
                    <a:p>
                      <a:pPr algn="ctr"/>
                      <a:r>
                        <a:rPr sz="850" b="1" spc="130">
                          <a:solidFill>
                            <a:srgbClr val="4A443C"/>
                          </a:solidFill>
                          <a:latin typeface="Corbel"/>
                        </a:rPr>
                        <a:t>FAMA–FRENCH 5</a:t>
                      </a:r>
                    </a:p>
                  </a:txBody>
                  <a:tcPr marL="91440" marR="91440" marT="27432" marB="27432" anchor="ctr">
                    <a:noFill/>
                    <a:lnB w="6350" cap="flat">
                      <a:solidFill>
                        <a:srgbClr val="16130F"/>
                      </a:solidFill>
                    </a:lnB>
                  </a:tcPr>
                </a:tc>
                <a:tc>
                  <a:txBody>
                    <a:bodyPr wrap="square"/>
                    <a:lstStyle/>
                    <a:p>
                      <a:pPr algn="ctr"/>
                      <a:r>
                        <a:rPr sz="850" b="1" spc="130">
                          <a:solidFill>
                            <a:srgbClr val="4A443C"/>
                          </a:solidFill>
                          <a:latin typeface="Corbel"/>
                        </a:rPr>
                        <a:t>FF5 + MOMENTUM</a:t>
                      </a:r>
                    </a:p>
                  </a:txBody>
                  <a:tcPr marL="91440" marR="91440" marT="27432" marB="27432" anchor="ctr">
                    <a:noFill/>
                    <a:lnB w="6350" cap="flat">
                      <a:solidFill>
                        <a:srgbClr val="16130F"/>
                      </a:solidFill>
                    </a:lnB>
                  </a:tcPr>
                </a:tc>
              </a:tr>
              <a:tr h="402336">
                <a:tc>
                  <a:txBody>
                    <a:bodyPr wrap="square"/>
                    <a:lstStyle/>
                    <a:p>
                      <a:pPr algn="l"/>
                      <a:r>
                        <a:rPr sz="1000" b="1">
                          <a:solidFill>
                            <a:srgbClr val="16130F"/>
                          </a:solidFill>
                          <a:latin typeface="Corbel"/>
                        </a:rPr>
                        <a:t>Alpha (annualised)</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7.2%**
(t = 2.19)</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5.9%***
(t = 2.83)</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6.6%***
(t = 3.06)</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6.5%***
(t = 2.95)</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Market (Mkt-RF)</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+1.005***
(t = 15.75)</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+1.040***
(t = 25.66)</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+1.050***
(t = 29.16)</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+1.054***
(t = 25.88)</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Size (SMB)</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-0.164**
(t = -2.30)</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-0.218***
(t = -3.01)</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-0.209**
(t = -2.50)</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Value (HML)</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-0.236***
(t = -5.61)</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-0.191***
(t = -3.05)</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-0.184***
(t = -2.76)</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Profitability (RMW)</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-0.111
(t = -1.30)</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-0.104
(t = -1.23)</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Investment (CMA)</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-0.053
(t = -0.64)</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-0.060
(t = -0.72)</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Momentum (MOM)</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+0.022
(t = 0.29)</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Adjusted R²</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0.872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0.915</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0.914</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0.913</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Observations</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5577840"/>
            <a:ext cx="10344607" cy="457200"/>
          </a:xfrm>
          <a:prstGeom prst="rect">
            <a:avLst/>
          </a:prstGeom>
          <a:noFill/>
        </p:spPr>
        <p:txBody>
          <a:bodyPr wrap="square" lIns="0" rIns="0" tIns="0" bIns="0" anchor="t">
            <a:spAutoFit/>
          </a:bodyPr>
          <a:lstStyle/>
          <a:p>
            <a:pPr algn="l">
              <a:lnSpc>
                <a:spcPct val="125000"/>
              </a:lnSpc>
            </a:pPr>
            <a:r>
              <a:rPr sz="1000" b="0" i="0">
                <a:solidFill>
                  <a:srgbClr val="8C8478"/>
                </a:solidFill>
                <a:latin typeface="Corbel"/>
              </a:rPr>
              <a:t>*** significant at 1%   ** significant at 5%   * significant at 10%.  Newey–West heteroskedasticity- and autocorrelation-consistent standard errors, four lags. Dependent variable is the fund's monthly return in excess of the one-month Treasury bill rate.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43</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A5 · Correlation structure of the holdings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Average pairwise correlation of 0.40, which is real diversification inside a single theme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9_corr.png"/>
          <p:cNvPicPr>
            <a:picLocks noChangeAspect="1"/>
          </p:cNvPicPr>
          <p:nvPr/>
        </p:nvPicPr>
        <p:blipFill>
          <a:blip r:embed="rId2"/>
          <a:stretch>
            <a:fillRect/>
          </a:stretch>
        </p:blipFill>
        <p:spPr>
          <a:xfrm>
            <a:off x="3805142" y="1481328"/>
            <a:ext cx="5331218" cy="4663439"/>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44</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A6 · The risk–return map</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holding, the portfolio and both benchmarks on realised risk and return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8_riskreturn.png"/>
          <p:cNvPicPr>
            <a:picLocks noChangeAspect="1"/>
          </p:cNvPicPr>
          <p:nvPr/>
        </p:nvPicPr>
        <p:blipFill>
          <a:blip r:embed="rId2"/>
          <a:stretch>
            <a:fillRect/>
          </a:stretch>
        </p:blipFill>
        <p:spPr>
          <a:xfrm>
            <a:off x="2358445" y="1481328"/>
            <a:ext cx="8224612" cy="4663439"/>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A7 · The efficient frontier of our own holdings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Where the fund actually landed against the best that was achievable ex post</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7_frontier.png"/>
          <p:cNvPicPr>
            <a:picLocks noChangeAspect="1"/>
          </p:cNvPicPr>
          <p:nvPr/>
        </p:nvPicPr>
        <p:blipFill>
          <a:blip r:embed="rId2"/>
          <a:stretch>
            <a:fillRect/>
          </a:stretch>
        </p:blipFill>
        <p:spPr>
          <a:xfrm>
            <a:off x="2358445" y="1481328"/>
            <a:ext cx="8224612" cy="4663439"/>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A8 · Distribution comparison and dispersion</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How the fund's return distribution compares to its benchmarks, and the spread across individual holdings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7_box.png"/>
          <p:cNvPicPr>
            <a:picLocks noChangeAspect="1"/>
          </p:cNvPicPr>
          <p:nvPr/>
        </p:nvPicPr>
        <p:blipFill>
          <a:blip r:embed="rId2"/>
          <a:stretch>
            <a:fillRect/>
          </a:stretch>
        </p:blipFill>
        <p:spPr>
          <a:xfrm>
            <a:off x="4049784" y="1536192"/>
            <a:ext cx="4841934" cy="2249422"/>
          </a:xfrm>
          <a:prstGeom prst="rect">
            <a:avLst/>
          </a:prstGeom>
        </p:spPr>
      </p:pic>
      <p:pic>
        <p:nvPicPr>
          <p:cNvPr id="12" name="Picture 11" descr="32_spaghetti.png"/>
          <p:cNvPicPr>
            <a:picLocks noChangeAspect="1"/>
          </p:cNvPicPr>
          <p:nvPr/>
        </p:nvPicPr>
        <p:blipFill>
          <a:blip r:embed="rId3"/>
          <a:stretch>
            <a:fillRect/>
          </a:stretch>
        </p:blipFill>
        <p:spPr>
          <a:xfrm>
            <a:off x="4253962" y="3895344"/>
            <a:ext cx="4433579" cy="2249423"/>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A9 · Rolling beta and volatility</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Stability of the fund's market exposure and total risk through the sample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6_rolling_beta.png"/>
          <p:cNvPicPr>
            <a:picLocks noChangeAspect="1"/>
          </p:cNvPicPr>
          <p:nvPr/>
        </p:nvPicPr>
        <p:blipFill>
          <a:blip r:embed="rId2"/>
          <a:stretch>
            <a:fillRect/>
          </a:stretch>
        </p:blipFill>
        <p:spPr>
          <a:xfrm>
            <a:off x="3919310" y="1536192"/>
            <a:ext cx="5102883" cy="2249422"/>
          </a:xfrm>
          <a:prstGeom prst="rect">
            <a:avLst/>
          </a:prstGeom>
        </p:spPr>
      </p:pic>
      <p:pic>
        <p:nvPicPr>
          <p:cNvPr id="12" name="Picture 11" descr="30_rolling_vol.png"/>
          <p:cNvPicPr>
            <a:picLocks noChangeAspect="1"/>
          </p:cNvPicPr>
          <p:nvPr/>
        </p:nvPicPr>
        <p:blipFill>
          <a:blip r:embed="rId3"/>
          <a:stretch>
            <a:fillRect/>
          </a:stretch>
        </p:blipFill>
        <p:spPr>
          <a:xfrm>
            <a:off x="3882943" y="3895344"/>
            <a:ext cx="5175616" cy="2249423"/>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48</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A10 · Month-of-year seasonality and the fee comparison</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Supporting detail on the seasonality discussion and the fee benchmarking</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1_month_avg.png"/>
          <p:cNvPicPr>
            <a:picLocks noChangeAspect="1"/>
          </p:cNvPicPr>
          <p:nvPr/>
        </p:nvPicPr>
        <p:blipFill>
          <a:blip r:embed="rId2"/>
          <a:stretch>
            <a:fillRect/>
          </a:stretch>
        </p:blipFill>
        <p:spPr>
          <a:xfrm>
            <a:off x="3954175" y="1554480"/>
            <a:ext cx="5033152" cy="2249423"/>
          </a:xfrm>
          <a:prstGeom prst="rect">
            <a:avLst/>
          </a:prstGeom>
        </p:spPr>
      </p:pic>
      <p:graphicFrame>
        <p:nvGraphicFramePr>
          <p:cNvPr id="12" name="Table 11"/>
          <p:cNvGraphicFramePr>
            <a:graphicFrameLocks noGrp="1"/>
          </p:cNvGraphicFramePr>
          <p:nvPr/>
        </p:nvGraphicFramePr>
        <p:xfrm>
          <a:off x="1298448" y="3986784"/>
          <a:ext cx="10344606" cy="1554480"/>
        </p:xfrm>
        <a:graphic>
          <a:graphicData uri="http://schemas.openxmlformats.org/drawingml/2006/table">
            <a:tbl>
              <a:tblPr>
                <a:tableStyleId>{5C22544A-7EE6-4342-B048-85BDC9FD1C3A}</a:tableStyleId>
              </a:tblPr>
              <a:tblGrid>
                <a:gridCol w="3103382"/>
                <a:gridCol w="1551691"/>
                <a:gridCol w="1965475"/>
                <a:gridCol w="1758583"/>
                <a:gridCol w="1965475"/>
              </a:tblGrid>
              <a:tr h="310896">
                <a:tc>
                  <a:txBody>
                    <a:bodyPr wrap="square"/>
                    <a:lstStyle/>
                    <a:p>
                      <a:pPr algn="l"/>
                      <a:r>
                        <a:rPr sz="900" b="1" spc="130">
                          <a:solidFill>
                            <a:srgbClr val="4A443C"/>
                          </a:solidFill>
                          <a:latin typeface="Corbel"/>
                        </a:rPr>
                        <a:t>COMPARATOR</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FEE P.A.</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6-YEAR FEE ON $100M</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RETURN DELIVERED</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TERMINAL VALUE</a:t>
                      </a:r>
                    </a:p>
                  </a:txBody>
                  <a:tcPr marL="91440" marR="91440" marT="27432" marB="27432" anchor="ctr">
                    <a:noFill/>
                    <a:lnB w="6350" cap="flat">
                      <a:solidFill>
                        <a:srgbClr val="16130F"/>
                      </a:solidFill>
                    </a:lnB>
                  </a:tcPr>
                </a:tc>
              </a:tr>
              <a:tr h="310896">
                <a:tc>
                  <a:txBody>
                    <a:bodyPr wrap="square"/>
                    <a:lstStyle/>
                    <a:p>
                      <a:pPr algn="l"/>
                      <a:r>
                        <a:rPr sz="1050" b="1">
                          <a:solidFill>
                            <a:srgbClr val="16130F"/>
                          </a:solidFill>
                          <a:latin typeface="Corbel"/>
                        </a:rPr>
                        <a:t>Passive S&amp;P 500 ETF (SPY)</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0.0945%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$0.57m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90%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$190m</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Passive NASDAQ-100 ETF (QQQ)</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0.20%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$1.20m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135%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$235m</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Typical active equity fund</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1.25%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$7.50m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Northpoint Digital Innovation Fund</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1.15% all-in</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$6.90m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179%</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$279m</a:t>
                      </a:r>
                    </a:p>
                  </a:txBody>
                  <a:tcPr marL="91440" marR="91440" marT="27432" marB="27432" anchor="ctr">
                    <a:noFill/>
                    <a:lnT w="3175" cap="flat">
                      <a:solidFill>
                        <a:srgbClr val="E2DCCF"/>
                      </a:solidFill>
                    </a:lnT>
                  </a:tcPr>
                </a:tc>
              </a:tr>
            </a:tbl>
          </a:graphicData>
        </a:graphic>
      </p:graphicFrame>
      <p:sp>
        <p:nvSpPr>
          <p:cNvPr id="13" name="TextBox 12"/>
          <p:cNvSpPr txBox="1"/>
          <p:nvPr/>
        </p:nvSpPr>
        <p:spPr>
          <a:xfrm>
            <a:off x="1298448" y="5650992"/>
            <a:ext cx="10344607" cy="457200"/>
          </a:xfrm>
          <a:prstGeom prst="rect">
            <a:avLst/>
          </a:prstGeom>
          <a:noFill/>
        </p:spPr>
        <p:txBody>
          <a:bodyPr wrap="square" lIns="0" rIns="0" tIns="0" bIns="0" anchor="t">
            <a:spAutoFit/>
          </a:bodyPr>
          <a:lstStyle/>
          <a:p>
            <a:pPr algn="l">
              <a:lnSpc>
                <a:spcPct val="125000"/>
              </a:lnSpc>
            </a:pPr>
            <a:r>
              <a:rPr sz="1100" b="0" i="0">
                <a:solidFill>
                  <a:srgbClr val="4A443C"/>
                </a:solidFill>
                <a:latin typeface="Corbel"/>
              </a:rPr>
              <a:t>Fees are calculated on a static $100m for comparability. Northpoint's all-in load of 1.15% sits 0.95 points above a passive NASDAQ-100 ETF, which costs $5.7m more over six years. The fund delivered $44.4m of additional terminal value, so investors kept $38.7m after paying for active management.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A11 · References and declarations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Sources, academic references, and the required statement on the use of generative AI</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11" name="Rectangle 10"/>
          <p:cNvSpPr/>
          <p:nvPr/>
        </p:nvSpPr>
        <p:spPr>
          <a:xfrm>
            <a:off x="1298448" y="1645920"/>
            <a:ext cx="5637810"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1773936"/>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REFERENCES</a:t>
            </a:r>
          </a:p>
        </p:txBody>
      </p:sp>
      <p:sp>
        <p:nvSpPr>
          <p:cNvPr id="13" name="TextBox 12"/>
          <p:cNvSpPr txBox="1"/>
          <p:nvPr/>
        </p:nvSpPr>
        <p:spPr>
          <a:xfrm>
            <a:off x="1298448" y="2103120"/>
            <a:ext cx="5363490" cy="3657600"/>
          </a:xfrm>
          <a:prstGeom prst="rect">
            <a:avLst/>
          </a:prstGeom>
          <a:noFill/>
        </p:spPr>
        <p:txBody>
          <a:bodyPr wrap="square" lIns="0" rIns="0" tIns="0" bIns="0" anchor="t">
            <a:spAutoFit/>
          </a:bodyPr>
          <a:lstStyle/>
          <a:p>
            <a:pPr algn="l">
              <a:lnSpc>
                <a:spcPct val="136000"/>
              </a:lnSpc>
            </a:pPr>
            <a:r>
              <a:rPr sz="900" b="0" i="0">
                <a:solidFill>
                  <a:srgbClr val="4A443C"/>
                </a:solidFill>
                <a:latin typeface="Corbel"/>
              </a:rPr>
              <a:t>Brinson, G. P., Hood, L. R., &amp; Beebower, G. L. (1986). Determinants of portfolio performance. Financial Analysts Journal, 42(4), 39–44.</a:t>
            </a:r>
          </a:p>
          <a:p>
            <a:pPr algn="l">
              <a:lnSpc>
                <a:spcPct val="136000"/>
              </a:lnSpc>
            </a:pPr>
            <a:r>
              <a:rPr sz="900" b="0" i="0">
                <a:solidFill>
                  <a:srgbClr val="4A443C"/>
                </a:solidFill>
                <a:latin typeface="Corbel"/>
              </a:rPr>
              <a:t>DeMiguel, V., Garlappi, L., &amp; Uppal, R. (2009). Optimal versus naive diversification. The Review of Financial Studies, 22(5), 1915–1953.</a:t>
            </a:r>
          </a:p>
          <a:p>
            <a:pPr algn="l">
              <a:lnSpc>
                <a:spcPct val="136000"/>
              </a:lnSpc>
            </a:pPr>
            <a:r>
              <a:rPr sz="900" b="0" i="0">
                <a:solidFill>
                  <a:srgbClr val="4A443C"/>
                </a:solidFill>
                <a:latin typeface="Corbel"/>
              </a:rPr>
              <a:t>Fama, E. F., &amp; French, K. R. (1993). Common risk factors in the returns on stocks and bonds. Journal of Financial Economics, 33(1), 3–56.</a:t>
            </a:r>
          </a:p>
          <a:p>
            <a:pPr algn="l">
              <a:lnSpc>
                <a:spcPct val="136000"/>
              </a:lnSpc>
            </a:pPr>
            <a:r>
              <a:rPr sz="900" b="0" i="0">
                <a:solidFill>
                  <a:srgbClr val="4A443C"/>
                </a:solidFill>
                <a:latin typeface="Corbel"/>
              </a:rPr>
              <a:t>Fama, E. F., &amp; French, K. R. (2015). A five-factor asset pricing model. Journal of Financial Economics, 116(1), 1–22.</a:t>
            </a:r>
          </a:p>
          <a:p>
            <a:pPr algn="l">
              <a:lnSpc>
                <a:spcPct val="136000"/>
              </a:lnSpc>
            </a:pPr>
            <a:r>
              <a:rPr sz="900" b="0" i="0">
                <a:solidFill>
                  <a:srgbClr val="4A443C"/>
                </a:solidFill>
                <a:latin typeface="Corbel"/>
              </a:rPr>
              <a:t>Jensen, M. C. (1968). The performance of mutual funds in the period 1945–1964. The Journal of Finance, 23(2), 389–416.</a:t>
            </a:r>
          </a:p>
          <a:p>
            <a:pPr algn="l">
              <a:lnSpc>
                <a:spcPct val="136000"/>
              </a:lnSpc>
            </a:pPr>
            <a:r>
              <a:rPr sz="900" b="0" i="0">
                <a:solidFill>
                  <a:srgbClr val="4A443C"/>
                </a:solidFill>
                <a:latin typeface="Corbel"/>
              </a:rPr>
              <a:t>Markowitz, H. (1952). Portfolio selection. The Journal of Finance, 7(1), 77–91.</a:t>
            </a:r>
          </a:p>
          <a:p>
            <a:pPr algn="l">
              <a:lnSpc>
                <a:spcPct val="136000"/>
              </a:lnSpc>
            </a:pPr>
            <a:r>
              <a:rPr sz="900" b="0" i="0">
                <a:solidFill>
                  <a:srgbClr val="4A443C"/>
                </a:solidFill>
                <a:latin typeface="Corbel"/>
              </a:rPr>
              <a:t>Newey, W. K., &amp; West, K. D. (1987). A simple, positive semi-definite, heteroskedasticity and autocorrelation consistent covariance matrix. Econometrica, 55(3), 703–708.</a:t>
            </a:r>
          </a:p>
          <a:p>
            <a:pPr algn="l">
              <a:lnSpc>
                <a:spcPct val="136000"/>
              </a:lnSpc>
            </a:pPr>
            <a:r>
              <a:rPr sz="900" b="0" i="0">
                <a:solidFill>
                  <a:srgbClr val="4A443C"/>
                </a:solidFill>
                <a:latin typeface="Corbel"/>
              </a:rPr>
              <a:t>Sharpe, W. F. (1966). Mutual fund performance. The Journal of Business, 39(1), 119–138.</a:t>
            </a:r>
          </a:p>
          <a:p>
            <a:pPr algn="l">
              <a:lnSpc>
                <a:spcPct val="136000"/>
              </a:lnSpc>
            </a:pPr>
            <a:r>
              <a:rPr sz="900" b="0" i="0">
                <a:solidFill>
                  <a:srgbClr val="4A443C"/>
                </a:solidFill>
                <a:latin typeface="Corbel"/>
              </a:rPr>
              <a:t>Sortino, F. A., &amp; Price, L. N. (1994). Performance measurement in a downside risk framework. The Journal of Investing, 3(3), 59–64.</a:t>
            </a:r>
          </a:p>
          <a:p>
            <a:pPr algn="l">
              <a:lnSpc>
                <a:spcPct val="136000"/>
              </a:lnSpc>
            </a:pPr>
            <a:r>
              <a:rPr sz="900" b="0" i="0">
                <a:solidFill>
                  <a:srgbClr val="4A443C"/>
                </a:solidFill>
                <a:latin typeface="Corbel"/>
              </a:rPr>
              <a:t>Treynor, J. L. (1965). How to rate management of investment funds. Harvard Business Review, 43(1), 63–75.</a:t>
            </a:r>
          </a:p>
          <a:p>
            <a:pPr algn="l">
              <a:lnSpc>
                <a:spcPct val="136000"/>
              </a:lnSpc>
            </a:pPr>
            <a:r>
              <a:rPr sz="900" b="0" i="0">
                <a:solidFill>
                  <a:srgbClr val="4A443C"/>
                </a:solidFill>
                <a:latin typeface="Corbel"/>
              </a:rPr>
              <a:t/>
            </a:r>
          </a:p>
          <a:p>
            <a:pPr algn="l">
              <a:lnSpc>
                <a:spcPct val="136000"/>
              </a:lnSpc>
            </a:pPr>
            <a:r>
              <a:rPr sz="900" b="0" i="0">
                <a:solidFill>
                  <a:srgbClr val="4A443C"/>
                </a:solidFill>
                <a:latin typeface="Corbel"/>
              </a:rPr>
              <a:t>Data: Kenneth R. French Data Library (factor and risk-free series); dividend-adjusted monthly closing prices for all eleven holdings, the eleven SPDR sector ETFs, QQQ, SPY and AGG.</a:t>
            </a:r>
          </a:p>
        </p:txBody>
      </p:sp>
      <p:sp>
        <p:nvSpPr>
          <p:cNvPr id="14" name="Rectangle 13"/>
          <p:cNvSpPr/>
          <p:nvPr/>
        </p:nvSpPr>
        <p:spPr>
          <a:xfrm>
            <a:off x="7247154" y="1645920"/>
            <a:ext cx="4395901" cy="20116"/>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7154" y="1773936"/>
            <a:ext cx="8229600" cy="219456"/>
          </a:xfrm>
          <a:prstGeom prst="rect">
            <a:avLst/>
          </a:prstGeom>
          <a:noFill/>
        </p:spPr>
        <p:txBody>
          <a:bodyPr wrap="square" lIns="0" rIns="0" tIns="0" bIns="0" anchor="t">
            <a:spAutoFit/>
          </a:bodyPr>
          <a:lstStyle/>
          <a:p>
            <a:pPr algn="l">
              <a:lnSpc>
                <a:spcPct val="105000"/>
              </a:lnSpc>
            </a:pPr>
            <a:r>
              <a:rPr sz="950" b="1" i="0" spc="160">
                <a:solidFill>
                  <a:srgbClr val="C4551A"/>
                </a:solidFill>
                <a:latin typeface="Corbel"/>
              </a:rPr>
              <a:t>GENERATIVE AI USE DECLARATION</a:t>
            </a:r>
          </a:p>
        </p:txBody>
      </p:sp>
      <p:sp>
        <p:nvSpPr>
          <p:cNvPr id="16" name="TextBox 15"/>
          <p:cNvSpPr txBox="1"/>
          <p:nvPr/>
        </p:nvSpPr>
        <p:spPr>
          <a:xfrm>
            <a:off x="7247154" y="2103120"/>
            <a:ext cx="4213021" cy="661416"/>
          </a:xfrm>
          <a:prstGeom prst="rect">
            <a:avLst/>
          </a:prstGeom>
          <a:noFill/>
        </p:spPr>
        <p:txBody>
          <a:bodyPr wrap="square" lIns="0" rIns="0" tIns="0" bIns="0">
            <a:spAutoFit/>
          </a:bodyPr>
          <a:lstStyle/>
          <a:p>
            <a:pPr>
              <a:lnSpc>
                <a:spcPct val="122000"/>
              </a:lnSpc>
            </a:pPr>
            <a:r>
              <a:rPr sz="1050" b="1">
                <a:solidFill>
                  <a:srgbClr val="0D3B38"/>
                </a:solidFill>
                <a:latin typeface="Corbel"/>
              </a:rPr>
              <a:t>Assessment classification.  </a:t>
            </a:r>
            <a:r>
              <a:rPr sz="1050">
                <a:solidFill>
                  <a:srgbClr val="16130F"/>
                </a:solidFill>
                <a:latin typeface="Corbel"/>
              </a:rPr>
              <a:t>AI-Supported. Generative AI was permitted for the preparation of the analysis and slides; the presentation itself is delivered by the author.</a:t>
            </a:r>
          </a:p>
        </p:txBody>
      </p:sp>
      <p:sp>
        <p:nvSpPr>
          <p:cNvPr id="17" name="TextBox 16"/>
          <p:cNvSpPr txBox="1"/>
          <p:nvPr/>
        </p:nvSpPr>
        <p:spPr>
          <a:xfrm>
            <a:off x="7247154" y="2983992"/>
            <a:ext cx="4213021" cy="496062"/>
          </a:xfrm>
          <a:prstGeom prst="rect">
            <a:avLst/>
          </a:prstGeom>
          <a:noFill/>
        </p:spPr>
        <p:txBody>
          <a:bodyPr wrap="square" lIns="0" rIns="0" tIns="0" bIns="0">
            <a:spAutoFit/>
          </a:bodyPr>
          <a:lstStyle/>
          <a:p>
            <a:pPr>
              <a:lnSpc>
                <a:spcPct val="122000"/>
              </a:lnSpc>
            </a:pPr>
            <a:r>
              <a:rPr sz="1050" b="1">
                <a:solidFill>
                  <a:srgbClr val="0D3B38"/>
                </a:solidFill>
                <a:latin typeface="Corbel"/>
              </a:rPr>
              <a:t>Tools used.  </a:t>
            </a:r>
            <a:r>
              <a:rPr sz="1050">
                <a:solidFill>
                  <a:srgbClr val="16130F"/>
                </a:solidFill>
                <a:latin typeface="Corbel"/>
              </a:rPr>
              <a:t>Generative AI assistant for the Python analysis code, chart generation and slide drafting; Grammarly for language editing.</a:t>
            </a:r>
          </a:p>
        </p:txBody>
      </p:sp>
      <p:sp>
        <p:nvSpPr>
          <p:cNvPr id="18" name="TextBox 17"/>
          <p:cNvSpPr txBox="1"/>
          <p:nvPr/>
        </p:nvSpPr>
        <p:spPr>
          <a:xfrm>
            <a:off x="7247154" y="3699510"/>
            <a:ext cx="4213021" cy="496062"/>
          </a:xfrm>
          <a:prstGeom prst="rect">
            <a:avLst/>
          </a:prstGeom>
          <a:noFill/>
        </p:spPr>
        <p:txBody>
          <a:bodyPr wrap="square" lIns="0" rIns="0" tIns="0" bIns="0">
            <a:spAutoFit/>
          </a:bodyPr>
          <a:lstStyle/>
          <a:p>
            <a:pPr>
              <a:lnSpc>
                <a:spcPct val="122000"/>
              </a:lnSpc>
            </a:pPr>
            <a:r>
              <a:rPr sz="1050" b="1">
                <a:solidFill>
                  <a:srgbClr val="0D3B38"/>
                </a:solidFill>
                <a:latin typeface="Corbel"/>
              </a:rPr>
              <a:t>Purpose.  </a:t>
            </a:r>
            <a:r>
              <a:rPr sz="1050">
                <a:solidFill>
                  <a:srgbClr val="16130F"/>
                </a:solidFill>
                <a:latin typeface="Corbel"/>
              </a:rPr>
              <a:t>Writing the return, risk and regression code; producing the visualisations; structuring the deck; drafting speaker notes.</a:t>
            </a:r>
          </a:p>
        </p:txBody>
      </p:sp>
      <p:sp>
        <p:nvSpPr>
          <p:cNvPr id="19" name="TextBox 18"/>
          <p:cNvSpPr txBox="1"/>
          <p:nvPr/>
        </p:nvSpPr>
        <p:spPr>
          <a:xfrm>
            <a:off x="7247154" y="4415028"/>
            <a:ext cx="4213021" cy="826769"/>
          </a:xfrm>
          <a:prstGeom prst="rect">
            <a:avLst/>
          </a:prstGeom>
          <a:noFill/>
        </p:spPr>
        <p:txBody>
          <a:bodyPr wrap="square" lIns="0" rIns="0" tIns="0" bIns="0">
            <a:spAutoFit/>
          </a:bodyPr>
          <a:lstStyle/>
          <a:p>
            <a:pPr>
              <a:lnSpc>
                <a:spcPct val="122000"/>
              </a:lnSpc>
            </a:pPr>
            <a:r>
              <a:rPr sz="1050" b="1">
                <a:solidFill>
                  <a:srgbClr val="0D3B38"/>
                </a:solidFill>
                <a:latin typeface="Corbel"/>
              </a:rPr>
              <a:t>Human refinement.  </a:t>
            </a:r>
            <a:r>
              <a:rPr sz="1050">
                <a:solidFill>
                  <a:srgbClr val="16130F"/>
                </a:solidFill>
                <a:latin typeface="Corbel"/>
              </a:rPr>
              <a:t>As Portfolio Manager I set the analytical scope, chose the benchmarks and factor models, interpreted every result, wrote the investment narrative and recommendation, and verified the outputs against the underlying data.</a:t>
            </a:r>
          </a:p>
        </p:txBody>
      </p:sp>
      <p:sp>
        <p:nvSpPr>
          <p:cNvPr id="20" name="TextBox 19"/>
          <p:cNvSpPr txBox="1"/>
          <p:nvPr/>
        </p:nvSpPr>
        <p:spPr>
          <a:xfrm>
            <a:off x="7247154" y="5461253"/>
            <a:ext cx="4213021" cy="661416"/>
          </a:xfrm>
          <a:prstGeom prst="rect">
            <a:avLst/>
          </a:prstGeom>
          <a:noFill/>
        </p:spPr>
        <p:txBody>
          <a:bodyPr wrap="square" lIns="0" rIns="0" tIns="0" bIns="0">
            <a:spAutoFit/>
          </a:bodyPr>
          <a:lstStyle/>
          <a:p>
            <a:pPr>
              <a:lnSpc>
                <a:spcPct val="122000"/>
              </a:lnSpc>
            </a:pPr>
            <a:r>
              <a:rPr sz="1050" b="1">
                <a:solidFill>
                  <a:srgbClr val="0D3B38"/>
                </a:solidFill>
                <a:latin typeface="Corbel"/>
              </a:rPr>
              <a:t>Data integrity.  </a:t>
            </a:r>
            <a:r>
              <a:rPr sz="1050">
                <a:solidFill>
                  <a:srgbClr val="16130F"/>
                </a:solidFill>
                <a:latin typeface="Corbel"/>
              </a:rPr>
              <a:t>All market data was retrieved programmatically from primary sources. No figure in this deck was generated by an AI model without a reproducible calculation behind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