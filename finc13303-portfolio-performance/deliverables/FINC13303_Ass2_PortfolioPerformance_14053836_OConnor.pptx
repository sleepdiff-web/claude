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good afternoon, good evening, depending on where you're joining me from. I'm Callum</a:t>
            </a:r>
          </a:p>
          <a:p>
            <a:r>
              <a:t>O'Connor, Portfolio Manager of the Northpoint Digital Innovation Fund.</a:t>
            </a:r>
          </a:p>
          <a:p/>
          <a:p>
            <a:r>
              <a:t>Six years ago you gave this fund a hundred million dollars and one instruction. Own the winners of</a:t>
            </a:r>
          </a:p>
          <a:p>
            <a:r>
              <a:t>digital transformation, right across the economy, and do it with discipline. Today I'm closing the</a:t>
            </a:r>
          </a:p>
          <a:p>
            <a:r>
              <a:t>book on that mandate.</a:t>
            </a:r>
          </a:p>
          <a:p/>
          <a:p>
            <a:r>
              <a:t>You can see the headline on the right of your screen. That hundred million is now two hundred and</a:t>
            </a:r>
          </a:p>
          <a:p>
            <a:r>
              <a:t>seventy-nine million. A hundred and seventy-nine per cent in total, or eighteen point seven per</a:t>
            </a:r>
          </a:p>
          <a:p>
            <a:r>
              <a:t>cent a year, and we got there through a trade war, a pandemic, the fastest bear market in history</a:t>
            </a:r>
          </a:p>
          <a:p>
            <a:r>
              <a:t>and the sharpest rate shock in forty years.</a:t>
            </a:r>
          </a:p>
          <a:p/>
          <a:p>
            <a:r>
              <a:t>Over the next twenty-five minutes I'll show you where that money came from, how much risk we took</a:t>
            </a:r>
          </a:p>
          <a:p>
            <a:r>
              <a:t>to get it, whether any of it was skill, and what I think you should do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tell you how I'll use your time.</a:t>
            </a:r>
          </a:p>
          <a:p/>
          <a:p>
            <a:r>
              <a:t>I'll start with the mandate you funded and whether we stuck to it. Then the economy, because six</a:t>
            </a:r>
          </a:p>
          <a:p>
            <a:r>
              <a:t>years is a long time and we lived through three quite different regimes. Then what the fund</a:t>
            </a:r>
          </a:p>
          <a:p>
            <a:r>
              <a:t>returned, and how it behaved in the two moments that mattered. Then how much risk we took.</a:t>
            </a:r>
          </a:p>
          <a:p/>
          <a:p>
            <a:r>
              <a:t>Then comes the section I care about most, which is whether any of this was skill. And I'll finish</a:t>
            </a:r>
          </a:p>
          <a:p>
            <a:r>
              <a:t>with the verdict, the fees and my recommendation.</a:t>
            </a:r>
          </a:p>
          <a:p/>
          <a:p>
            <a:r>
              <a:t>Questions at the end, and there's a full appendix if you want to go deeper.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unpack any of it, here's the whole six years on one slide.</a:t>
            </a:r>
          </a:p>
          <a:p/>
          <a:p>
            <a:r>
              <a:t>Start top left. A hundred and seventy-nine per cent in total. Over the same window the S and P 500</a:t>
            </a:r>
          </a:p>
          <a:p>
            <a:r>
              <a:t>returned ninety, and the NASDAQ-100, which is our primary benchmark and the harder test, returned a</a:t>
            </a:r>
          </a:p>
          <a:p>
            <a:r>
              <a:t>hundred and thirty-five. Annualised, we compounded at eighteen point seven per cent a year against</a:t>
            </a:r>
          </a:p>
          <a:p>
            <a:r>
              <a:t>a target of eight to ten.</a:t>
            </a:r>
          </a:p>
          <a:p/>
          <a:p>
            <a:r>
              <a:t>Now look at the second row just as carefully. Our Sharpe ratio is zero point nine four, the highest</a:t>
            </a:r>
          </a:p>
          <a:p>
            <a:r>
              <a:t>of every comparator I tested. Our worst drawdown is minus twenty-four point nine per cent, which is</a:t>
            </a:r>
          </a:p>
          <a:p>
            <a:r>
              <a:t>shallower than the NASDAQ-100 managed. So we didn't simply take more risk to get more return.</a:t>
            </a:r>
          </a:p>
          <a:p/>
          <a:p>
            <a:r>
              <a:t>And here's the number I'd point to above all the others. Six point six per cent of annualised alpha</a:t>
            </a:r>
          </a:p>
          <a:p>
            <a:r>
              <a:t>on a five-factor model, with a t-statistic of three point zero six. The chance that's luck is about</a:t>
            </a:r>
          </a:p>
          <a:p>
            <a:r>
              <a:t>two in a thousand. Our beta was one, so it wasn't leverage either.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contract, and I've put it up unedited. The first test of a manager isn't performance.</a:t>
            </a:r>
          </a:p>
          <a:p>
            <a:r>
              <a:t>It's whether the thing you bought is the thing you got.</a:t>
            </a:r>
          </a:p>
          <a:p/>
          <a:p>
            <a:r>
              <a:t>We said we'd run an active, high-conviction thematic fund, and the theme was digital</a:t>
            </a:r>
          </a:p>
          <a:p>
            <a:r>
              <a:t>transformation. Eleven stocks, one in every GICS sector. A pure technology fund would have been an</a:t>
            </a:r>
          </a:p>
          <a:p>
            <a:r>
              <a:t>easier story to sell, but it would have failed the diversification requirement, and it would have</a:t>
            </a:r>
          </a:p>
          <a:p>
            <a:r>
              <a:t>hurt us badly in 2022.</a:t>
            </a:r>
          </a:p>
          <a:p/>
          <a:p>
            <a:r>
              <a:t>We put two hard constraints on the weights. Every sector holds at least five per cent, and no</a:t>
            </a:r>
          </a:p>
          <a:p>
            <a:r>
              <a:t>position goes above sixteen. And we rebalance every quarter.</a:t>
            </a:r>
          </a:p>
          <a:p/>
          <a:p>
            <a:r>
              <a:t>The last line is the one to hold onto. We said we were targeting eight to ten per cent a year, net</a:t>
            </a:r>
          </a:p>
          <a:p>
            <a:r>
              <a:t>of fees. I'll mark ourselves against that at the 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book, coloured by conviction tier.</a:t>
            </a:r>
          </a:p>
          <a:p/>
          <a:p>
            <a:r>
              <a:t>Tier one is forty-two per cent of the money in three platform companies, where several parts of the</a:t>
            </a:r>
          </a:p>
          <a:p>
            <a:r>
              <a:t>thesis compound at the same time. Microsoft was our largest position at sixteen per cent.</a:t>
            </a:r>
          </a:p>
          <a:p/>
          <a:p>
            <a:r>
              <a:t>Tier two is thirty-four per cent, and I call these the enablers. Each one monetises digitisation</a:t>
            </a:r>
          </a:p>
          <a:p>
            <a:r>
              <a:t>through a single channel. Visa is payments, Equinix is data centres, Illumina is genomics, Rockwell</a:t>
            </a:r>
          </a:p>
          <a:p>
            <a:r>
              <a:t>is factory automation.</a:t>
            </a:r>
          </a:p>
          <a:p/>
          <a:p>
            <a:r>
              <a:t>Tier three is the last twenty-four per cent, and that's our ballast.</a:t>
            </a:r>
          </a:p>
          <a:p/>
          <a:p>
            <a:r>
              <a:t>Now, the point at the bottom is the one I'd ask you to remember. For five of these six years,</a:t>
            </a:r>
          </a:p>
          <a:p>
            <a:r>
              <a:t>holding Schlumberger at five per cent looked like a tax on the portfolio. People asked me</a:t>
            </a:r>
          </a:p>
          <a:p>
            <a:r>
              <a:t>repeatedly why we didn't just drop the sector. We didn't drop it because the mandate said every</a:t>
            </a:r>
          </a:p>
          <a:p>
            <a:r>
              <a:t>sector keeps a floor. And in 2022 that discipline is exactly what saved 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is what would have happened if we'd bought the eleven stocks and never touched them.</a:t>
            </a:r>
          </a:p>
          <a:p>
            <a:r>
              <a:t>Tier one would have grown from forty-two per cent of the book to forty-eight, and Microsoft alone</a:t>
            </a:r>
          </a:p>
          <a:p>
            <a:r>
              <a:t>would have reached twenty-five. You'd have ended up owning a concentrated mega-cap technology fund</a:t>
            </a:r>
          </a:p>
          <a:p>
            <a:r>
              <a:t>that looked nothing like the mandate you signed.</a:t>
            </a:r>
          </a:p>
          <a:p/>
          <a:p>
            <a:r>
              <a:t>On the right is what we actually did.</a:t>
            </a:r>
          </a:p>
          <a:p/>
          <a:p>
            <a:r>
              <a:t>Now look at the table. Rebalancing wasn't governance theatre. It was worth eighteen million dollars</a:t>
            </a:r>
          </a:p>
          <a:p>
            <a:r>
              <a:t>to you. That's one point three points a year of extra return, a higher Sharpe ratio, and a drawdown</a:t>
            </a:r>
          </a:p>
          <a:p>
            <a:r>
              <a:t>three points shallower. The reason is simple. Rebalancing kept trimming the winners when they were</a:t>
            </a:r>
          </a:p>
          <a:p>
            <a:r>
              <a:t>high and topping up the laggards when they were 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opened in January 2017, the month the Dow crossed twenty thousand. The fund returned forty per</a:t>
            </a:r>
          </a:p>
          <a:p>
            <a:r>
              <a:t>cent that year. The December tax reform lifted after-tax earnings across the book, and cloud</a:t>
            </a:r>
          </a:p>
          <a:p>
            <a:r>
              <a:t>adoption accelerated exactly as we'd argued.</a:t>
            </a:r>
          </a:p>
          <a:p/>
          <a:p>
            <a:r>
              <a:t>2018 was our first hard year. The trade war escalated and the fourth quarter was brutal. We lost</a:t>
            </a:r>
          </a:p>
          <a:p>
            <a:r>
              <a:t>nine point six per cent in October and another nine point eight in December, and still finished up</a:t>
            </a:r>
          </a:p>
          <a:p>
            <a:r>
              <a:t>three point seven while the S and P fell four and a half.</a:t>
            </a:r>
          </a:p>
          <a:p/>
          <a:p>
            <a:r>
              <a:t>2019 was the recovery, off the back of the Fed pivoting to cuts. Then March 2020, which I'll come</a:t>
            </a:r>
          </a:p>
          <a:p>
            <a:r>
              <a:t>back to.</a:t>
            </a:r>
          </a:p>
          <a:p/>
          <a:p>
            <a:r>
              <a:t>The fund peaked in December 2021 at three hundred and sixty million dollars, within weeks of the</a:t>
            </a:r>
          </a:p>
          <a:p>
            <a:r>
              <a:t>Fed dropping the word transitory. 2022 gave a good chunk of it back.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three years were broadly the world we said we expected. Moderate growth, contained</a:t>
            </a:r>
          </a:p>
          <a:p>
            <a:r>
              <a:t>inflation, a gradual Fed, and spending shifting towards cloud, mobile and payments. 2018 was the</a:t>
            </a:r>
          </a:p>
          <a:p>
            <a:r>
              <a:t>exception. The trade war was a risk we'd flagged, but we sized it wrongly.</a:t>
            </a:r>
          </a:p>
          <a:p/>
          <a:p>
            <a:r>
              <a:t>The second three years are more interesting. Go back to our 2016 Scenario C and we wrote, and I'm</a:t>
            </a:r>
          </a:p>
          <a:p>
            <a:r>
              <a:t>quoting, another systemic disruption such as a global pandemic. We put twenty per cent on it. Then</a:t>
            </a:r>
          </a:p>
          <a:p>
            <a:r>
              <a:t>it happened.</a:t>
            </a:r>
          </a:p>
          <a:p/>
          <a:p>
            <a:r>
              <a:t>And here's the part we got right for the right reason. We'd argued that even in a recession, cloud</a:t>
            </a:r>
          </a:p>
          <a:p>
            <a:r>
              <a:t>migration and payment digitisation carry on, because they save companies money. COVID didn't slow</a:t>
            </a:r>
          </a:p>
          <a:p>
            <a:r>
              <a:t>our theme. It accelerated it by years.</a:t>
            </a:r>
          </a:p>
          <a:p/>
          <a:p>
            <a:r>
              <a:t>2022 was different. That year tested the diversification rather than the theme. When the discount</a:t>
            </a:r>
          </a:p>
          <a:p>
            <a:r>
              <a:t>rate moves from zero to four and a quarter, growth equity gets repriced, and there was nowhere to</a:t>
            </a:r>
          </a:p>
          <a:p>
            <a:r>
              <a:t>hide inside our theme. Only the ballast helped.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2016 we published three scenarios with explicit probabilities and returns. The pale bars are</a:t>
            </a:r>
          </a:p>
          <a:p>
            <a:r>
              <a:t>what we said. The dark bars are what we delivered.</a:t>
            </a:r>
          </a:p>
          <a:p/>
          <a:p>
            <a:r>
              <a:t>Two honest observations. We got the direction right in five of six years. But we were consistently</a:t>
            </a:r>
          </a:p>
          <a:p>
            <a:r>
              <a:t>too conservative about the size of the moves, in both directions. In 2017 we assumed eighteen per</a:t>
            </a:r>
          </a:p>
          <a:p>
            <a:r>
              <a:t>cent and delivered forty. In 2019 we thought we were in a stagnation world worth nine, and</a:t>
            </a:r>
          </a:p>
          <a:p>
            <a:r>
              <a:t>delivered thirty-seven. And in 2022 we'd assumed a recession would cost four per cent, when it cost</a:t>
            </a:r>
          </a:p>
          <a:p>
            <a:r>
              <a:t>us twenty-two and a half.</a:t>
            </a:r>
          </a:p>
          <a:p/>
          <a:p>
            <a:r>
              <a:t>So here's the lesson. Scenario frameworks are good at telling you which state of the world you're</a:t>
            </a:r>
          </a:p>
          <a:p>
            <a:r>
              <a:t>in. They're poor at telling you how violent it's going to be.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chart the whole review rests on.</a:t>
            </a:r>
          </a:p>
          <a:p/>
          <a:p>
            <a:r>
              <a:t>Three things to notice. We sit above the NASDAQ-100 for essentially the entire six years, and the</a:t>
            </a:r>
          </a:p>
          <a:p>
            <a:r>
              <a:t>gap widens rather than narrows. Then look at where the lines separate most, which is right at the</a:t>
            </a:r>
          </a:p>
          <a:p>
            <a:r>
              <a:t>end, in 2022. On the way up we tracked the benchmark closely. On the way down we fell a lot less,</a:t>
            </a:r>
          </a:p>
          <a:p>
            <a:r>
              <a:t>and that asymmetry is the whole argument for how we built this portfolio.</a:t>
            </a:r>
          </a:p>
          <a:p/>
          <a:p>
            <a:r>
              <a:t>The third thing is the table underneath. Against the S and P 500, which any of you could have</a:t>
            </a:r>
          </a:p>
          <a:p>
            <a:r>
              <a:t>bought for nine basis points, we added eighty-nine million dollars. Against the NASDAQ-100, the</a:t>
            </a:r>
          </a:p>
          <a:p>
            <a:r>
              <a:t>tougher test because it shares our theme, we added forty-four million.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annual returns, which is how most of you will see the fund reported.</a:t>
            </a:r>
          </a:p>
          <a:p/>
          <a:p>
            <a:r>
              <a:t>So look at 2018 and 2022, because those are the years the market fell. In 2018 the S and P lost</a:t>
            </a:r>
          </a:p>
          <a:p>
            <a:r>
              <a:t>four point six per cent and the NASDAQ-100 was flat, and we made three point seven. In 2022 the S</a:t>
            </a:r>
          </a:p>
          <a:p>
            <a:r>
              <a:t>and P lost eighteen and the NASDAQ-100 lost thirty-two point six, and we lost twenty-two and a</a:t>
            </a:r>
          </a:p>
          <a:p>
            <a:r>
              <a:t>half.</a:t>
            </a:r>
          </a:p>
          <a:p/>
          <a:p>
            <a:r>
              <a:t>I should be straight with you about that year. We underperformed the S and P by four points, and I</a:t>
            </a:r>
          </a:p>
          <a:p>
            <a:r>
              <a:t>won't dress that up. A technology-tilted fund should lag the broad market when growth de-rates. But</a:t>
            </a:r>
          </a:p>
          <a:p>
            <a:r>
              <a:t>against our own theme benchmark we outperformed by ten full points.</a:t>
            </a:r>
          </a:p>
          <a:p/>
          <a:p>
            <a:r>
              <a:t>The only year we lagged the NASDAQ-100 was 2020, when concentration was rewarded and our sector</a:t>
            </a:r>
          </a:p>
          <a:p>
            <a:r>
              <a:t>floors held us back. That's the cost of diversification, and 2022 is where you got paid for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 is us against the S and P 500, and it rises steadily throughout. That's the theme working.</a:t>
            </a:r>
          </a:p>
          <a:p/>
          <a:p>
            <a:r>
              <a:t>Orange is the line that tells you something you won't get anywhere else. Against the NASDAQ-100 we</a:t>
            </a:r>
          </a:p>
          <a:p>
            <a:r>
              <a:t>were roughly flat for the first four and a half years. We only pulled decisively ahead from</a:t>
            </a:r>
          </a:p>
          <a:p>
            <a:r>
              <a:t>November 2021.</a:t>
            </a:r>
          </a:p>
          <a:p/>
          <a:p>
            <a:r>
              <a:t>Be clear about what that means. For most of this fund's life we did not beat our primary benchmark.</a:t>
            </a:r>
          </a:p>
          <a:p>
            <a:r>
              <a:t>We tracked it. All of our outperformance against it was earned in the 2022 drawdown, by falling</a:t>
            </a:r>
          </a:p>
          <a:p>
            <a:r>
              <a:t>less.</a:t>
            </a:r>
          </a:p>
          <a:p/>
          <a:p>
            <a:r>
              <a:t>Some managers would present that as a weakness. I'd argue the opposite. Anyone can hold technology</a:t>
            </a:r>
          </a:p>
          <a:p>
            <a:r>
              <a:t>stocks in a technology bull market. Protecting capital when the regime turns is the part that needs</a:t>
            </a:r>
          </a:p>
          <a:p>
            <a:r>
              <a:t>an actual discipline, and 2022 is where our fee earned itself.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Drawdown decides whether an investor stays in a fund, so I'll take it head on.</a:t>
            </a:r>
          </a:p>
          <a:p/>
          <a:p>
            <a:r>
              <a:t>Our worst peak-to-trough loss was twenty-four point nine per cent, from the November 2021 peak to</a:t>
            </a:r>
          </a:p>
          <a:p>
            <a:r>
              <a:t>the September 2022 trough. The NASDAQ-100 lost thirty-two point six over a similar window, and the</a:t>
            </a:r>
          </a:p>
          <a:p>
            <a:r>
              <a:t>S and P lost twenty-three point nine.</a:t>
            </a:r>
          </a:p>
          <a:p/>
          <a:p>
            <a:r>
              <a:t>So we sat between the two. Worse than the broad market, and materially better than our own</a:t>
            </a:r>
          </a:p>
          <a:p>
            <a:r>
              <a:t>benchmark. For a fund with a deliberate technology tilt, that's the right place to be.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two stress tests.</a:t>
            </a:r>
          </a:p>
          <a:p/>
          <a:p>
            <a:r>
              <a:t>February and March of 2020 cost us twelve point six per cent, and it felt considerably worse at the</a:t>
            </a:r>
          </a:p>
          <a:p>
            <a:r>
              <a:t>time, because these are month-end figures.</a:t>
            </a:r>
          </a:p>
          <a:p/>
          <a:p>
            <a:r>
              <a:t>Then look what happens. April 2020 was the best month in this fund's history at plus fourteen and a</a:t>
            </a:r>
          </a:p>
          <a:p>
            <a:r>
              <a:t>half per cent. By May we were back above the January high, and the year finished up thirty-seven.</a:t>
            </a:r>
          </a:p>
          <a:p/>
          <a:p>
            <a:r>
              <a:t>The second point matters more. Our thesis rested on the idea that digital transformation saves</a:t>
            </a:r>
          </a:p>
          <a:p>
            <a:r>
              <a:t>companies money, and therefore continues in a recession. COVID tested that harder than anything we</a:t>
            </a:r>
          </a:p>
          <a:p>
            <a:r>
              <a:t>could have designed, and the answer came back emphatically.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second stress test, which is the more instructive of the two.</a:t>
            </a:r>
          </a:p>
          <a:p/>
          <a:p>
            <a:r>
              <a:t>2022 brought the sharpest tightening since 1981. The Fed raised four hundred and twenty-five basis</a:t>
            </a:r>
          </a:p>
          <a:p>
            <a:r>
              <a:t>points in a single calendar year. When the discount rate moves that fast, growth equity gets</a:t>
            </a:r>
          </a:p>
          <a:p>
            <a:r>
              <a:t>repriced, and there's no clever way around it.</a:t>
            </a:r>
          </a:p>
          <a:p/>
          <a:p>
            <a:r>
              <a:t>We lost twenty-two and a half per cent. The NASDAQ-100 lost thirty-two point six.</a:t>
            </a:r>
          </a:p>
          <a:p/>
          <a:p>
            <a:r>
              <a:t>The panel on the right explains that ten-point difference completely. At the bottom, Amazon down</a:t>
            </a:r>
          </a:p>
          <a:p>
            <a:r>
              <a:t>fifty, Illumina down forty-seven, Alphabet down thirty-nine. Our thesis names were hit exactly as</a:t>
            </a:r>
          </a:p>
          <a:p>
            <a:r>
              <a:t>hard as you'd expect.</a:t>
            </a:r>
          </a:p>
          <a:p/>
          <a:p>
            <a:r>
              <a:t>Now look at the top of the same panel. Schlumberger up eighty-one per cent. Visa down three.</a:t>
            </a:r>
          </a:p>
          <a:p>
            <a:r>
              <a:t>Albemarle down seven.</a:t>
            </a:r>
          </a:p>
          <a:p/>
          <a:p>
            <a:r>
              <a:t>Schlumberger was the worst holding in this fund over the full six years, and the position I was</a:t>
            </a:r>
          </a:p>
          <a:p>
            <a:r>
              <a:t>asked to justify more than any other. It was in the book for one reason, which is that the mandate</a:t>
            </a:r>
          </a:p>
          <a:p>
            <a:r>
              <a:t>said every sector keeps a floor. In the worst year of this fund's life, that unloved five per cent</a:t>
            </a:r>
          </a:p>
          <a:p>
            <a:r>
              <a:t>position returned eighty-one per cent. That isn't luck. That's what diversification is, and it's</a:t>
            </a:r>
          </a:p>
          <a:p>
            <a:r>
              <a:t>why the constraint was written into the mandate rather than left to my discretion.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quantitative section, and I want to start with the raw distribution rather than a summary</a:t>
            </a:r>
          </a:p>
          <a:p>
            <a:r>
              <a:t>statistic, because a summary statistic can hide a lot.</a:t>
            </a:r>
          </a:p>
          <a:p/>
          <a:p>
            <a:r>
              <a:t>Seventy-two monthly observations. The mean is one point five nine per cent and the median is two</a:t>
            </a:r>
          </a:p>
          <a:p>
            <a:r>
              <a:t>point seven three. The median sitting well above the mean tells you straight away there's a left</a:t>
            </a:r>
          </a:p>
          <a:p>
            <a:r>
              <a:t>tail, because a few large negative months are dragging the average down.</a:t>
            </a:r>
          </a:p>
          <a:p/>
          <a:p>
            <a:r>
              <a:t>Skewness confirms it at minus zero point four seven, which is mild and completely normal for</a:t>
            </a:r>
          </a:p>
          <a:p>
            <a:r>
              <a:t>equities. Excess kurtosis is essentially zero, so no fat tails. And Jarque-Bera gives a p-value of</a:t>
            </a:r>
          </a:p>
          <a:p>
            <a:r>
              <a:t>zero point two eight, so we can't reject normality. That matters, because it means the risk</a:t>
            </a:r>
          </a:p>
          <a:p>
            <a:r>
              <a:t>measures on the next few slides can be trusted for this fund.</a:t>
            </a:r>
          </a:p>
          <a:p/>
          <a:p>
            <a:r>
              <a:t>Best month, April 2020, plus fourteen and a half. Worst, April 2022, minus twelve point one. And</a:t>
            </a:r>
          </a:p>
          <a:p>
            <a:r>
              <a:t>fifty of the seventy-two months were positive.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keep one slide from today, keep this one.</a:t>
            </a:r>
          </a:p>
          <a:p/>
          <a:p>
            <a:r>
              <a:t>Read down our column and compare it to the two benchmarks beside it.</a:t>
            </a:r>
          </a:p>
          <a:p/>
          <a:p>
            <a:r>
              <a:t>Sharpe is zero point nine four against zero point seven five and zero point six five. Sortino, which</a:t>
            </a:r>
          </a:p>
          <a:p>
            <a:r>
              <a:t>only penalises downside volatility, is one point five one against one point one eight. That</a:t>
            </a:r>
          </a:p>
          <a:p>
            <a:r>
              <a:t>improvement is bigger than the improvement in Sharpe, and that tells you our volatility was</a:t>
            </a:r>
          </a:p>
          <a:p>
            <a:r>
              <a:t>disproportionately upside volatility, which is what you want.</a:t>
            </a:r>
          </a:p>
          <a:p/>
          <a:p>
            <a:r>
              <a:t>And look at the bottom row. Levered to exactly the S and P's volatility, this fund would have</a:t>
            </a:r>
          </a:p>
          <a:p>
            <a:r>
              <a:t>returned seventeen point two per cent a year against the index's eleven point three. That's</a:t>
            </a:r>
          </a:p>
          <a:p>
            <a:r>
              <a:t>like-for-like at matched risk, and it's a six-point gap.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value-at-risk and expected shortfall, which are what your risk committees will ask for.</a:t>
            </a:r>
          </a:p>
          <a:p/>
          <a:p>
            <a:r>
              <a:t>Our ninety-five per cent one-month value-at-risk is minus eight point eight two per cent. Read it</a:t>
            </a:r>
          </a:p>
          <a:p>
            <a:r>
              <a:t>this way. In the worst month out of twenty, we'd expect to lose at least eight point eight per</a:t>
            </a:r>
          </a:p>
          <a:p>
            <a:r>
              <a:t>cent, and on the fund's closing value that's a twenty-four point six million dollar month.</a:t>
            </a:r>
          </a:p>
          <a:p/>
          <a:p>
            <a:r>
              <a:t>The number I'd actually watch is expected shortfall, because value-at-risk only gives you the</a:t>
            </a:r>
          </a:p>
          <a:p>
            <a:r>
              <a:t>threshold and not how bad it gets beyond it. Ours is minus ten point two per cent.</a:t>
            </a:r>
          </a:p>
          <a:p/>
          <a:p>
            <a:r>
              <a:t>Compare that to the NASDAQ-100. Its threshold is essentially identical to ours, but its expected</a:t>
            </a:r>
          </a:p>
          <a:p>
            <a:r>
              <a:t>shortfall is worse and its ninety-nine per cent figure is worse again. Same threshold risk, thinner</a:t>
            </a:r>
          </a:p>
          <a:p>
            <a:r>
              <a:t>tail beyond it. And again, that's diversification rather than anything clever in timing.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seasonality, and I'll frame this carefully, because it's easy to over-read.</a:t>
            </a:r>
          </a:p>
          <a:p/>
          <a:p>
            <a:r>
              <a:t>July was our strongest month at plus five point eight per cent, positive in all six years.</a:t>
            </a:r>
          </a:p>
          <a:p>
            <a:r>
              <a:t>September was weakest at minus two point eight, dragged there by three heavy losses in 2020, 2021</a:t>
            </a:r>
          </a:p>
          <a:p>
            <a:r>
              <a:t>and 2022.</a:t>
            </a:r>
          </a:p>
          <a:p/>
          <a:p>
            <a:r>
              <a:t>But here's why I wouldn't build a strategy on it. Six observations per calendar month is nowhere</a:t>
            </a:r>
          </a:p>
          <a:p>
            <a:r>
              <a:t>near enough to separate a real seasonal effect from noise. The standard error on any of those</a:t>
            </a:r>
          </a:p>
          <a:p>
            <a:r>
              <a:t>averages is over two per cent, so almost none of these differences would survive a significance</a:t>
            </a:r>
          </a:p>
          <a:p>
            <a:r>
              <a:t>test.</a:t>
            </a:r>
          </a:p>
          <a:p/>
          <a:p>
            <a:r>
              <a:t>What the grid does show usefully is how the extremes cluster. Look at the 2020 row, then the 2022</a:t>
            </a:r>
          </a:p>
          <a:p>
            <a:r>
              <a:t>row. The best month in this fund's history and the worst sit within twenty-four months of each</a:t>
            </a:r>
          </a:p>
          <a:p>
            <a:r>
              <a:t>other.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question you should be asking me. Was any of this skill, or did we simply own high-beta</a:t>
            </a:r>
          </a:p>
          <a:p>
            <a:r>
              <a:t>growth stocks in a decade that rewarded high-beta growth stocks?</a:t>
            </a:r>
          </a:p>
          <a:p/>
          <a:p>
            <a:r>
              <a:t>You answer that with a factor regression. Take the fund's excess return over cash, regress it on</a:t>
            </a:r>
          </a:p>
          <a:p>
            <a:r>
              <a:t>known risk factors, and see what's left over. That leftover is Jensen's alpha.</a:t>
            </a:r>
          </a:p>
          <a:p/>
          <a:p>
            <a:r>
              <a:t>Start with the CAPM. Seven point two per cent a year, t-statistic two point one nine. But the CAPM</a:t>
            </a:r>
          </a:p>
          <a:p>
            <a:r>
              <a:t>only controls for market risk, so a sceptic would say a growth tilt is doing the work.</a:t>
            </a:r>
          </a:p>
          <a:p/>
          <a:p>
            <a:r>
              <a:t>So add size and value. The alpha comes down to five point nine, but the significance goes up. Add</a:t>
            </a:r>
          </a:p>
          <a:p>
            <a:r>
              <a:t>profitability and investment and we get six point six per cent, with a t-statistic of three point</a:t>
            </a:r>
          </a:p>
          <a:p>
            <a:r>
              <a:t>zero six and a p-value of zero point zero zero two. Add momentum and it barely moves.</a:t>
            </a:r>
          </a:p>
          <a:p/>
          <a:p>
            <a:r>
              <a:t>And now the bottom row, which is where I'd spend my time if I were you. I ran the same five-factor</a:t>
            </a:r>
          </a:p>
          <a:p>
            <a:r>
              <a:t>test on the NASDAQ-100 itself. Its alpha is two point four per cent with a t-statistic of one point</a:t>
            </a:r>
          </a:p>
          <a:p>
            <a:r>
              <a:t>four one, which is indistinguishable from zero.</a:t>
            </a:r>
          </a:p>
          <a:p/>
          <a:p>
            <a:r>
              <a:t>So the benchmark's strong decade is fully explained by its factor exposures. Ours is not. That</a:t>
            </a:r>
          </a:p>
          <a:p>
            <a:r>
              <a:t>difference is what you were paying a management fee for.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coefficients describe the fund more honestly than any marketing document could.</a:t>
            </a:r>
          </a:p>
          <a:p/>
          <a:p>
            <a:r>
              <a:t>Market loading is one point zero five, so we moved one-for-one with the equity market. We weren't</a:t>
            </a:r>
          </a:p>
          <a:p>
            <a:r>
              <a:t>levered.</a:t>
            </a:r>
          </a:p>
          <a:p/>
          <a:p>
            <a:r>
              <a:t>Size is minus zero point two two and significant. A negative size loading means large-cap, which is</a:t>
            </a:r>
          </a:p>
          <a:p>
            <a:r>
              <a:t>correct and intended. Value is minus zero point one nine, also significant, and negative value</a:t>
            </a:r>
          </a:p>
          <a:p>
            <a:r>
              <a:t>means growth. Also intended.</a:t>
            </a:r>
          </a:p>
          <a:p/>
          <a:p>
            <a:r>
              <a:t>Profitability and investment are both small and neither is significant. That's worth pointing out,</a:t>
            </a:r>
          </a:p>
          <a:p>
            <a:r>
              <a:t>because a common criticism of technology alpha is that it's really a quality tilt in disguise. Here</a:t>
            </a:r>
          </a:p>
          <a:p>
            <a:r>
              <a:t>it isn't. And momentum is effectively zero, so this was never a momentum-chasing strategy.</a:t>
            </a:r>
          </a:p>
          <a:p/>
          <a:p>
            <a:r>
              <a:t>So what you're looking at is a large-cap growth fund with market-like beta, no leverage and no</a:t>
            </a:r>
          </a:p>
          <a:p>
            <a:r>
              <a:t>hidden factor bets. Which is precisely the description in the mandate I showed you at the start.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check, because a full-sample alpha can always be produced by a single extraordinary year.</a:t>
            </a:r>
          </a:p>
          <a:p>
            <a:r>
              <a:t>I've re-estimated it on every rolling three-year window, and the line never drops below zero.</a:t>
            </a:r>
          </a:p>
          <a:p/>
          <a:p>
            <a:r>
              <a:t>Alpha was earned in the growth years of 2017 to 2019, and it was also earned in the very different</a:t>
            </a:r>
          </a:p>
          <a:p>
            <a:r>
              <a:t>windows dominated by the 2020 crash and the 2022 rate shock.</a:t>
            </a:r>
          </a:p>
          <a:p/>
          <a:p>
            <a:r>
              <a:t>The shape is worth a moment though. It declines through the middle and recovers at the right-hand</a:t>
            </a:r>
          </a:p>
          <a:p>
            <a:r>
              <a:t>end. Those middle windows are 2020 and 2021, when the NASDAQ-100 was extremely hard to beat and our</a:t>
            </a:r>
          </a:p>
          <a:p>
            <a:r>
              <a:t>sector floors were a drag. The recovery at the right is 2022.</a:t>
            </a:r>
          </a:p>
          <a:p/>
          <a:p>
            <a:r>
              <a:t>So the source of our alpha changed character. Security selection early, downside protection later.</a:t>
            </a:r>
          </a:p>
          <a:p>
            <a:r>
              <a:t>That's a healthy sign rather than a worrying one, because it means the fund wasn't dependent on one</a:t>
            </a:r>
          </a:p>
          <a:p>
            <a:r>
              <a:t>market regime.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get underneath the portfolio number now, because ultimately you hired me to pick eleven</a:t>
            </a:r>
          </a:p>
          <a:p>
            <a:r>
              <a:t>stocks.</a:t>
            </a:r>
          </a:p>
          <a:p/>
          <a:p>
            <a:r>
              <a:t>The fairest test of a pick isn't whether it went up. It's whether it beat the sector it sits in,</a:t>
            </a:r>
          </a:p>
          <a:p>
            <a:r>
              <a:t>because if I pick a technology stock in a decade when every technology stock rose, I haven't</a:t>
            </a:r>
          </a:p>
          <a:p>
            <a:r>
              <a:t>demonstrated anything.</a:t>
            </a:r>
          </a:p>
          <a:p/>
          <a:p>
            <a:r>
              <a:t>Blue is our stock, orange is its sector fund. Nine of our eleven picks beat their sector.</a:t>
            </a:r>
          </a:p>
          <a:p/>
          <a:p>
            <a:r>
              <a:t>The standouts. Costco beat consumer staples by a hundred and fifty-two points, NextEra beat</a:t>
            </a:r>
          </a:p>
          <a:p>
            <a:r>
              <a:t>utilities by a hundred and forty-six, and Microsoft beat technology by a hundred and forty-two.</a:t>
            </a:r>
          </a:p>
          <a:p>
            <a:r>
              <a:t>That last one matters most, because it happened inside our largest position.</a:t>
            </a:r>
          </a:p>
          <a:p/>
          <a:p>
            <a:r>
              <a:t>Two misses. Illumina, where the thesis was right but the GRAIL acquisition and the regulatory fight</a:t>
            </a:r>
          </a:p>
          <a:p>
            <a:r>
              <a:t>around it destroyed value. And Schlumberger, which lost money against an energy sector that gained</a:t>
            </a:r>
          </a:p>
          <a:p>
            <a:r>
              <a:t>fifty-four per cent.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Microsoft contributed forty-one point nine points of our hundred and seventy-nine. That's</a:t>
            </a:r>
          </a:p>
          <a:p>
            <a:r>
              <a:t>twenty-three per cent of everything this fund made, out of a sixteen per cent position. Sizing your</a:t>
            </a:r>
          </a:p>
          <a:p>
            <a:r>
              <a:t>highest-conviction idea largest is the most consequential decision a manager makes, and this is</a:t>
            </a:r>
          </a:p>
          <a:p>
            <a:r>
              <a:t>what it looks like when it goes right.</a:t>
            </a:r>
          </a:p>
          <a:p/>
          <a:p>
            <a:r>
              <a:t>Alphabet gave us twenty-two points, Albemarle twenty-one. Albemarle is the surprise, a six per cent</a:t>
            </a:r>
          </a:p>
          <a:p>
            <a:r>
              <a:t>materials position that rode the lithium and electric-vehicle supply chain. Illumina is the clear</a:t>
            </a:r>
          </a:p>
          <a:p>
            <a:r>
              <a:t>disappointment, where eight per cent of the book delivered under two points.</a:t>
            </a:r>
          </a:p>
          <a:p/>
          <a:p>
            <a:r>
              <a:t>But the panel on the right is the most interesting finding in this whole review. Schlumberger lost</a:t>
            </a:r>
          </a:p>
          <a:p>
            <a:r>
              <a:t>twenty-three and a half per cent over six years, and still contributed a positive thirteen points.</a:t>
            </a:r>
          </a:p>
          <a:p/>
          <a:p>
            <a:r>
              <a:t>How? Every quarter it fell, our rebalancing rule bought more of it at a lower price. Then in 2022 it</a:t>
            </a:r>
          </a:p>
          <a:p>
            <a:r>
              <a:t>returned eighty-one per cent, by which point we owned far more shares than we started with. A</a:t>
            </a:r>
          </a:p>
          <a:p>
            <a:r>
              <a:t>losing stock made money for this fund because of a mechanical process rule.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Brinson attribution answers one question. How much of our outperformance came from being in the</a:t>
            </a:r>
          </a:p>
          <a:p>
            <a:r>
              <a:t>right sectors, and how much from picking the right stocks inside them?</a:t>
            </a:r>
          </a:p>
          <a:p/>
          <a:p>
            <a:r>
              <a:t>To isolate that I built a benchmark with exactly our sector coverage, at neutral weights, with no</a:t>
            </a:r>
          </a:p>
          <a:p>
            <a:r>
              <a:t>stock selection at all. It returned eighty-five per cent against our hundred and seventy-nine.</a:t>
            </a:r>
          </a:p>
          <a:p/>
          <a:p>
            <a:r>
              <a:t>Decompose the difference and allocation contributed one point eight points. Almost nothing.</a:t>
            </a:r>
          </a:p>
          <a:p>
            <a:r>
              <a:t>Selection contributed forty-one point four. Interaction contributed one.</a:t>
            </a:r>
          </a:p>
          <a:p/>
          <a:p>
            <a:r>
              <a:t>So ninety-four per cent of our active return came from security selection.</a:t>
            </a:r>
          </a:p>
          <a:p/>
          <a:p>
            <a:r>
              <a:t>Here's why that matters for your decision. Allocation skill is a macro forecasting call, and the</a:t>
            </a:r>
          </a:p>
          <a:p>
            <a:r>
              <a:t>evidence that anyone repeats macro calls is weak. Selection skill is the output of a research</a:t>
            </a:r>
          </a:p>
          <a:p>
            <a:r>
              <a:t>process, so you can describe it, staff it and repeat it. If our outperformance had come from sector</a:t>
            </a:r>
          </a:p>
          <a:p>
            <a:r>
              <a:t>timing, I'd be much less confident recommending this fund continues.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obvious challenge to everything I've said is that a model could have done better. So I tested</a:t>
            </a:r>
          </a:p>
          <a:p>
            <a:r>
              <a:t>it.</a:t>
            </a:r>
          </a:p>
          <a:p/>
          <a:p>
            <a:r>
              <a:t>I took three years of data ending December 2016, which is the information a manager actually had at</a:t>
            </a:r>
          </a:p>
          <a:p>
            <a:r>
              <a:t>launch, fed it to a mean-variance optimiser, and ran the weights forward on the same rebalancing</a:t>
            </a:r>
          </a:p>
          <a:p>
            <a:r>
              <a:t>rule.</a:t>
            </a:r>
          </a:p>
          <a:p/>
          <a:p>
            <a:r>
              <a:t>The result is nineteen point seven per cent a year against our eighteen point seven. So yes, the</a:t>
            </a:r>
          </a:p>
          <a:p>
            <a:r>
              <a:t>optimiser wins, by about a point a year.</a:t>
            </a:r>
          </a:p>
          <a:p/>
          <a:p>
            <a:r>
              <a:t>But look at what it had to do. Twenty-five per cent into Equinix and another twenty-five into</a:t>
            </a:r>
          </a:p>
          <a:p>
            <a:r>
              <a:t>NextEra, both of which breach our sixteen per cent cap. And nothing at all into Alphabet, Visa,</a:t>
            </a:r>
          </a:p>
          <a:p>
            <a:r>
              <a:t>Albemarle or Schlumberger, which breaches our sector floor four times over.</a:t>
            </a:r>
          </a:p>
          <a:p/>
          <a:p>
            <a:r>
              <a:t>So the optimiser didn't beat our strategy. It declined to run it. It bought a better backtest by</a:t>
            </a:r>
          </a:p>
          <a:p>
            <a:r>
              <a:t>throwing away the constraints that, as we saw in 2022, are what protected you.</a:t>
            </a:r>
          </a:p>
          <a:p/>
          <a:p>
            <a:r>
              <a:t>And the last row is the humbling one. With perfect hindsight the best achievable was twenty-two</a:t>
            </a:r>
          </a:p>
          <a:p>
            <a:r>
              <a:t>point nine per cent. We captured eighty-two per cent of a number nobody could have known.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Upside capture of a hundred and twenty per cent. In the months the S and P rose, we rose twenty per</a:t>
            </a:r>
          </a:p>
          <a:p>
            <a:r>
              <a:t>cent more than it did. Downside capture of ninety-seven, so in the months it fell, we fell slightly</a:t>
            </a:r>
          </a:p>
          <a:p>
            <a:r>
              <a:t>less.</a:t>
            </a:r>
          </a:p>
          <a:p/>
          <a:p>
            <a:r>
              <a:t>That asymmetry is the engine of the whole result. You don't have to be right about market direction</a:t>
            </a:r>
          </a:p>
          <a:p>
            <a:r>
              <a:t>to compound at eighteen per cent a year, as long as you participate disproportionately in the good</a:t>
            </a:r>
          </a:p>
          <a:p>
            <a:r>
              <a:t>months and only proportionately in the bad ones.</a:t>
            </a:r>
          </a:p>
          <a:p/>
          <a:p>
            <a:r>
              <a:t>Now contrast the NASDAQ-100. It captured a hundred and eighteen per cent of the upside, very</a:t>
            </a:r>
          </a:p>
          <a:p>
            <a:r>
              <a:t>similar to us, but a hundred and eight per cent of the downside. More of the gains, and more of the</a:t>
            </a:r>
          </a:p>
          <a:p>
            <a:r>
              <a:t>losses. That eleven-point difference, compounded over seventy-two months, is essentially the entire</a:t>
            </a:r>
          </a:p>
          <a:p>
            <a:r>
              <a:t>gap between our two hundred and seventy-nine million and its two hundred and thirty-five.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accountability slide. Ten commitments, marked against what actually happened.</a:t>
            </a:r>
          </a:p>
          <a:p/>
          <a:p>
            <a:r>
              <a:t>We said eight to ten per cent net a year and delivered seventeen and a half. We said fifty-five to</a:t>
            </a:r>
          </a:p>
          <a:p>
            <a:r>
              <a:t>seventy per cent cumulative and delivered a hundred and sixty-three.</a:t>
            </a:r>
          </a:p>
          <a:p/>
          <a:p>
            <a:r>
              <a:t>Then the process commitments, which matter just as much. All eleven sectors held through all</a:t>
            </a:r>
          </a:p>
          <a:p>
            <a:r>
              <a:t>twenty-four quarters. All twenty-four rebalances executed on schedule. The largest drift we ever ran</a:t>
            </a:r>
          </a:p>
          <a:p>
            <a:r>
              <a:t>was two point nine points, comfortably inside our five-point threshold, so the drift rule never had</a:t>
            </a:r>
          </a:p>
          <a:p>
            <a:r>
              <a:t>to fire. And the mid-life review was delivered at the end of 2019.</a:t>
            </a:r>
          </a:p>
          <a:p/>
          <a:p>
            <a:r>
              <a:t>Ten commitments. Four exceeded, six met, none missed.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Gross, the fund compounded at eighteen point seven per cent. Our management fee is ninety basis</a:t>
            </a:r>
          </a:p>
          <a:p>
            <a:r>
              <a:t>points a year, flat.</a:t>
            </a:r>
          </a:p>
          <a:p/>
          <a:p>
            <a:r>
              <a:t>The performance fee is where the structure earns its keep. We charge ten per cent of returns above</a:t>
            </a:r>
          </a:p>
          <a:p>
            <a:r>
              <a:t>the hurdle, and our hurdle is the NASDAQ-100 rather than zero. Because that benchmark itself</a:t>
            </a:r>
          </a:p>
          <a:p>
            <a:r>
              <a:t>returned fifteen point three per cent a year, we only cleared it by two and a half points, so the</a:t>
            </a:r>
          </a:p>
          <a:p>
            <a:r>
              <a:t>performance fee comes out at twenty-five basis points instead of the one point eight per cent a</a:t>
            </a:r>
          </a:p>
          <a:p>
            <a:r>
              <a:t>zero-hurdle fund would have charged.</a:t>
            </a:r>
          </a:p>
          <a:p/>
          <a:p>
            <a:r>
              <a:t>Total load, one point one five per cent a year. Net to you, seventeen point five one per cent a</a:t>
            </a:r>
          </a:p>
          <a:p>
            <a:r>
              <a:t>year, or a hundred and sixty-three per cent over the six years.</a:t>
            </a:r>
          </a:p>
          <a:p/>
          <a:p>
            <a:r>
              <a:t>And here's the honest alternative. A NASDAQ-100 fund at twenty basis points would have cost five</a:t>
            </a:r>
          </a:p>
          <a:p>
            <a:r>
              <a:t>point seven million less and returned two hundred and thirty-five million. We returned two hundred</a:t>
            </a:r>
          </a:p>
          <a:p>
            <a:r>
              <a:t>and seventy-nine. So after paying us every dollar of fee, you're thirty-eight point seven million</a:t>
            </a:r>
          </a:p>
          <a:p>
            <a:r>
              <a:t>ahead of the cheap passive option. That's the only fee test that matters, and we pass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should this fund continue?</a:t>
            </a:r>
          </a:p>
          <a:p/>
          <a:p>
            <a:r>
              <a:t>My recommendation is yes, and I'll give you three specific reasons rather than a general expression</a:t>
            </a:r>
          </a:p>
          <a:p>
            <a:r>
              <a:t>of confidence.</a:t>
            </a:r>
          </a:p>
          <a:p/>
          <a:p>
            <a:r>
              <a:t>First, the alpha is real and I believe it's repeatable. Six point six per cent a year that five</a:t>
            </a:r>
          </a:p>
          <a:p>
            <a:r>
              <a:t>established risk factors can't explain, and ninety-four per cent of it from selection rather than</a:t>
            </a:r>
          </a:p>
          <a:p>
            <a:r>
              <a:t>sector timing. Selection skill is a process. Macro timing is a guess.</a:t>
            </a:r>
          </a:p>
          <a:p/>
          <a:p>
            <a:r>
              <a:t>Second, the thesis isn't exhausted. Cloud is still a minority of enterprise IT spend, six years</a:t>
            </a:r>
          </a:p>
          <a:p>
            <a:r>
              <a:t>after we argued it was early. 2022 repriced the multiple, not the demand.</a:t>
            </a:r>
          </a:p>
          <a:p/>
          <a:p>
            <a:r>
              <a:t>Third, the construction discipline was tested by the two hardest events in twenty years, and it</a:t>
            </a:r>
          </a:p>
          <a:p>
            <a:r>
              <a:t>held.</a:t>
            </a:r>
          </a:p>
          <a:p/>
          <a:p>
            <a:r>
              <a:t>But I'd be doing you a disservice if I asked for renewal without saying what I'd change. We need to</a:t>
            </a:r>
          </a:p>
          <a:p>
            <a:r>
              <a:t>widen our tail-scenario assumptions, because we said a recession would cost four per cent and it</a:t>
            </a:r>
          </a:p>
          <a:p>
            <a:r>
              <a:t>cost twenty-two and a half. We need a valuation discipline on entry, because Illumina was a correct</a:t>
            </a:r>
          </a:p>
          <a:p>
            <a:r>
              <a:t>thesis bought with no margin of safety. And I'd ask you to consider raising the position cap from</a:t>
            </a:r>
          </a:p>
          <a:p>
            <a:r>
              <a:t>sixteen to twenty per cent, because that cap forced us to trim Microsoft, our single best decision,</a:t>
            </a:r>
          </a:p>
          <a:p>
            <a:r>
              <a:t>at nineteen of the twenty-four rebalances. The sector floors I'd leave completely untouched,</a:t>
            </a:r>
          </a:p>
          <a:p>
            <a:r>
              <a:t>because those are what saved us.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that's the review.</a:t>
            </a:r>
          </a:p>
          <a:p/>
          <a:p>
            <a:r>
              <a:t>Three sentences to summarise. A hundred million dollars became two hundred and seventy-nine</a:t>
            </a:r>
          </a:p>
          <a:p>
            <a:r>
              <a:t>million. We did it with a shallower drawdown than our own benchmark and a higher Sharpe ratio than</a:t>
            </a:r>
          </a:p>
          <a:p>
            <a:r>
              <a:t>any comparator I could construct. And after controlling for every standard risk factor, six point</a:t>
            </a:r>
          </a:p>
          <a:p>
            <a:r>
              <a:t>six per cent a year remains unexplained by anything except the decisions we made.</a:t>
            </a:r>
          </a:p>
          <a:p/>
          <a:p>
            <a:r>
              <a:t>I'm recommending the fund continues, with the three mandate changes I've set out.</a:t>
            </a:r>
          </a:p>
          <a:p/>
          <a:p>
            <a:r>
              <a:t>Happy to take questions, and there's a substantial appendix if you want to go deeper. Thank you for</a:t>
            </a:r>
          </a:p>
          <a:p>
            <a:r>
              <a:t>six years of patient capital.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so anyone can reproduce every number in the deck.</a:t>
            </a:r>
          </a:p>
          <a:p/>
          <a:p>
            <a:r>
              <a:t>Two points I'd flag if challenged. The benchmarks first. I've used the QQQ and SPY funds rather</a:t>
            </a:r>
          </a:p>
          <a:p>
            <a:r>
              <a:t>than the raw index levels, because the raw series are price-only and exclude dividends. Comparing</a:t>
            </a:r>
          </a:p>
          <a:p>
            <a:r>
              <a:t>our dividend-inclusive return against a price-only index would have flattered us by roughly two per</a:t>
            </a:r>
          </a:p>
          <a:p>
            <a:r>
              <a:t>cent a year. Using the funds makes it like-for-like, and investable.</a:t>
            </a:r>
          </a:p>
          <a:p/>
          <a:p>
            <a:r>
              <a:t>Second, what's excluded. These returns are gross of transaction costs and taxes. With twenty-four</a:t>
            </a:r>
          </a:p>
          <a:p>
            <a:r>
              <a:t>rebalances of eleven very liquid US names, realistic costs are a few basis points a year. That's</a:t>
            </a:r>
          </a:p>
          <a:p>
            <a:r>
              <a:t>immaterial at this scale, but I'd rather state it than have you discover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metric table if you want to interrogate a specific number.</a:t>
            </a:r>
          </a:p>
          <a:p/>
          <a:p>
            <a:r>
              <a:t>The comparison I'd encourage is our column against the equal-weight column beside it, because</a:t>
            </a:r>
          </a:p>
          <a:p>
            <a:r>
              <a:t>equal weighting the same eleven stocks is a genuinely hard benchmark.</a:t>
            </a:r>
          </a:p>
          <a:p/>
          <a:p>
            <a:r>
              <a:t>We beat it on cumulative return, annualised return, Sharpe, Sortino, Treynor and information ratio.</a:t>
            </a:r>
          </a:p>
          <a:p>
            <a:r>
              <a:t>It beat us on maximum drawdown and Calmar, because it held less of the mega-caps that fell hardest</a:t>
            </a:r>
          </a:p>
          <a:p>
            <a:r>
              <a:t>in 2022.</a:t>
            </a:r>
          </a:p>
          <a:p/>
          <a:p>
            <a:r>
              <a:t>So conviction weighting added return and risk-adjusted return while costing a little on worst-case</a:t>
            </a:r>
          </a:p>
          <a:p>
            <a:r>
              <a:t>drawdown. That's a fair characterisation of what active weighting bought you.</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holding, measured on the same basis as the portfolio.</a:t>
            </a:r>
          </a:p>
          <a:p/>
          <a:p>
            <a:r>
              <a:t>The interesting part is the last two columns and the bottom row. Only Microsoft and NextEra</a:t>
            </a:r>
          </a:p>
          <a:p>
            <a:r>
              <a:t>produced a statistically significant alpha on their own. Costco misses by a whisker at one point</a:t>
            </a:r>
          </a:p>
          <a:p>
            <a:r>
              <a:t>nine five, and everything else sits below two.</a:t>
            </a:r>
          </a:p>
          <a:p/>
          <a:p>
            <a:r>
              <a:t>But the portfolio's alpha has a t-statistic of two point one nine on the CAPM and three point zero</a:t>
            </a:r>
          </a:p>
          <a:p>
            <a:r>
              <a:t>six on the five-factor model. So the portfolio is more significant than almost every stock in it.</a:t>
            </a:r>
          </a:p>
          <a:p/>
          <a:p>
            <a:r>
              <a:t>That isn't a paradox, it's diversification. Combining eleven imperfectly correlated positions</a:t>
            </a:r>
          </a:p>
          <a:p>
            <a:r>
              <a:t>cancels out a lot of idiosyncratic noise while keeping the common component of the selection skill.</a:t>
            </a:r>
          </a:p>
          <a:p>
            <a:r>
              <a:t>The signal survives and much of the noise doesn't.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regression output, if you want to check the work.</a:t>
            </a:r>
          </a:p>
          <a:p/>
          <a:p>
            <a:r>
              <a:t>Read across the alpha row. Seven point two, five point nine, six point six, six point five. The</a:t>
            </a:r>
          </a:p>
          <a:p>
            <a:r>
              <a:t>alpha is stable across specifications, and that matters, because an alpha that collapses when you</a:t>
            </a:r>
          </a:p>
          <a:p>
            <a:r>
              <a:t>add a factor was never alpha. It was an unmeasured exposure.</a:t>
            </a:r>
          </a:p>
          <a:p/>
          <a:p>
            <a:r>
              <a:t>Market loading sits between one and one point zero five in every model, always with a t-statistic</a:t>
            </a:r>
          </a:p>
          <a:p>
            <a:r>
              <a:t>above fifteen. Size and value are significantly negative everywhere, which confirms the large-cap</a:t>
            </a:r>
          </a:p>
          <a:p>
            <a:r>
              <a:t>growth profile. Profitability, investment and momentum are all insignificant, and that's a</a:t>
            </a:r>
          </a:p>
          <a:p>
            <a:r>
              <a:t>meaningful negative result, because it means our excess return isn't a repackaged quality factor.</a:t>
            </a:r>
          </a:p>
          <a:p/>
          <a:p>
            <a:r>
              <a:t>I've used Newey-West standard errors with four lags throughout. Ordinary errors would have given me</a:t>
            </a:r>
          </a:p>
          <a:p>
            <a:r>
              <a:t>higher t-statistics, so this is the conservative choice.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correlation matrix of monthly returns across the eleven holdings.</a:t>
            </a:r>
          </a:p>
          <a:p/>
          <a:p>
            <a:r>
              <a:t>Average pairwise correlation is zero point four zero. For eleven stocks inside a single theme,</a:t>
            </a:r>
          </a:p>
          <a:p>
            <a:r>
              <a:t>that's low.</a:t>
            </a:r>
          </a:p>
          <a:p/>
          <a:p>
            <a:r>
              <a:t>The structure is intuitive. The three platforms cluster tightly, with Microsoft and Alphabet at</a:t>
            </a:r>
          </a:p>
          <a:p>
            <a:r>
              <a:t>zero point seven four. That's the concentration risk inside tier one, and it's why the position cap</a:t>
            </a:r>
          </a:p>
          <a:p>
            <a:r>
              <a:t>mattered.</a:t>
            </a:r>
          </a:p>
          <a:p/>
          <a:p>
            <a:r>
              <a:t>At the other end are the genuine diversifiers. NextEra against Schlumberger is minus zero point one</a:t>
            </a:r>
          </a:p>
          <a:p>
            <a:r>
              <a:t>two, so they're actually negatively correlated. That corner of the matrix is where the ballast</a:t>
            </a:r>
          </a:p>
          <a:p>
            <a:r>
              <a:t>lives, and those low correlations produced our ten-point drawdown advantage in 2022.</a:t>
            </a:r>
          </a:p>
          <a:p/>
          <a:p>
            <a:r>
              <a:t>It's also why the portfolio's volatility of nineteen per cent sits so far below the average</a:t>
            </a:r>
          </a:p>
          <a:p>
            <a:r>
              <a:t>constituent volatility of about twenty-nine.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classic risk-return scatter, with each bubble sized by target weight.</a:t>
            </a:r>
          </a:p>
          <a:p/>
          <a:p>
            <a:r>
              <a:t>The important feature is where the star sits, up and to the left of almost every individual</a:t>
            </a:r>
          </a:p>
          <a:p>
            <a:r>
              <a:t>holding. Only Microsoft, NextEra and Costco sit above the portfolio on return, and all three did it</a:t>
            </a:r>
          </a:p>
          <a:p>
            <a:r>
              <a:t>at comparable or higher volatility. Meanwhile Schlumberger is out at forty-nine per cent volatility</a:t>
            </a:r>
          </a:p>
          <a:p>
            <a:r>
              <a:t>and Albemarle at forty-four.</a:t>
            </a:r>
          </a:p>
          <a:p/>
          <a:p>
            <a:r>
              <a:t>The portfolio ran lower volatility than every one of its eleven constituents. Combining assets that</a:t>
            </a:r>
          </a:p>
          <a:p>
            <a:r>
              <a:t>individually carried twenty to forty-nine per cent volatility produced something carrying nineteen.</a:t>
            </a:r>
          </a:p>
          <a:p>
            <a:r>
              <a:t>That's the argument for diversification in one picture.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ex-post efficient frontier, built from the eleven stocks we owned. Nobody could have</a:t>
            </a:r>
          </a:p>
          <a:p>
            <a:r>
              <a:t>known this frontier in advance. It only exists because we now know the answers.</a:t>
            </a:r>
          </a:p>
          <a:p/>
          <a:p>
            <a:r>
              <a:t>The fund sits below it and slightly to the right, which is where a real portfolio should sit. The</a:t>
            </a:r>
          </a:p>
          <a:p>
            <a:r>
              <a:t>vertical distance at our realised volatility is about seven points of annual return, and that's the</a:t>
            </a:r>
          </a:p>
          <a:p>
            <a:r>
              <a:t>price of not having known the future.</a:t>
            </a:r>
          </a:p>
          <a:p/>
          <a:p>
            <a:r>
              <a:t>What I find more informative is that the fund, the equal-weight portfolio and the ex-ante optimiser</a:t>
            </a:r>
          </a:p>
          <a:p>
            <a:r>
              <a:t>all cluster in the same small region. Three different construction philosophies converged on almost</a:t>
            </a:r>
          </a:p>
          <a:p>
            <a:r>
              <a:t>the same outcome, which tells you the dominant driver was which eleven stocks we chose, not how we</a:t>
            </a:r>
          </a:p>
          <a:p>
            <a:r>
              <a:t>weighted them.</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supporting exhibits here.</a:t>
            </a:r>
          </a:p>
          <a:p/>
          <a:p>
            <a:r>
              <a:t>The box plot compares the four distributions directly. Our median monthly return is visibly higher</a:t>
            </a:r>
          </a:p>
          <a:p>
            <a:r>
              <a:t>than both benchmarks, our interquartile range is tighter than the NASDAQ-100's, and our extremes</a:t>
            </a:r>
          </a:p>
          <a:p>
            <a:r>
              <a:t>are contained relative to it.</a:t>
            </a:r>
          </a:p>
          <a:p/>
          <a:p>
            <a:r>
              <a:t>The chart underneath shows dispersion across the eleven holdings. The range runs from minus</a:t>
            </a:r>
          </a:p>
          <a:p>
            <a:r>
              <a:t>twenty-four per cent to plus three hundred and nineteen, inside an eleven-stock portfolio, in a</a:t>
            </a:r>
          </a:p>
          <a:p>
            <a:r>
              <a:t>single theme, over six years.</a:t>
            </a:r>
          </a:p>
          <a:p/>
          <a:p>
            <a:r>
              <a:t>That dispersion is exactly why the position cap mattered. Suppose we'd been permitted a thirty per</a:t>
            </a:r>
          </a:p>
          <a:p>
            <a:r>
              <a:t>cent position and had put it into Illumina rather than Microsoft. In 2016 the genomics thesis was</a:t>
            </a:r>
          </a:p>
          <a:p>
            <a:r>
              <a:t>every bit as compelling as the cloud thesis, so that was a live possibility. This would be a very</a:t>
            </a:r>
          </a:p>
          <a:p>
            <a:r>
              <a:t>different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stability checks.</a:t>
            </a:r>
          </a:p>
          <a:p/>
          <a:p>
            <a:r>
              <a:t>The top chart is our rolling three-year market beta. It stays inside a narrow band for the entire</a:t>
            </a:r>
          </a:p>
          <a:p>
            <a:r>
              <a:t>sample, between about zero point nine seven and one point zero eight. So we never drifted into</a:t>
            </a:r>
          </a:p>
          <a:p>
            <a:r>
              <a:t>higher-beta positioning as markets rose, and that's a common and destructive pattern in growth</a:t>
            </a:r>
          </a:p>
          <a:p>
            <a:r>
              <a:t>funds.</a:t>
            </a:r>
          </a:p>
          <a:p/>
          <a:p>
            <a:r>
              <a:t>The chart underneath is rolling one-year volatility. You can see the shape of the period in it. Low</a:t>
            </a:r>
          </a:p>
          <a:p>
            <a:r>
              <a:t>volatility through 2017, the COVID spike, a calm 2021, then the sustained rise through 2022.</a:t>
            </a:r>
          </a:p>
          <a:p/>
          <a:p>
            <a:r>
              <a:t>The detail that matters is that our line sits below the NASDAQ-100's for most of the sample. We ran</a:t>
            </a:r>
          </a:p>
          <a:p>
            <a:r>
              <a:t>less total risk than our own benchmark while delivering more return, which is, in one sentence, the</a:t>
            </a:r>
          </a:p>
          <a:p>
            <a:r>
              <a:t>argument this whole deck has been making.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pieces of supporting detail.</a:t>
            </a:r>
          </a:p>
          <a:p/>
          <a:p>
            <a:r>
              <a:t>The chart is the month-of-year seasonality I mentioned earlier. July strongest at plus five point</a:t>
            </a:r>
          </a:p>
          <a:p>
            <a:r>
              <a:t>eight per cent, September weakest at minus two point eight. Six observations per month, so treat it</a:t>
            </a:r>
          </a:p>
          <a:p>
            <a:r>
              <a:t>as description rather than signal.</a:t>
            </a:r>
          </a:p>
          <a:p/>
          <a:p>
            <a:r>
              <a:t>The table is the fee benchmarking, and this is the comparison I'd want if I were sitting where you</a:t>
            </a:r>
          </a:p>
          <a:p>
            <a:r>
              <a:t>are. A passive S and P 500 fund costs about nine basis points and returned ninety per cent. A</a:t>
            </a:r>
          </a:p>
          <a:p>
            <a:r>
              <a:t>NASDAQ-100 fund costs about twenty and returned a hundred and thirty-five. We cost one point one</a:t>
            </a:r>
          </a:p>
          <a:p>
            <a:r>
              <a:t>five per cent all in and returned a hundred and seventy-nine.</a:t>
            </a:r>
          </a:p>
          <a:p/>
          <a:p>
            <a:r>
              <a:t>So the arithmetic. We cost you five point seven million more than the NASDAQ fund and delivered</a:t>
            </a:r>
          </a:p>
          <a:p>
            <a:r>
              <a:t>forty-four point four million more in terminal value. You kept thirty-eight point seven million</a:t>
            </a:r>
          </a:p>
          <a:p>
            <a:r>
              <a:t>after every dollar of fee.</a:t>
            </a:r>
          </a:p>
          <a:p/>
          <a:p>
            <a:r>
              <a:t>I put this in the appendix deliberately, because a manager should be prepared to defend a fee on</a:t>
            </a:r>
          </a:p>
          <a:p>
            <a:r>
              <a:t>request, not only when it flatters them.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references and declarations.</a:t>
            </a:r>
          </a:p>
          <a:p/>
          <a:p>
            <a:r>
              <a:t>The methodology follows the standard literature throughout. Jensen for alpha, Sharpe, Sortino and</a:t>
            </a:r>
          </a:p>
          <a:p>
            <a:r>
              <a:t>Treynor for the risk-adjusted ratios, Fama and French for the factor models, Brinson for</a:t>
            </a:r>
          </a:p>
          <a:p>
            <a:r>
              <a:t>attribution, Markowitz for the frontier, and Newey and West for the standard-error correction.</a:t>
            </a:r>
          </a:p>
          <a:p/>
          <a:p>
            <a:r>
              <a:t>On AI use, this assessment is classified as AI-Supported, and I've declared the tools and, more</a:t>
            </a:r>
          </a:p>
          <a:p>
            <a:r>
              <a:t>importantly, the division of labour. The analytical scope, the choice of benchmarks and factor</a:t>
            </a:r>
          </a:p>
          <a:p>
            <a:r>
              <a:t>models, the interpretation of every result and the recommendation are mine. Every number traces</a:t>
            </a:r>
          </a:p>
          <a:p>
            <a:r>
              <a:t>back to a reproducible calculation on primary market data, and the code and workbook accompany this</a:t>
            </a:r>
          </a:p>
          <a:p>
            <a:r>
              <a:t>submission.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3B38"/>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1115568"/>
            <a:ext cx="8229600" cy="365760"/>
          </a:xfrm>
          <a:prstGeom prst="rect">
            <a:avLst/>
          </a:prstGeom>
          <a:noFill/>
        </p:spPr>
        <p:txBody>
          <a:bodyPr wrap="square" lIns="0" rIns="0" tIns="0" bIns="0" anchor="t">
            <a:spAutoFit/>
          </a:bodyPr>
          <a:lstStyle/>
          <a:p>
            <a:pPr algn="l">
              <a:lnSpc>
                <a:spcPct val="105000"/>
              </a:lnSpc>
            </a:pPr>
            <a:r>
              <a:rPr sz="1200" b="0" i="0" spc="340">
                <a:solidFill>
                  <a:srgbClr val="C4551A"/>
                </a:solidFill>
                <a:latin typeface="Corbel"/>
              </a:rPr>
              <a:t>NORTHPOINT</a:t>
            </a:r>
          </a:p>
        </p:txBody>
      </p:sp>
      <p:sp>
        <p:nvSpPr>
          <p:cNvPr id="4" name="TextBox 3"/>
          <p:cNvSpPr txBox="1"/>
          <p:nvPr/>
        </p:nvSpPr>
        <p:spPr>
          <a:xfrm>
            <a:off x="960120" y="1591056"/>
            <a:ext cx="7863840" cy="1920240"/>
          </a:xfrm>
          <a:prstGeom prst="rect">
            <a:avLst/>
          </a:prstGeom>
          <a:noFill/>
        </p:spPr>
        <p:txBody>
          <a:bodyPr wrap="square" lIns="0" rIns="0" tIns="0" bIns="0" anchor="t">
            <a:spAutoFit/>
          </a:bodyPr>
          <a:lstStyle/>
          <a:p>
            <a:pPr algn="l">
              <a:lnSpc>
                <a:spcPct val="106000"/>
              </a:lnSpc>
            </a:pPr>
            <a:r>
              <a:rPr sz="5000" b="0" i="0">
                <a:solidFill>
                  <a:srgbClr val="F2ECDE"/>
                </a:solidFill>
                <a:latin typeface="Georgia"/>
              </a:rPr>
              <a:t>Northpoint Digital</a:t>
            </a:r>
          </a:p>
          <a:p>
            <a:pPr algn="l">
              <a:lnSpc>
                <a:spcPct val="106000"/>
              </a:lnSpc>
            </a:pPr>
            <a:r>
              <a:rPr sz="5000" b="0" i="0">
                <a:solidFill>
                  <a:srgbClr val="F2ECDE"/>
                </a:solidFill>
                <a:latin typeface="Georgia"/>
              </a:rPr>
              <a:t>Innovation Fund</a:t>
            </a:r>
          </a:p>
        </p:txBody>
      </p:sp>
      <p:sp>
        <p:nvSpPr>
          <p:cNvPr id="5" name="Rectangle 4"/>
          <p:cNvSpPr/>
          <p:nvPr/>
        </p:nvSpPr>
        <p:spPr>
          <a:xfrm>
            <a:off x="1024128" y="3529584"/>
            <a:ext cx="1371600" cy="2743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3858768"/>
            <a:ext cx="7680960" cy="914400"/>
          </a:xfrm>
          <a:prstGeom prst="rect">
            <a:avLst/>
          </a:prstGeom>
          <a:noFill/>
        </p:spPr>
        <p:txBody>
          <a:bodyPr wrap="square" lIns="0" rIns="0" tIns="0" bIns="0" anchor="t">
            <a:spAutoFit/>
          </a:bodyPr>
          <a:lstStyle/>
          <a:p>
            <a:pPr algn="l">
              <a:lnSpc>
                <a:spcPct val="138000"/>
              </a:lnSpc>
            </a:pPr>
            <a:r>
              <a:rPr sz="1450" b="0" i="0">
                <a:solidFill>
                  <a:srgbClr val="A9BEB8"/>
                </a:solidFill>
                <a:latin typeface="Corbel"/>
              </a:rPr>
              <a:t>Six-year performance review  ·  January 2017 – December 2022</a:t>
            </a:r>
          </a:p>
          <a:p>
            <a:pPr algn="l">
              <a:lnSpc>
                <a:spcPct val="138000"/>
              </a:lnSpc>
            </a:pPr>
            <a:r>
              <a:rPr sz="1450" b="0" i="0">
                <a:solidFill>
                  <a:srgbClr val="A9BEB8"/>
                </a:solidFill>
                <a:latin typeface="Corbel"/>
              </a:rPr>
              <a:t>Final report to investors  ·  New York · San Francisco · London · Hong Kong · Shanghai · Sydney</a:t>
            </a:r>
          </a:p>
        </p:txBody>
      </p:sp>
      <p:sp>
        <p:nvSpPr>
          <p:cNvPr id="7" name="TextBox 6"/>
          <p:cNvSpPr txBox="1"/>
          <p:nvPr/>
        </p:nvSpPr>
        <p:spPr>
          <a:xfrm>
            <a:off x="987552" y="5358384"/>
            <a:ext cx="7680960" cy="1005840"/>
          </a:xfrm>
          <a:prstGeom prst="rect">
            <a:avLst/>
          </a:prstGeom>
          <a:noFill/>
        </p:spPr>
        <p:txBody>
          <a:bodyPr wrap="square" lIns="0" rIns="0" tIns="0" bIns="0" anchor="t">
            <a:spAutoFit/>
          </a:bodyPr>
          <a:lstStyle/>
          <a:p>
            <a:pPr algn="l">
              <a:lnSpc>
                <a:spcPct val="138000"/>
              </a:lnSpc>
            </a:pPr>
            <a:r>
              <a:rPr sz="1150" b="0" i="0">
                <a:solidFill>
                  <a:srgbClr val="7E9994"/>
                </a:solidFill>
                <a:latin typeface="Corbel"/>
              </a:rPr>
              <a:t>Callum O'Connor  ·  Portfolio Manager</a:t>
            </a:r>
          </a:p>
          <a:p>
            <a:pPr algn="l">
              <a:lnSpc>
                <a:spcPct val="138000"/>
              </a:lnSpc>
            </a:pPr>
            <a:r>
              <a:rPr sz="1150" b="0" i="0">
                <a:solidFill>
                  <a:srgbClr val="7E9994"/>
                </a:solidFill>
                <a:latin typeface="Corbel"/>
              </a:rPr>
              <a:t>Student ID 14053836  ·  FINC13-303 Portfolio Analysis and Investments  ·  Bond University</a:t>
            </a:r>
          </a:p>
        </p:txBody>
      </p:sp>
      <p:sp>
        <p:nvSpPr>
          <p:cNvPr id="8" name="Rectangle 7"/>
          <p:cNvSpPr/>
          <p:nvPr/>
        </p:nvSpPr>
        <p:spPr>
          <a:xfrm>
            <a:off x="9162288" y="1700784"/>
            <a:ext cx="12801" cy="2834640"/>
          </a:xfrm>
          <a:prstGeom prst="rect">
            <a:avLst/>
          </a:prstGeom>
          <a:solidFill>
            <a:srgbClr val="1B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54896" y="1755648"/>
            <a:ext cx="2377440" cy="274320"/>
          </a:xfrm>
          <a:prstGeom prst="rect">
            <a:avLst/>
          </a:prstGeom>
          <a:noFill/>
        </p:spPr>
        <p:txBody>
          <a:bodyPr wrap="square" lIns="0" rIns="0" tIns="0" bIns="0" anchor="t">
            <a:spAutoFit/>
          </a:bodyPr>
          <a:lstStyle/>
          <a:p>
            <a:pPr algn="l">
              <a:lnSpc>
                <a:spcPct val="105000"/>
              </a:lnSpc>
            </a:pPr>
            <a:r>
              <a:rPr sz="850" b="0" i="0" spc="180">
                <a:solidFill>
                  <a:srgbClr val="C4551A"/>
                </a:solidFill>
                <a:latin typeface="Corbel"/>
              </a:rPr>
              <a:t>MANDATE OUTCOME</a:t>
            </a:r>
          </a:p>
        </p:txBody>
      </p:sp>
      <p:sp>
        <p:nvSpPr>
          <p:cNvPr id="10" name="TextBox 9"/>
          <p:cNvSpPr txBox="1"/>
          <p:nvPr/>
        </p:nvSpPr>
        <p:spPr>
          <a:xfrm>
            <a:off x="9418320" y="2103120"/>
            <a:ext cx="2560320" cy="731520"/>
          </a:xfrm>
          <a:prstGeom prst="rect">
            <a:avLst/>
          </a:prstGeom>
          <a:noFill/>
        </p:spPr>
        <p:txBody>
          <a:bodyPr wrap="square" lIns="0" rIns="0" tIns="0" bIns="0" anchor="t">
            <a:spAutoFit/>
          </a:bodyPr>
          <a:lstStyle/>
          <a:p>
            <a:pPr algn="l">
              <a:lnSpc>
                <a:spcPct val="105000"/>
              </a:lnSpc>
            </a:pPr>
            <a:r>
              <a:rPr sz="4400" b="0" i="0">
                <a:solidFill>
                  <a:srgbClr val="F2ECDE"/>
                </a:solidFill>
                <a:latin typeface="Georgia"/>
              </a:rPr>
              <a:t>$279m</a:t>
            </a:r>
          </a:p>
        </p:txBody>
      </p:sp>
      <p:sp>
        <p:nvSpPr>
          <p:cNvPr id="11" name="TextBox 10"/>
          <p:cNvSpPr txBox="1"/>
          <p:nvPr/>
        </p:nvSpPr>
        <p:spPr>
          <a:xfrm>
            <a:off x="9454896" y="2889504"/>
            <a:ext cx="2468880" cy="1554480"/>
          </a:xfrm>
          <a:prstGeom prst="rect">
            <a:avLst/>
          </a:prstGeom>
          <a:noFill/>
        </p:spPr>
        <p:txBody>
          <a:bodyPr wrap="square" lIns="0" rIns="0" tIns="0" bIns="0" anchor="t">
            <a:spAutoFit/>
          </a:bodyPr>
          <a:lstStyle/>
          <a:p>
            <a:pPr algn="l">
              <a:lnSpc>
                <a:spcPct val="142000"/>
              </a:lnSpc>
            </a:pPr>
            <a:r>
              <a:rPr sz="1150" b="0" i="0">
                <a:solidFill>
                  <a:srgbClr val="A9BEB8"/>
                </a:solidFill>
                <a:latin typeface="Corbel"/>
              </a:rPr>
              <a:t>from a $100 million mandate</a:t>
            </a:r>
          </a:p>
          <a:p>
            <a:pPr algn="l">
              <a:lnSpc>
                <a:spcPct val="142000"/>
              </a:lnSpc>
            </a:pPr>
            <a:r>
              <a:rPr sz="1150" b="0" i="0">
                <a:solidFill>
                  <a:srgbClr val="A9BEB8"/>
                </a:solidFill>
                <a:latin typeface="Corbel"/>
              </a:rPr>
              <a:t/>
            </a:r>
          </a:p>
          <a:p>
            <a:pPr algn="l">
              <a:lnSpc>
                <a:spcPct val="142000"/>
              </a:lnSpc>
            </a:pPr>
            <a:r>
              <a:rPr sz="1150" b="0" i="0">
                <a:solidFill>
                  <a:srgbClr val="A9BEB8"/>
                </a:solidFill>
                <a:latin typeface="Corbel"/>
              </a:rPr>
              <a:t>+179.2% cumulative</a:t>
            </a:r>
          </a:p>
          <a:p>
            <a:pPr algn="l">
              <a:lnSpc>
                <a:spcPct val="142000"/>
              </a:lnSpc>
            </a:pPr>
            <a:r>
              <a:rPr sz="1150" b="0" i="0">
                <a:solidFill>
                  <a:srgbClr val="A9BEB8"/>
                </a:solidFill>
                <a:latin typeface="Corbel"/>
              </a:rPr>
              <a:t>18.7% a year</a:t>
            </a:r>
          </a:p>
          <a:p>
            <a:pPr algn="l">
              <a:lnSpc>
                <a:spcPct val="142000"/>
              </a:lnSpc>
            </a:pPr>
            <a:r>
              <a:rPr sz="1150" b="0" i="0">
                <a:solidFill>
                  <a:srgbClr val="A9BEB8"/>
                </a:solidFill>
                <a:latin typeface="Corbel"/>
              </a:rPr>
              <a:t/>
            </a:r>
          </a:p>
          <a:p>
            <a:pPr algn="l">
              <a:lnSpc>
                <a:spcPct val="142000"/>
              </a:lnSpc>
            </a:pPr>
            <a:r>
              <a:rPr sz="1150" b="0" i="0">
                <a:solidFill>
                  <a:srgbClr val="A9BEB8"/>
                </a:solidFill>
                <a:latin typeface="Corbel"/>
              </a:rPr>
              <a:t>6.6% alpha, t = 3.06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02</a:t>
            </a:r>
          </a:p>
        </p:txBody>
      </p:sp>
      <p:sp>
        <p:nvSpPr>
          <p:cNvPr id="4" name="TextBox 3"/>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Agenda</a:t>
            </a:r>
          </a:p>
        </p:txBody>
      </p:sp>
      <p:sp>
        <p:nvSpPr>
          <p:cNvPr id="5" name="TextBox 4"/>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Six sections, twenty-five minutes, then questions</a:t>
            </a:r>
          </a:p>
        </p:txBody>
      </p:sp>
      <p:sp>
        <p:nvSpPr>
          <p:cNvPr id="6" name="Rectangle 5"/>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8" name="TextBox 7"/>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sp>
        <p:nvSpPr>
          <p:cNvPr id="9" name="Rectangle 8"/>
          <p:cNvSpPr/>
          <p:nvPr/>
        </p:nvSpPr>
        <p:spPr>
          <a:xfrm>
            <a:off x="1298448" y="1755648"/>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98448" y="1938528"/>
            <a:ext cx="457200" cy="365760"/>
          </a:xfrm>
          <a:prstGeom prst="rect">
            <a:avLst/>
          </a:prstGeom>
          <a:noFill/>
        </p:spPr>
        <p:txBody>
          <a:bodyPr wrap="square" lIns="0" rIns="0" tIns="0" bIns="0" anchor="t">
            <a:spAutoFit/>
          </a:bodyPr>
          <a:lstStyle/>
          <a:p>
            <a:pPr algn="l">
              <a:lnSpc>
                <a:spcPct val="105000"/>
              </a:lnSpc>
            </a:pPr>
            <a:r>
              <a:rPr sz="2000" b="0" i="0">
                <a:solidFill>
                  <a:srgbClr val="C4551A"/>
                </a:solidFill>
                <a:latin typeface="Georgia"/>
              </a:rPr>
              <a:t>1</a:t>
            </a:r>
          </a:p>
        </p:txBody>
      </p:sp>
      <p:sp>
        <p:nvSpPr>
          <p:cNvPr id="11" name="TextBox 10"/>
          <p:cNvSpPr txBox="1"/>
          <p:nvPr/>
        </p:nvSpPr>
        <p:spPr>
          <a:xfrm>
            <a:off x="1865376" y="1993392"/>
            <a:ext cx="3566160" cy="310896"/>
          </a:xfrm>
          <a:prstGeom prst="rect">
            <a:avLst/>
          </a:prstGeom>
          <a:noFill/>
        </p:spPr>
        <p:txBody>
          <a:bodyPr wrap="square" lIns="0" rIns="0" tIns="0" bIns="0" anchor="t">
            <a:spAutoFit/>
          </a:bodyPr>
          <a:lstStyle/>
          <a:p>
            <a:pPr algn="l">
              <a:lnSpc>
                <a:spcPct val="105000"/>
              </a:lnSpc>
            </a:pPr>
            <a:r>
              <a:rPr sz="1600" b="0" i="0">
                <a:solidFill>
                  <a:srgbClr val="16130F"/>
                </a:solidFill>
                <a:latin typeface="Georgia"/>
              </a:rPr>
              <a:t>Where we started</a:t>
            </a:r>
          </a:p>
        </p:txBody>
      </p:sp>
      <p:sp>
        <p:nvSpPr>
          <p:cNvPr id="12" name="TextBox 11"/>
          <p:cNvSpPr txBox="1"/>
          <p:nvPr/>
        </p:nvSpPr>
        <p:spPr>
          <a:xfrm>
            <a:off x="5614416" y="2029968"/>
            <a:ext cx="5955487" cy="310896"/>
          </a:xfrm>
          <a:prstGeom prst="rect">
            <a:avLst/>
          </a:prstGeom>
          <a:noFill/>
        </p:spPr>
        <p:txBody>
          <a:bodyPr wrap="square" lIns="0" rIns="0" tIns="0" bIns="0" anchor="t">
            <a:spAutoFit/>
          </a:bodyPr>
          <a:lstStyle/>
          <a:p>
            <a:pPr algn="l">
              <a:lnSpc>
                <a:spcPct val="105000"/>
              </a:lnSpc>
            </a:pPr>
            <a:r>
              <a:rPr sz="1150" b="0" i="0">
                <a:solidFill>
                  <a:srgbClr val="4A443C"/>
                </a:solidFill>
                <a:latin typeface="Corbel"/>
              </a:rPr>
              <a:t>The mandate, the theme, and how the fund was actually run</a:t>
            </a:r>
          </a:p>
        </p:txBody>
      </p:sp>
      <p:sp>
        <p:nvSpPr>
          <p:cNvPr id="13" name="Rectangle 12"/>
          <p:cNvSpPr/>
          <p:nvPr/>
        </p:nvSpPr>
        <p:spPr>
          <a:xfrm>
            <a:off x="1298448" y="2487168"/>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8448" y="2670048"/>
            <a:ext cx="457200" cy="365760"/>
          </a:xfrm>
          <a:prstGeom prst="rect">
            <a:avLst/>
          </a:prstGeom>
          <a:noFill/>
        </p:spPr>
        <p:txBody>
          <a:bodyPr wrap="square" lIns="0" rIns="0" tIns="0" bIns="0" anchor="t">
            <a:spAutoFit/>
          </a:bodyPr>
          <a:lstStyle/>
          <a:p>
            <a:pPr algn="l">
              <a:lnSpc>
                <a:spcPct val="105000"/>
              </a:lnSpc>
            </a:pPr>
            <a:r>
              <a:rPr sz="2000" b="0" i="0">
                <a:solidFill>
                  <a:srgbClr val="C4551A"/>
                </a:solidFill>
                <a:latin typeface="Georgia"/>
              </a:rPr>
              <a:t>2</a:t>
            </a:r>
          </a:p>
        </p:txBody>
      </p:sp>
      <p:sp>
        <p:nvSpPr>
          <p:cNvPr id="15" name="TextBox 14"/>
          <p:cNvSpPr txBox="1"/>
          <p:nvPr/>
        </p:nvSpPr>
        <p:spPr>
          <a:xfrm>
            <a:off x="1865376" y="2724912"/>
            <a:ext cx="3566160" cy="310896"/>
          </a:xfrm>
          <a:prstGeom prst="rect">
            <a:avLst/>
          </a:prstGeom>
          <a:noFill/>
        </p:spPr>
        <p:txBody>
          <a:bodyPr wrap="square" lIns="0" rIns="0" tIns="0" bIns="0" anchor="t">
            <a:spAutoFit/>
          </a:bodyPr>
          <a:lstStyle/>
          <a:p>
            <a:pPr algn="l">
              <a:lnSpc>
                <a:spcPct val="105000"/>
              </a:lnSpc>
            </a:pPr>
            <a:r>
              <a:rPr sz="1600" b="0" i="0">
                <a:solidFill>
                  <a:srgbClr val="16130F"/>
                </a:solidFill>
                <a:latin typeface="Georgia"/>
              </a:rPr>
              <a:t>The economy we lived through</a:t>
            </a:r>
          </a:p>
        </p:txBody>
      </p:sp>
      <p:sp>
        <p:nvSpPr>
          <p:cNvPr id="16" name="TextBox 15"/>
          <p:cNvSpPr txBox="1"/>
          <p:nvPr/>
        </p:nvSpPr>
        <p:spPr>
          <a:xfrm>
            <a:off x="5614416" y="2761488"/>
            <a:ext cx="5955487" cy="310896"/>
          </a:xfrm>
          <a:prstGeom prst="rect">
            <a:avLst/>
          </a:prstGeom>
          <a:noFill/>
        </p:spPr>
        <p:txBody>
          <a:bodyPr wrap="square" lIns="0" rIns="0" tIns="0" bIns="0" anchor="t">
            <a:spAutoFit/>
          </a:bodyPr>
          <a:lstStyle/>
          <a:p>
            <a:pPr algn="l">
              <a:lnSpc>
                <a:spcPct val="105000"/>
              </a:lnSpc>
            </a:pPr>
            <a:r>
              <a:rPr sz="1150" b="0" i="0">
                <a:solidFill>
                  <a:srgbClr val="4A443C"/>
                </a:solidFill>
                <a:latin typeface="Corbel"/>
              </a:rPr>
              <a:t>Six years, three regimes, and how our 2016 scenarios held up</a:t>
            </a:r>
          </a:p>
        </p:txBody>
      </p:sp>
      <p:sp>
        <p:nvSpPr>
          <p:cNvPr id="17" name="Rectangle 16"/>
          <p:cNvSpPr/>
          <p:nvPr/>
        </p:nvSpPr>
        <p:spPr>
          <a:xfrm>
            <a:off x="1298448" y="3218688"/>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98448" y="3401568"/>
            <a:ext cx="457200" cy="365760"/>
          </a:xfrm>
          <a:prstGeom prst="rect">
            <a:avLst/>
          </a:prstGeom>
          <a:noFill/>
        </p:spPr>
        <p:txBody>
          <a:bodyPr wrap="square" lIns="0" rIns="0" tIns="0" bIns="0" anchor="t">
            <a:spAutoFit/>
          </a:bodyPr>
          <a:lstStyle/>
          <a:p>
            <a:pPr algn="l">
              <a:lnSpc>
                <a:spcPct val="105000"/>
              </a:lnSpc>
            </a:pPr>
            <a:r>
              <a:rPr sz="2000" b="0" i="0">
                <a:solidFill>
                  <a:srgbClr val="C4551A"/>
                </a:solidFill>
                <a:latin typeface="Georgia"/>
              </a:rPr>
              <a:t>3</a:t>
            </a:r>
          </a:p>
        </p:txBody>
      </p:sp>
      <p:sp>
        <p:nvSpPr>
          <p:cNvPr id="19" name="TextBox 18"/>
          <p:cNvSpPr txBox="1"/>
          <p:nvPr/>
        </p:nvSpPr>
        <p:spPr>
          <a:xfrm>
            <a:off x="1865376" y="3456432"/>
            <a:ext cx="3566160" cy="310896"/>
          </a:xfrm>
          <a:prstGeom prst="rect">
            <a:avLst/>
          </a:prstGeom>
          <a:noFill/>
        </p:spPr>
        <p:txBody>
          <a:bodyPr wrap="square" lIns="0" rIns="0" tIns="0" bIns="0" anchor="t">
            <a:spAutoFit/>
          </a:bodyPr>
          <a:lstStyle/>
          <a:p>
            <a:pPr algn="l">
              <a:lnSpc>
                <a:spcPct val="105000"/>
              </a:lnSpc>
            </a:pPr>
            <a:r>
              <a:rPr sz="1600" b="0" i="0">
                <a:solidFill>
                  <a:srgbClr val="16130F"/>
                </a:solidFill>
                <a:latin typeface="Georgia"/>
              </a:rPr>
              <a:t>What the fund returned</a:t>
            </a:r>
          </a:p>
        </p:txBody>
      </p:sp>
      <p:sp>
        <p:nvSpPr>
          <p:cNvPr id="20" name="TextBox 19"/>
          <p:cNvSpPr txBox="1"/>
          <p:nvPr/>
        </p:nvSpPr>
        <p:spPr>
          <a:xfrm>
            <a:off x="5614416" y="3493008"/>
            <a:ext cx="5955487" cy="310896"/>
          </a:xfrm>
          <a:prstGeom prst="rect">
            <a:avLst/>
          </a:prstGeom>
          <a:noFill/>
        </p:spPr>
        <p:txBody>
          <a:bodyPr wrap="square" lIns="0" rIns="0" tIns="0" bIns="0" anchor="t">
            <a:spAutoFit/>
          </a:bodyPr>
          <a:lstStyle/>
          <a:p>
            <a:pPr algn="l">
              <a:lnSpc>
                <a:spcPct val="105000"/>
              </a:lnSpc>
            </a:pPr>
            <a:r>
              <a:rPr sz="1150" b="0" i="0">
                <a:solidFill>
                  <a:srgbClr val="4A443C"/>
                </a:solidFill>
                <a:latin typeface="Corbel"/>
              </a:rPr>
              <a:t>Wealth created, benchmarked, and stress-tested through COVID and 2022</a:t>
            </a:r>
          </a:p>
        </p:txBody>
      </p:sp>
      <p:sp>
        <p:nvSpPr>
          <p:cNvPr id="21" name="Rectangle 20"/>
          <p:cNvSpPr/>
          <p:nvPr/>
        </p:nvSpPr>
        <p:spPr>
          <a:xfrm>
            <a:off x="1298448" y="3950208"/>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98448" y="4133088"/>
            <a:ext cx="457200" cy="365760"/>
          </a:xfrm>
          <a:prstGeom prst="rect">
            <a:avLst/>
          </a:prstGeom>
          <a:noFill/>
        </p:spPr>
        <p:txBody>
          <a:bodyPr wrap="square" lIns="0" rIns="0" tIns="0" bIns="0" anchor="t">
            <a:spAutoFit/>
          </a:bodyPr>
          <a:lstStyle/>
          <a:p>
            <a:pPr algn="l">
              <a:lnSpc>
                <a:spcPct val="105000"/>
              </a:lnSpc>
            </a:pPr>
            <a:r>
              <a:rPr sz="2000" b="0" i="0">
                <a:solidFill>
                  <a:srgbClr val="C4551A"/>
                </a:solidFill>
                <a:latin typeface="Georgia"/>
              </a:rPr>
              <a:t>4</a:t>
            </a:r>
          </a:p>
        </p:txBody>
      </p:sp>
      <p:sp>
        <p:nvSpPr>
          <p:cNvPr id="23" name="TextBox 22"/>
          <p:cNvSpPr txBox="1"/>
          <p:nvPr/>
        </p:nvSpPr>
        <p:spPr>
          <a:xfrm>
            <a:off x="1865376" y="4187952"/>
            <a:ext cx="3566160" cy="310896"/>
          </a:xfrm>
          <a:prstGeom prst="rect">
            <a:avLst/>
          </a:prstGeom>
          <a:noFill/>
        </p:spPr>
        <p:txBody>
          <a:bodyPr wrap="square" lIns="0" rIns="0" tIns="0" bIns="0" anchor="t">
            <a:spAutoFit/>
          </a:bodyPr>
          <a:lstStyle/>
          <a:p>
            <a:pPr algn="l">
              <a:lnSpc>
                <a:spcPct val="105000"/>
              </a:lnSpc>
            </a:pPr>
            <a:r>
              <a:rPr sz="1600" b="0" i="0">
                <a:solidFill>
                  <a:srgbClr val="16130F"/>
                </a:solidFill>
                <a:latin typeface="Georgia"/>
              </a:rPr>
              <a:t>How much risk we took</a:t>
            </a:r>
          </a:p>
        </p:txBody>
      </p:sp>
      <p:sp>
        <p:nvSpPr>
          <p:cNvPr id="24" name="TextBox 23"/>
          <p:cNvSpPr txBox="1"/>
          <p:nvPr/>
        </p:nvSpPr>
        <p:spPr>
          <a:xfrm>
            <a:off x="5614416" y="4224528"/>
            <a:ext cx="5955487" cy="310896"/>
          </a:xfrm>
          <a:prstGeom prst="rect">
            <a:avLst/>
          </a:prstGeom>
          <a:noFill/>
        </p:spPr>
        <p:txBody>
          <a:bodyPr wrap="square" lIns="0" rIns="0" tIns="0" bIns="0" anchor="t">
            <a:spAutoFit/>
          </a:bodyPr>
          <a:lstStyle/>
          <a:p>
            <a:pPr algn="l">
              <a:lnSpc>
                <a:spcPct val="105000"/>
              </a:lnSpc>
            </a:pPr>
            <a:r>
              <a:rPr sz="1150" b="0" i="0">
                <a:solidFill>
                  <a:srgbClr val="4A443C"/>
                </a:solidFill>
                <a:latin typeface="Corbel"/>
              </a:rPr>
              <a:t>Distribution, risk-adjusted returns, tail risk, and seasonality</a:t>
            </a:r>
          </a:p>
        </p:txBody>
      </p:sp>
      <p:sp>
        <p:nvSpPr>
          <p:cNvPr id="25" name="Rectangle 24"/>
          <p:cNvSpPr/>
          <p:nvPr/>
        </p:nvSpPr>
        <p:spPr>
          <a:xfrm>
            <a:off x="1298448" y="4681728"/>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98448" y="4864608"/>
            <a:ext cx="457200" cy="365760"/>
          </a:xfrm>
          <a:prstGeom prst="rect">
            <a:avLst/>
          </a:prstGeom>
          <a:noFill/>
        </p:spPr>
        <p:txBody>
          <a:bodyPr wrap="square" lIns="0" rIns="0" tIns="0" bIns="0" anchor="t">
            <a:spAutoFit/>
          </a:bodyPr>
          <a:lstStyle/>
          <a:p>
            <a:pPr algn="l">
              <a:lnSpc>
                <a:spcPct val="105000"/>
              </a:lnSpc>
            </a:pPr>
            <a:r>
              <a:rPr sz="2000" b="0" i="0">
                <a:solidFill>
                  <a:srgbClr val="C4551A"/>
                </a:solidFill>
                <a:latin typeface="Georgia"/>
              </a:rPr>
              <a:t>5</a:t>
            </a:r>
          </a:p>
        </p:txBody>
      </p:sp>
      <p:sp>
        <p:nvSpPr>
          <p:cNvPr id="27" name="TextBox 26"/>
          <p:cNvSpPr txBox="1"/>
          <p:nvPr/>
        </p:nvSpPr>
        <p:spPr>
          <a:xfrm>
            <a:off x="1865376" y="4919472"/>
            <a:ext cx="3566160" cy="310896"/>
          </a:xfrm>
          <a:prstGeom prst="rect">
            <a:avLst/>
          </a:prstGeom>
          <a:noFill/>
        </p:spPr>
        <p:txBody>
          <a:bodyPr wrap="square" lIns="0" rIns="0" tIns="0" bIns="0" anchor="t">
            <a:spAutoFit/>
          </a:bodyPr>
          <a:lstStyle/>
          <a:p>
            <a:pPr algn="l">
              <a:lnSpc>
                <a:spcPct val="105000"/>
              </a:lnSpc>
            </a:pPr>
            <a:r>
              <a:rPr sz="1600" b="0" i="0">
                <a:solidFill>
                  <a:srgbClr val="16130F"/>
                </a:solidFill>
                <a:latin typeface="Georgia"/>
              </a:rPr>
              <a:t>Was it skill?</a:t>
            </a:r>
          </a:p>
        </p:txBody>
      </p:sp>
      <p:sp>
        <p:nvSpPr>
          <p:cNvPr id="28" name="TextBox 27"/>
          <p:cNvSpPr txBox="1"/>
          <p:nvPr/>
        </p:nvSpPr>
        <p:spPr>
          <a:xfrm>
            <a:off x="5614416" y="4956048"/>
            <a:ext cx="5955487" cy="310896"/>
          </a:xfrm>
          <a:prstGeom prst="rect">
            <a:avLst/>
          </a:prstGeom>
          <a:noFill/>
        </p:spPr>
        <p:txBody>
          <a:bodyPr wrap="square" lIns="0" rIns="0" tIns="0" bIns="0" anchor="t">
            <a:spAutoFit/>
          </a:bodyPr>
          <a:lstStyle/>
          <a:p>
            <a:pPr algn="l">
              <a:lnSpc>
                <a:spcPct val="105000"/>
              </a:lnSpc>
            </a:pPr>
            <a:r>
              <a:rPr sz="1150" b="0" i="0">
                <a:solidFill>
                  <a:srgbClr val="4A443C"/>
                </a:solidFill>
                <a:latin typeface="Corbel"/>
              </a:rPr>
              <a:t>Jensen's alpha, factor models, attribution, and the optimised counterfactual</a:t>
            </a:r>
          </a:p>
        </p:txBody>
      </p:sp>
      <p:sp>
        <p:nvSpPr>
          <p:cNvPr id="29" name="Rectangle 28"/>
          <p:cNvSpPr/>
          <p:nvPr/>
        </p:nvSpPr>
        <p:spPr>
          <a:xfrm>
            <a:off x="1298448" y="5413248"/>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98448" y="5596128"/>
            <a:ext cx="457200" cy="365760"/>
          </a:xfrm>
          <a:prstGeom prst="rect">
            <a:avLst/>
          </a:prstGeom>
          <a:noFill/>
        </p:spPr>
        <p:txBody>
          <a:bodyPr wrap="square" lIns="0" rIns="0" tIns="0" bIns="0" anchor="t">
            <a:spAutoFit/>
          </a:bodyPr>
          <a:lstStyle/>
          <a:p>
            <a:pPr algn="l">
              <a:lnSpc>
                <a:spcPct val="105000"/>
              </a:lnSpc>
            </a:pPr>
            <a:r>
              <a:rPr sz="2000" b="0" i="0">
                <a:solidFill>
                  <a:srgbClr val="C4551A"/>
                </a:solidFill>
                <a:latin typeface="Georgia"/>
              </a:rPr>
              <a:t>6</a:t>
            </a:r>
          </a:p>
        </p:txBody>
      </p:sp>
      <p:sp>
        <p:nvSpPr>
          <p:cNvPr id="31" name="TextBox 30"/>
          <p:cNvSpPr txBox="1"/>
          <p:nvPr/>
        </p:nvSpPr>
        <p:spPr>
          <a:xfrm>
            <a:off x="1865376" y="5650992"/>
            <a:ext cx="3566160" cy="310896"/>
          </a:xfrm>
          <a:prstGeom prst="rect">
            <a:avLst/>
          </a:prstGeom>
          <a:noFill/>
        </p:spPr>
        <p:txBody>
          <a:bodyPr wrap="square" lIns="0" rIns="0" tIns="0" bIns="0" anchor="t">
            <a:spAutoFit/>
          </a:bodyPr>
          <a:lstStyle/>
          <a:p>
            <a:pPr algn="l">
              <a:lnSpc>
                <a:spcPct val="105000"/>
              </a:lnSpc>
            </a:pPr>
            <a:r>
              <a:rPr sz="1600" b="0" i="0">
                <a:solidFill>
                  <a:srgbClr val="16130F"/>
                </a:solidFill>
                <a:latin typeface="Georgia"/>
              </a:rPr>
              <a:t>The verdict</a:t>
            </a:r>
          </a:p>
        </p:txBody>
      </p:sp>
      <p:sp>
        <p:nvSpPr>
          <p:cNvPr id="32" name="TextBox 31"/>
          <p:cNvSpPr txBox="1"/>
          <p:nvPr/>
        </p:nvSpPr>
        <p:spPr>
          <a:xfrm>
            <a:off x="5614416" y="5687568"/>
            <a:ext cx="5955487" cy="310896"/>
          </a:xfrm>
          <a:prstGeom prst="rect">
            <a:avLst/>
          </a:prstGeom>
          <a:noFill/>
        </p:spPr>
        <p:txBody>
          <a:bodyPr wrap="square" lIns="0" rIns="0" tIns="0" bIns="0" anchor="t">
            <a:spAutoFit/>
          </a:bodyPr>
          <a:lstStyle/>
          <a:p>
            <a:pPr algn="l">
              <a:lnSpc>
                <a:spcPct val="105000"/>
              </a:lnSpc>
            </a:pPr>
            <a:r>
              <a:rPr sz="1150" b="0" i="0">
                <a:solidFill>
                  <a:srgbClr val="4A443C"/>
                </a:solidFill>
                <a:latin typeface="Corbel"/>
              </a:rPr>
              <a:t>Objective scorecard, fees, and our recommendation on the fund's future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03</a:t>
            </a:r>
          </a:p>
        </p:txBody>
      </p:sp>
      <p:sp>
        <p:nvSpPr>
          <p:cNvPr id="4" name="TextBox 3"/>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The six-year result</a:t>
            </a:r>
          </a:p>
        </p:txBody>
      </p:sp>
      <p:sp>
        <p:nvSpPr>
          <p:cNvPr id="5" name="TextBox 4"/>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Every figure on this slide is calculated from 72 months of dividend-adjusted total returns and is reproduced in the appendix</a:t>
            </a:r>
          </a:p>
        </p:txBody>
      </p:sp>
      <p:sp>
        <p:nvSpPr>
          <p:cNvPr id="6" name="Rectangle 5"/>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8" name="TextBox 7"/>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sp>
        <p:nvSpPr>
          <p:cNvPr id="9" name="Rectangle 8"/>
          <p:cNvSpPr/>
          <p:nvPr/>
        </p:nvSpPr>
        <p:spPr>
          <a:xfrm>
            <a:off x="1298448" y="1664208"/>
            <a:ext cx="2348407" cy="18288"/>
          </a:xfrm>
          <a:prstGeom prst="rect">
            <a:avLst/>
          </a:prstGeom>
          <a:solidFill>
            <a:srgbClr val="007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98448" y="1865376"/>
            <a:ext cx="2293543" cy="548640"/>
          </a:xfrm>
          <a:prstGeom prst="rect">
            <a:avLst/>
          </a:prstGeom>
          <a:noFill/>
        </p:spPr>
        <p:txBody>
          <a:bodyPr wrap="square" lIns="0" rIns="0" tIns="0" bIns="0" anchor="t">
            <a:spAutoFit/>
          </a:bodyPr>
          <a:lstStyle/>
          <a:p>
            <a:pPr algn="l">
              <a:lnSpc>
                <a:spcPct val="105000"/>
              </a:lnSpc>
            </a:pPr>
            <a:r>
              <a:rPr sz="2900" b="0" i="0">
                <a:solidFill>
                  <a:srgbClr val="16130F"/>
                </a:solidFill>
                <a:latin typeface="Georgia"/>
              </a:rPr>
              <a:t>+179.2%</a:t>
            </a:r>
          </a:p>
        </p:txBody>
      </p:sp>
      <p:sp>
        <p:nvSpPr>
          <p:cNvPr id="11" name="TextBox 10"/>
          <p:cNvSpPr txBox="1"/>
          <p:nvPr/>
        </p:nvSpPr>
        <p:spPr>
          <a:xfrm>
            <a:off x="1298448" y="2468880"/>
            <a:ext cx="2293543" cy="274320"/>
          </a:xfrm>
          <a:prstGeom prst="rect">
            <a:avLst/>
          </a:prstGeom>
          <a:noFill/>
        </p:spPr>
        <p:txBody>
          <a:bodyPr wrap="square" lIns="0" rIns="0" tIns="0" bIns="0" anchor="t">
            <a:spAutoFit/>
          </a:bodyPr>
          <a:lstStyle/>
          <a:p>
            <a:pPr algn="l">
              <a:lnSpc>
                <a:spcPct val="120000"/>
              </a:lnSpc>
            </a:pPr>
            <a:r>
              <a:rPr sz="850" b="1" i="0" spc="130">
                <a:solidFill>
                  <a:srgbClr val="4A443C"/>
                </a:solidFill>
                <a:latin typeface="Corbel"/>
              </a:rPr>
              <a:t>CUMULATIVE RETURN</a:t>
            </a:r>
          </a:p>
        </p:txBody>
      </p:sp>
      <p:sp>
        <p:nvSpPr>
          <p:cNvPr id="12" name="TextBox 11"/>
          <p:cNvSpPr txBox="1"/>
          <p:nvPr/>
        </p:nvSpPr>
        <p:spPr>
          <a:xfrm>
            <a:off x="1298448" y="2779776"/>
            <a:ext cx="2256967" cy="658368"/>
          </a:xfrm>
          <a:prstGeom prst="rect">
            <a:avLst/>
          </a:prstGeom>
          <a:noFill/>
        </p:spPr>
        <p:txBody>
          <a:bodyPr wrap="square" lIns="0" rIns="0" tIns="0" bIns="0" anchor="t">
            <a:spAutoFit/>
          </a:bodyPr>
          <a:lstStyle/>
          <a:p>
            <a:pPr algn="l">
              <a:lnSpc>
                <a:spcPct val="122000"/>
              </a:lnSpc>
            </a:pPr>
            <a:r>
              <a:rPr sz="900" b="0" i="0">
                <a:solidFill>
                  <a:srgbClr val="8C8478"/>
                </a:solidFill>
                <a:latin typeface="Corbel"/>
              </a:rPr>
              <a:t>$100m mandate grew to $279.2m.</a:t>
            </a:r>
          </a:p>
          <a:p>
            <a:pPr algn="l">
              <a:lnSpc>
                <a:spcPct val="122000"/>
              </a:lnSpc>
            </a:pPr>
            <a:r>
              <a:rPr sz="900" b="0" i="0">
                <a:solidFill>
                  <a:srgbClr val="8C8478"/>
                </a:solidFill>
                <a:latin typeface="Corbel"/>
              </a:rPr>
              <a:t>S&amp;P 500 returned +90.0%;</a:t>
            </a:r>
          </a:p>
          <a:p>
            <a:pPr algn="l">
              <a:lnSpc>
                <a:spcPct val="122000"/>
              </a:lnSpc>
            </a:pPr>
            <a:r>
              <a:rPr sz="900" b="0" i="0">
                <a:solidFill>
                  <a:srgbClr val="8C8478"/>
                </a:solidFill>
                <a:latin typeface="Corbel"/>
              </a:rPr>
              <a:t>NASDAQ-100 +134.7%.</a:t>
            </a:r>
          </a:p>
        </p:txBody>
      </p:sp>
      <p:sp>
        <p:nvSpPr>
          <p:cNvPr id="13" name="Rectangle 12"/>
          <p:cNvSpPr/>
          <p:nvPr/>
        </p:nvSpPr>
        <p:spPr>
          <a:xfrm>
            <a:off x="3921175" y="1664208"/>
            <a:ext cx="2348407" cy="18288"/>
          </a:xfrm>
          <a:prstGeom prst="rect">
            <a:avLst/>
          </a:prstGeom>
          <a:solidFill>
            <a:srgbClr val="007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21175" y="1865376"/>
            <a:ext cx="2293543" cy="548640"/>
          </a:xfrm>
          <a:prstGeom prst="rect">
            <a:avLst/>
          </a:prstGeom>
          <a:noFill/>
        </p:spPr>
        <p:txBody>
          <a:bodyPr wrap="square" lIns="0" rIns="0" tIns="0" bIns="0" anchor="t">
            <a:spAutoFit/>
          </a:bodyPr>
          <a:lstStyle/>
          <a:p>
            <a:pPr algn="l">
              <a:lnSpc>
                <a:spcPct val="105000"/>
              </a:lnSpc>
            </a:pPr>
            <a:r>
              <a:rPr sz="2900" b="0" i="0">
                <a:solidFill>
                  <a:srgbClr val="16130F"/>
                </a:solidFill>
                <a:latin typeface="Georgia"/>
              </a:rPr>
              <a:t>18.7%</a:t>
            </a:r>
          </a:p>
        </p:txBody>
      </p:sp>
      <p:sp>
        <p:nvSpPr>
          <p:cNvPr id="15" name="TextBox 14"/>
          <p:cNvSpPr txBox="1"/>
          <p:nvPr/>
        </p:nvSpPr>
        <p:spPr>
          <a:xfrm>
            <a:off x="3921175" y="2468880"/>
            <a:ext cx="2293543" cy="274320"/>
          </a:xfrm>
          <a:prstGeom prst="rect">
            <a:avLst/>
          </a:prstGeom>
          <a:noFill/>
        </p:spPr>
        <p:txBody>
          <a:bodyPr wrap="square" lIns="0" rIns="0" tIns="0" bIns="0" anchor="t">
            <a:spAutoFit/>
          </a:bodyPr>
          <a:lstStyle/>
          <a:p>
            <a:pPr algn="l">
              <a:lnSpc>
                <a:spcPct val="120000"/>
              </a:lnSpc>
            </a:pPr>
            <a:r>
              <a:rPr sz="850" b="1" i="0" spc="130">
                <a:solidFill>
                  <a:srgbClr val="4A443C"/>
                </a:solidFill>
                <a:latin typeface="Corbel"/>
              </a:rPr>
              <a:t>ANNUALISED RETURN</a:t>
            </a:r>
          </a:p>
        </p:txBody>
      </p:sp>
      <p:sp>
        <p:nvSpPr>
          <p:cNvPr id="16" name="TextBox 15"/>
          <p:cNvSpPr txBox="1"/>
          <p:nvPr/>
        </p:nvSpPr>
        <p:spPr>
          <a:xfrm>
            <a:off x="3921175" y="2779776"/>
            <a:ext cx="2256967" cy="658368"/>
          </a:xfrm>
          <a:prstGeom prst="rect">
            <a:avLst/>
          </a:prstGeom>
          <a:noFill/>
        </p:spPr>
        <p:txBody>
          <a:bodyPr wrap="square" lIns="0" rIns="0" tIns="0" bIns="0" anchor="t">
            <a:spAutoFit/>
          </a:bodyPr>
          <a:lstStyle/>
          <a:p>
            <a:pPr algn="l">
              <a:lnSpc>
                <a:spcPct val="122000"/>
              </a:lnSpc>
            </a:pPr>
            <a:r>
              <a:rPr sz="900" b="0" i="0">
                <a:solidFill>
                  <a:srgbClr val="8C8478"/>
                </a:solidFill>
                <a:latin typeface="Corbel"/>
              </a:rPr>
              <a:t>Against a target of 8–10% net p.a.</a:t>
            </a:r>
          </a:p>
          <a:p>
            <a:pPr algn="l">
              <a:lnSpc>
                <a:spcPct val="122000"/>
              </a:lnSpc>
            </a:pPr>
            <a:r>
              <a:rPr sz="900" b="0" i="0">
                <a:solidFill>
                  <a:srgbClr val="8C8478"/>
                </a:solidFill>
                <a:latin typeface="Corbel"/>
              </a:rPr>
              <a:t>S&amp;P 500 11.3%; NASDAQ-100 15.3%.</a:t>
            </a:r>
          </a:p>
        </p:txBody>
      </p:sp>
      <p:sp>
        <p:nvSpPr>
          <p:cNvPr id="17" name="Rectangle 16"/>
          <p:cNvSpPr/>
          <p:nvPr/>
        </p:nvSpPr>
        <p:spPr>
          <a:xfrm>
            <a:off x="6543902" y="1664208"/>
            <a:ext cx="2348407" cy="18288"/>
          </a:xfrm>
          <a:prstGeom prst="rect">
            <a:avLst/>
          </a:prstGeom>
          <a:solidFill>
            <a:srgbClr val="8A6D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3902" y="1865376"/>
            <a:ext cx="2293543" cy="548640"/>
          </a:xfrm>
          <a:prstGeom prst="rect">
            <a:avLst/>
          </a:prstGeom>
          <a:noFill/>
        </p:spPr>
        <p:txBody>
          <a:bodyPr wrap="square" lIns="0" rIns="0" tIns="0" bIns="0" anchor="t">
            <a:spAutoFit/>
          </a:bodyPr>
          <a:lstStyle/>
          <a:p>
            <a:pPr algn="l">
              <a:lnSpc>
                <a:spcPct val="105000"/>
              </a:lnSpc>
            </a:pPr>
            <a:r>
              <a:rPr sz="2900" b="0" i="0">
                <a:solidFill>
                  <a:srgbClr val="16130F"/>
                </a:solidFill>
                <a:latin typeface="Georgia"/>
              </a:rPr>
              <a:t>0.94</a:t>
            </a:r>
          </a:p>
        </p:txBody>
      </p:sp>
      <p:sp>
        <p:nvSpPr>
          <p:cNvPr id="19" name="TextBox 18"/>
          <p:cNvSpPr txBox="1"/>
          <p:nvPr/>
        </p:nvSpPr>
        <p:spPr>
          <a:xfrm>
            <a:off x="6543902" y="2468880"/>
            <a:ext cx="2293543" cy="274320"/>
          </a:xfrm>
          <a:prstGeom prst="rect">
            <a:avLst/>
          </a:prstGeom>
          <a:noFill/>
        </p:spPr>
        <p:txBody>
          <a:bodyPr wrap="square" lIns="0" rIns="0" tIns="0" bIns="0" anchor="t">
            <a:spAutoFit/>
          </a:bodyPr>
          <a:lstStyle/>
          <a:p>
            <a:pPr algn="l">
              <a:lnSpc>
                <a:spcPct val="120000"/>
              </a:lnSpc>
            </a:pPr>
            <a:r>
              <a:rPr sz="850" b="1" i="0" spc="130">
                <a:solidFill>
                  <a:srgbClr val="4A443C"/>
                </a:solidFill>
                <a:latin typeface="Corbel"/>
              </a:rPr>
              <a:t>SHARPE RATIO</a:t>
            </a:r>
          </a:p>
        </p:txBody>
      </p:sp>
      <p:sp>
        <p:nvSpPr>
          <p:cNvPr id="20" name="TextBox 19"/>
          <p:cNvSpPr txBox="1"/>
          <p:nvPr/>
        </p:nvSpPr>
        <p:spPr>
          <a:xfrm>
            <a:off x="6543902" y="2779776"/>
            <a:ext cx="2256967" cy="658368"/>
          </a:xfrm>
          <a:prstGeom prst="rect">
            <a:avLst/>
          </a:prstGeom>
          <a:noFill/>
        </p:spPr>
        <p:txBody>
          <a:bodyPr wrap="square" lIns="0" rIns="0" tIns="0" bIns="0" anchor="t">
            <a:spAutoFit/>
          </a:bodyPr>
          <a:lstStyle/>
          <a:p>
            <a:pPr algn="l">
              <a:lnSpc>
                <a:spcPct val="122000"/>
              </a:lnSpc>
            </a:pPr>
            <a:r>
              <a:rPr sz="900" b="0" i="0">
                <a:solidFill>
                  <a:srgbClr val="8C8478"/>
                </a:solidFill>
                <a:latin typeface="Corbel"/>
              </a:rPr>
              <a:t>Highest of every comparator.</a:t>
            </a:r>
          </a:p>
          <a:p>
            <a:pPr algn="l">
              <a:lnSpc>
                <a:spcPct val="122000"/>
              </a:lnSpc>
            </a:pPr>
            <a:r>
              <a:rPr sz="900" b="0" i="0">
                <a:solidFill>
                  <a:srgbClr val="8C8478"/>
                </a:solidFill>
                <a:latin typeface="Corbel"/>
              </a:rPr>
              <a:t>NASDAQ-100 0.75; S&amp;P 500 0.65.</a:t>
            </a:r>
          </a:p>
          <a:p>
            <a:pPr algn="l">
              <a:lnSpc>
                <a:spcPct val="122000"/>
              </a:lnSpc>
            </a:pPr>
            <a:r>
              <a:rPr sz="900" b="0" i="0">
                <a:solidFill>
                  <a:srgbClr val="8C8478"/>
                </a:solidFill>
                <a:latin typeface="Corbel"/>
              </a:rPr>
              <a:t>Sortino 1.51.</a:t>
            </a:r>
          </a:p>
        </p:txBody>
      </p:sp>
      <p:sp>
        <p:nvSpPr>
          <p:cNvPr id="21" name="Rectangle 20"/>
          <p:cNvSpPr/>
          <p:nvPr/>
        </p:nvSpPr>
        <p:spPr>
          <a:xfrm>
            <a:off x="9166629" y="1664208"/>
            <a:ext cx="2348407" cy="18288"/>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66629" y="1865376"/>
            <a:ext cx="2293543" cy="548640"/>
          </a:xfrm>
          <a:prstGeom prst="rect">
            <a:avLst/>
          </a:prstGeom>
          <a:noFill/>
        </p:spPr>
        <p:txBody>
          <a:bodyPr wrap="square" lIns="0" rIns="0" tIns="0" bIns="0" anchor="t">
            <a:spAutoFit/>
          </a:bodyPr>
          <a:lstStyle/>
          <a:p>
            <a:pPr algn="l">
              <a:lnSpc>
                <a:spcPct val="105000"/>
              </a:lnSpc>
            </a:pPr>
            <a:r>
              <a:rPr sz="2900" b="0" i="0">
                <a:solidFill>
                  <a:srgbClr val="16130F"/>
                </a:solidFill>
                <a:latin typeface="Georgia"/>
              </a:rPr>
              <a:t>-24.9%</a:t>
            </a:r>
          </a:p>
        </p:txBody>
      </p:sp>
      <p:sp>
        <p:nvSpPr>
          <p:cNvPr id="23" name="TextBox 22"/>
          <p:cNvSpPr txBox="1"/>
          <p:nvPr/>
        </p:nvSpPr>
        <p:spPr>
          <a:xfrm>
            <a:off x="9166629" y="2468880"/>
            <a:ext cx="2293543" cy="274320"/>
          </a:xfrm>
          <a:prstGeom prst="rect">
            <a:avLst/>
          </a:prstGeom>
          <a:noFill/>
        </p:spPr>
        <p:txBody>
          <a:bodyPr wrap="square" lIns="0" rIns="0" tIns="0" bIns="0" anchor="t">
            <a:spAutoFit/>
          </a:bodyPr>
          <a:lstStyle/>
          <a:p>
            <a:pPr algn="l">
              <a:lnSpc>
                <a:spcPct val="120000"/>
              </a:lnSpc>
            </a:pPr>
            <a:r>
              <a:rPr sz="850" b="1" i="0" spc="130">
                <a:solidFill>
                  <a:srgbClr val="4A443C"/>
                </a:solidFill>
                <a:latin typeface="Corbel"/>
              </a:rPr>
              <a:t>MAXIMUM DRAWDOWN</a:t>
            </a:r>
          </a:p>
        </p:txBody>
      </p:sp>
      <p:sp>
        <p:nvSpPr>
          <p:cNvPr id="24" name="TextBox 23"/>
          <p:cNvSpPr txBox="1"/>
          <p:nvPr/>
        </p:nvSpPr>
        <p:spPr>
          <a:xfrm>
            <a:off x="9166629" y="2779776"/>
            <a:ext cx="2256967" cy="658368"/>
          </a:xfrm>
          <a:prstGeom prst="rect">
            <a:avLst/>
          </a:prstGeom>
          <a:noFill/>
        </p:spPr>
        <p:txBody>
          <a:bodyPr wrap="square" lIns="0" rIns="0" tIns="0" bIns="0" anchor="t">
            <a:spAutoFit/>
          </a:bodyPr>
          <a:lstStyle/>
          <a:p>
            <a:pPr algn="l">
              <a:lnSpc>
                <a:spcPct val="122000"/>
              </a:lnSpc>
            </a:pPr>
            <a:r>
              <a:rPr sz="900" b="0" i="0">
                <a:solidFill>
                  <a:srgbClr val="8C8478"/>
                </a:solidFill>
                <a:latin typeface="Corbel"/>
              </a:rPr>
              <a:t>Shallower than our own benchmark.</a:t>
            </a:r>
          </a:p>
          <a:p>
            <a:pPr algn="l">
              <a:lnSpc>
                <a:spcPct val="122000"/>
              </a:lnSpc>
            </a:pPr>
            <a:r>
              <a:rPr sz="900" b="0" i="0">
                <a:solidFill>
                  <a:srgbClr val="8C8478"/>
                </a:solidFill>
                <a:latin typeface="Corbel"/>
              </a:rPr>
              <a:t>NASDAQ-100 fell 32.6%.</a:t>
            </a:r>
          </a:p>
        </p:txBody>
      </p:sp>
      <p:sp>
        <p:nvSpPr>
          <p:cNvPr id="25" name="Rectangle 24"/>
          <p:cNvSpPr/>
          <p:nvPr/>
        </p:nvSpPr>
        <p:spPr>
          <a:xfrm>
            <a:off x="1298448" y="3803904"/>
            <a:ext cx="2348407" cy="18288"/>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98448" y="4005072"/>
            <a:ext cx="2293543" cy="548640"/>
          </a:xfrm>
          <a:prstGeom prst="rect">
            <a:avLst/>
          </a:prstGeom>
          <a:noFill/>
        </p:spPr>
        <p:txBody>
          <a:bodyPr wrap="square" lIns="0" rIns="0" tIns="0" bIns="0" anchor="t">
            <a:spAutoFit/>
          </a:bodyPr>
          <a:lstStyle/>
          <a:p>
            <a:pPr algn="l">
              <a:lnSpc>
                <a:spcPct val="105000"/>
              </a:lnSpc>
            </a:pPr>
            <a:r>
              <a:rPr sz="2900" b="0" i="0">
                <a:solidFill>
                  <a:srgbClr val="16130F"/>
                </a:solidFill>
                <a:latin typeface="Georgia"/>
              </a:rPr>
              <a:t>6.6%</a:t>
            </a:r>
          </a:p>
        </p:txBody>
      </p:sp>
      <p:sp>
        <p:nvSpPr>
          <p:cNvPr id="27" name="TextBox 26"/>
          <p:cNvSpPr txBox="1"/>
          <p:nvPr/>
        </p:nvSpPr>
        <p:spPr>
          <a:xfrm>
            <a:off x="1298448" y="4608576"/>
            <a:ext cx="2293543" cy="274320"/>
          </a:xfrm>
          <a:prstGeom prst="rect">
            <a:avLst/>
          </a:prstGeom>
          <a:noFill/>
        </p:spPr>
        <p:txBody>
          <a:bodyPr wrap="square" lIns="0" rIns="0" tIns="0" bIns="0" anchor="t">
            <a:spAutoFit/>
          </a:bodyPr>
          <a:lstStyle/>
          <a:p>
            <a:pPr algn="l">
              <a:lnSpc>
                <a:spcPct val="120000"/>
              </a:lnSpc>
            </a:pPr>
            <a:r>
              <a:rPr sz="850" b="1" i="0" spc="130">
                <a:solidFill>
                  <a:srgbClr val="4A443C"/>
                </a:solidFill>
                <a:latin typeface="Corbel"/>
              </a:rPr>
              <a:t>ALPHA P.A. (FF5)</a:t>
            </a:r>
          </a:p>
        </p:txBody>
      </p:sp>
      <p:sp>
        <p:nvSpPr>
          <p:cNvPr id="28" name="TextBox 27"/>
          <p:cNvSpPr txBox="1"/>
          <p:nvPr/>
        </p:nvSpPr>
        <p:spPr>
          <a:xfrm>
            <a:off x="1298448" y="4919472"/>
            <a:ext cx="2256967" cy="658368"/>
          </a:xfrm>
          <a:prstGeom prst="rect">
            <a:avLst/>
          </a:prstGeom>
          <a:noFill/>
        </p:spPr>
        <p:txBody>
          <a:bodyPr wrap="square" lIns="0" rIns="0" tIns="0" bIns="0" anchor="t">
            <a:spAutoFit/>
          </a:bodyPr>
          <a:lstStyle/>
          <a:p>
            <a:pPr algn="l">
              <a:lnSpc>
                <a:spcPct val="122000"/>
              </a:lnSpc>
            </a:pPr>
            <a:r>
              <a:rPr sz="900" b="0" i="0">
                <a:solidFill>
                  <a:srgbClr val="8C8478"/>
                </a:solidFill>
                <a:latin typeface="Corbel"/>
              </a:rPr>
              <a:t>Fama–French five-factor Jensen's</a:t>
            </a:r>
          </a:p>
          <a:p>
            <a:pPr algn="l">
              <a:lnSpc>
                <a:spcPct val="122000"/>
              </a:lnSpc>
            </a:pPr>
            <a:r>
              <a:rPr sz="900" b="0" i="0">
                <a:solidFill>
                  <a:srgbClr val="8C8478"/>
                </a:solidFill>
                <a:latin typeface="Corbel"/>
              </a:rPr>
              <a:t>alpha, t = 3.06, p = 0.002.</a:t>
            </a:r>
          </a:p>
          <a:p>
            <a:pPr algn="l">
              <a:lnSpc>
                <a:spcPct val="122000"/>
              </a:lnSpc>
            </a:pPr>
            <a:r>
              <a:rPr sz="900" b="0" i="0">
                <a:solidFill>
                  <a:srgbClr val="8C8478"/>
                </a:solidFill>
                <a:latin typeface="Corbel"/>
              </a:rPr>
              <a:t>Statistically significant.</a:t>
            </a:r>
          </a:p>
        </p:txBody>
      </p:sp>
      <p:sp>
        <p:nvSpPr>
          <p:cNvPr id="29" name="Rectangle 28"/>
          <p:cNvSpPr/>
          <p:nvPr/>
        </p:nvSpPr>
        <p:spPr>
          <a:xfrm>
            <a:off x="3921175" y="3803904"/>
            <a:ext cx="2348407" cy="18288"/>
          </a:xfrm>
          <a:prstGeom prst="rect">
            <a:avLst/>
          </a:prstGeom>
          <a:solidFill>
            <a:srgbClr val="8A6D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21175" y="4005072"/>
            <a:ext cx="2293543" cy="548640"/>
          </a:xfrm>
          <a:prstGeom prst="rect">
            <a:avLst/>
          </a:prstGeom>
          <a:noFill/>
        </p:spPr>
        <p:txBody>
          <a:bodyPr wrap="square" lIns="0" rIns="0" tIns="0" bIns="0" anchor="t">
            <a:spAutoFit/>
          </a:bodyPr>
          <a:lstStyle/>
          <a:p>
            <a:pPr algn="l">
              <a:lnSpc>
                <a:spcPct val="105000"/>
              </a:lnSpc>
            </a:pPr>
            <a:r>
              <a:rPr sz="2900" b="0" i="0">
                <a:solidFill>
                  <a:srgbClr val="16130F"/>
                </a:solidFill>
                <a:latin typeface="Georgia"/>
              </a:rPr>
              <a:t>1.04</a:t>
            </a:r>
          </a:p>
        </p:txBody>
      </p:sp>
      <p:sp>
        <p:nvSpPr>
          <p:cNvPr id="31" name="TextBox 30"/>
          <p:cNvSpPr txBox="1"/>
          <p:nvPr/>
        </p:nvSpPr>
        <p:spPr>
          <a:xfrm>
            <a:off x="3921175" y="4608576"/>
            <a:ext cx="2293543" cy="274320"/>
          </a:xfrm>
          <a:prstGeom prst="rect">
            <a:avLst/>
          </a:prstGeom>
          <a:noFill/>
        </p:spPr>
        <p:txBody>
          <a:bodyPr wrap="square" lIns="0" rIns="0" tIns="0" bIns="0" anchor="t">
            <a:spAutoFit/>
          </a:bodyPr>
          <a:lstStyle/>
          <a:p>
            <a:pPr algn="l">
              <a:lnSpc>
                <a:spcPct val="120000"/>
              </a:lnSpc>
            </a:pPr>
            <a:r>
              <a:rPr sz="850" b="1" i="0" spc="130">
                <a:solidFill>
                  <a:srgbClr val="4A443C"/>
                </a:solidFill>
                <a:latin typeface="Corbel"/>
              </a:rPr>
              <a:t>BETA TO THE MARKET</a:t>
            </a:r>
          </a:p>
        </p:txBody>
      </p:sp>
      <p:sp>
        <p:nvSpPr>
          <p:cNvPr id="32" name="TextBox 31"/>
          <p:cNvSpPr txBox="1"/>
          <p:nvPr/>
        </p:nvSpPr>
        <p:spPr>
          <a:xfrm>
            <a:off x="3921175" y="4919472"/>
            <a:ext cx="2256967" cy="658368"/>
          </a:xfrm>
          <a:prstGeom prst="rect">
            <a:avLst/>
          </a:prstGeom>
          <a:noFill/>
        </p:spPr>
        <p:txBody>
          <a:bodyPr wrap="square" lIns="0" rIns="0" tIns="0" bIns="0" anchor="t">
            <a:spAutoFit/>
          </a:bodyPr>
          <a:lstStyle/>
          <a:p>
            <a:pPr algn="l">
              <a:lnSpc>
                <a:spcPct val="122000"/>
              </a:lnSpc>
            </a:pPr>
            <a:r>
              <a:rPr sz="900" b="0" i="0">
                <a:solidFill>
                  <a:srgbClr val="8C8478"/>
                </a:solidFill>
                <a:latin typeface="Corbel"/>
              </a:rPr>
              <a:t>Market-like sensitivity.</a:t>
            </a:r>
          </a:p>
          <a:p>
            <a:pPr algn="l">
              <a:lnSpc>
                <a:spcPct val="122000"/>
              </a:lnSpc>
            </a:pPr>
            <a:r>
              <a:rPr sz="900" b="0" i="0">
                <a:solidFill>
                  <a:srgbClr val="8C8478"/>
                </a:solidFill>
                <a:latin typeface="Corbel"/>
              </a:rPr>
              <a:t>The excess return is not</a:t>
            </a:r>
          </a:p>
          <a:p>
            <a:pPr algn="l">
              <a:lnSpc>
                <a:spcPct val="122000"/>
              </a:lnSpc>
            </a:pPr>
            <a:r>
              <a:rPr sz="900" b="0" i="0">
                <a:solidFill>
                  <a:srgbClr val="8C8478"/>
                </a:solidFill>
                <a:latin typeface="Corbel"/>
              </a:rPr>
              <a:t>simply leverage on the index.</a:t>
            </a:r>
          </a:p>
        </p:txBody>
      </p:sp>
      <p:sp>
        <p:nvSpPr>
          <p:cNvPr id="33" name="Rectangle 32"/>
          <p:cNvSpPr/>
          <p:nvPr/>
        </p:nvSpPr>
        <p:spPr>
          <a:xfrm>
            <a:off x="6543902" y="3803904"/>
            <a:ext cx="2348407" cy="18288"/>
          </a:xfrm>
          <a:prstGeom prst="rect">
            <a:avLst/>
          </a:prstGeom>
          <a:solidFill>
            <a:srgbClr val="007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43902" y="4005072"/>
            <a:ext cx="2293543" cy="548640"/>
          </a:xfrm>
          <a:prstGeom prst="rect">
            <a:avLst/>
          </a:prstGeom>
          <a:noFill/>
        </p:spPr>
        <p:txBody>
          <a:bodyPr wrap="square" lIns="0" rIns="0" tIns="0" bIns="0" anchor="t">
            <a:spAutoFit/>
          </a:bodyPr>
          <a:lstStyle/>
          <a:p>
            <a:pPr algn="l">
              <a:lnSpc>
                <a:spcPct val="105000"/>
              </a:lnSpc>
            </a:pPr>
            <a:r>
              <a:rPr sz="2900" b="0" i="0">
                <a:solidFill>
                  <a:srgbClr val="16130F"/>
                </a:solidFill>
                <a:latin typeface="Georgia"/>
              </a:rPr>
              <a:t>0.98</a:t>
            </a:r>
          </a:p>
        </p:txBody>
      </p:sp>
      <p:sp>
        <p:nvSpPr>
          <p:cNvPr id="35" name="TextBox 34"/>
          <p:cNvSpPr txBox="1"/>
          <p:nvPr/>
        </p:nvSpPr>
        <p:spPr>
          <a:xfrm>
            <a:off x="6543902" y="4608576"/>
            <a:ext cx="2293543" cy="274320"/>
          </a:xfrm>
          <a:prstGeom prst="rect">
            <a:avLst/>
          </a:prstGeom>
          <a:noFill/>
        </p:spPr>
        <p:txBody>
          <a:bodyPr wrap="square" lIns="0" rIns="0" tIns="0" bIns="0" anchor="t">
            <a:spAutoFit/>
          </a:bodyPr>
          <a:lstStyle/>
          <a:p>
            <a:pPr algn="l">
              <a:lnSpc>
                <a:spcPct val="120000"/>
              </a:lnSpc>
            </a:pPr>
            <a:r>
              <a:rPr sz="850" b="1" i="0" spc="130">
                <a:solidFill>
                  <a:srgbClr val="4A443C"/>
                </a:solidFill>
                <a:latin typeface="Corbel"/>
              </a:rPr>
              <a:t>INFORMATION RATIO</a:t>
            </a:r>
          </a:p>
        </p:txBody>
      </p:sp>
      <p:sp>
        <p:nvSpPr>
          <p:cNvPr id="36" name="TextBox 35"/>
          <p:cNvSpPr txBox="1"/>
          <p:nvPr/>
        </p:nvSpPr>
        <p:spPr>
          <a:xfrm>
            <a:off x="6543902" y="4919472"/>
            <a:ext cx="2256967" cy="658368"/>
          </a:xfrm>
          <a:prstGeom prst="rect">
            <a:avLst/>
          </a:prstGeom>
          <a:noFill/>
        </p:spPr>
        <p:txBody>
          <a:bodyPr wrap="square" lIns="0" rIns="0" tIns="0" bIns="0" anchor="t">
            <a:spAutoFit/>
          </a:bodyPr>
          <a:lstStyle/>
          <a:p>
            <a:pPr algn="l">
              <a:lnSpc>
                <a:spcPct val="122000"/>
              </a:lnSpc>
            </a:pPr>
            <a:r>
              <a:rPr sz="900" b="0" i="0">
                <a:solidFill>
                  <a:srgbClr val="8C8478"/>
                </a:solidFill>
                <a:latin typeface="Corbel"/>
              </a:rPr>
              <a:t>Active return per unit of</a:t>
            </a:r>
          </a:p>
          <a:p>
            <a:pPr algn="l">
              <a:lnSpc>
                <a:spcPct val="122000"/>
              </a:lnSpc>
            </a:pPr>
            <a:r>
              <a:rPr sz="900" b="0" i="0">
                <a:solidFill>
                  <a:srgbClr val="8C8478"/>
                </a:solidFill>
                <a:latin typeface="Corbel"/>
              </a:rPr>
              <a:t>tracking error vs the S&amp;P 500</a:t>
            </a:r>
          </a:p>
          <a:p>
            <a:pPr algn="l">
              <a:lnSpc>
                <a:spcPct val="122000"/>
              </a:lnSpc>
            </a:pPr>
            <a:r>
              <a:rPr sz="900" b="0" i="0">
                <a:solidFill>
                  <a:srgbClr val="8C8478"/>
                </a:solidFill>
                <a:latin typeface="Corbel"/>
              </a:rPr>
              <a:t>(6.98% tracking error).</a:t>
            </a:r>
          </a:p>
        </p:txBody>
      </p:sp>
      <p:sp>
        <p:nvSpPr>
          <p:cNvPr id="37" name="Rectangle 36"/>
          <p:cNvSpPr/>
          <p:nvPr/>
        </p:nvSpPr>
        <p:spPr>
          <a:xfrm>
            <a:off x="9166629" y="3803904"/>
            <a:ext cx="2348407" cy="18288"/>
          </a:xfrm>
          <a:prstGeom prst="rect">
            <a:avLst/>
          </a:prstGeom>
          <a:solidFill>
            <a:srgbClr val="007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66629" y="4005072"/>
            <a:ext cx="2293543" cy="548640"/>
          </a:xfrm>
          <a:prstGeom prst="rect">
            <a:avLst/>
          </a:prstGeom>
          <a:noFill/>
        </p:spPr>
        <p:txBody>
          <a:bodyPr wrap="square" lIns="0" rIns="0" tIns="0" bIns="0" anchor="t">
            <a:spAutoFit/>
          </a:bodyPr>
          <a:lstStyle/>
          <a:p>
            <a:pPr algn="l">
              <a:lnSpc>
                <a:spcPct val="105000"/>
              </a:lnSpc>
            </a:pPr>
            <a:r>
              <a:rPr sz="2900" b="0" i="0">
                <a:solidFill>
                  <a:srgbClr val="16130F"/>
                </a:solidFill>
                <a:latin typeface="Georgia"/>
              </a:rPr>
              <a:t>50 / 72</a:t>
            </a:r>
          </a:p>
        </p:txBody>
      </p:sp>
      <p:sp>
        <p:nvSpPr>
          <p:cNvPr id="39" name="TextBox 38"/>
          <p:cNvSpPr txBox="1"/>
          <p:nvPr/>
        </p:nvSpPr>
        <p:spPr>
          <a:xfrm>
            <a:off x="9166629" y="4608576"/>
            <a:ext cx="2293543" cy="274320"/>
          </a:xfrm>
          <a:prstGeom prst="rect">
            <a:avLst/>
          </a:prstGeom>
          <a:noFill/>
        </p:spPr>
        <p:txBody>
          <a:bodyPr wrap="square" lIns="0" rIns="0" tIns="0" bIns="0" anchor="t">
            <a:spAutoFit/>
          </a:bodyPr>
          <a:lstStyle/>
          <a:p>
            <a:pPr algn="l">
              <a:lnSpc>
                <a:spcPct val="120000"/>
              </a:lnSpc>
            </a:pPr>
            <a:r>
              <a:rPr sz="850" b="1" i="0" spc="130">
                <a:solidFill>
                  <a:srgbClr val="4A443C"/>
                </a:solidFill>
                <a:latin typeface="Corbel"/>
              </a:rPr>
              <a:t>POSITIVE MONTHS</a:t>
            </a:r>
          </a:p>
        </p:txBody>
      </p:sp>
      <p:sp>
        <p:nvSpPr>
          <p:cNvPr id="40" name="TextBox 39"/>
          <p:cNvSpPr txBox="1"/>
          <p:nvPr/>
        </p:nvSpPr>
        <p:spPr>
          <a:xfrm>
            <a:off x="9166629" y="4919472"/>
            <a:ext cx="2256967" cy="658368"/>
          </a:xfrm>
          <a:prstGeom prst="rect">
            <a:avLst/>
          </a:prstGeom>
          <a:noFill/>
        </p:spPr>
        <p:txBody>
          <a:bodyPr wrap="square" lIns="0" rIns="0" tIns="0" bIns="0" anchor="t">
            <a:spAutoFit/>
          </a:bodyPr>
          <a:lstStyle/>
          <a:p>
            <a:pPr algn="l">
              <a:lnSpc>
                <a:spcPct val="122000"/>
              </a:lnSpc>
            </a:pPr>
            <a:r>
              <a:rPr sz="900" b="0" i="0">
                <a:solidFill>
                  <a:srgbClr val="8C8478"/>
                </a:solidFill>
                <a:latin typeface="Corbel"/>
              </a:rPr>
              <a:t>A 69.4% hit rate.</a:t>
            </a:r>
          </a:p>
          <a:p>
            <a:pPr algn="l">
              <a:lnSpc>
                <a:spcPct val="122000"/>
              </a:lnSpc>
            </a:pPr>
            <a:r>
              <a:rPr sz="900" b="0" i="0">
                <a:solidFill>
                  <a:srgbClr val="8C8478"/>
                </a:solidFill>
                <a:latin typeface="Corbel"/>
              </a:rPr>
              <a:t>Average up month +4.6%,</a:t>
            </a:r>
          </a:p>
          <a:p>
            <a:pPr algn="l">
              <a:lnSpc>
                <a:spcPct val="122000"/>
              </a:lnSpc>
            </a:pPr>
            <a:r>
              <a:rPr sz="900" b="0" i="0">
                <a:solidFill>
                  <a:srgbClr val="8C8478"/>
                </a:solidFill>
                <a:latin typeface="Corbel"/>
              </a:rPr>
              <a:t>average down month −5.2%.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3B38"/>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371600"/>
            <a:ext cx="3840480" cy="2377440"/>
          </a:xfrm>
          <a:prstGeom prst="rect">
            <a:avLst/>
          </a:prstGeom>
          <a:noFill/>
        </p:spPr>
        <p:txBody>
          <a:bodyPr wrap="square" lIns="0" rIns="0" tIns="0" bIns="0" anchor="t">
            <a:spAutoFit/>
          </a:bodyPr>
          <a:lstStyle/>
          <a:p>
            <a:pPr algn="l">
              <a:lnSpc>
                <a:spcPct val="105000"/>
              </a:lnSpc>
            </a:pPr>
            <a:r>
              <a:rPr sz="13200" b="0" i="0">
                <a:solidFill>
                  <a:srgbClr val="144E4A"/>
                </a:solidFill>
                <a:latin typeface="Georgia"/>
              </a:rPr>
              <a:t>01</a:t>
            </a:r>
          </a:p>
        </p:txBody>
      </p:sp>
      <p:sp>
        <p:nvSpPr>
          <p:cNvPr id="4" name="Rectangle 3"/>
          <p:cNvSpPr/>
          <p:nvPr/>
        </p:nvSpPr>
        <p:spPr>
          <a:xfrm>
            <a:off x="1024128" y="3913632"/>
            <a:ext cx="1371600" cy="2743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4224528"/>
            <a:ext cx="8961120" cy="822960"/>
          </a:xfrm>
          <a:prstGeom prst="rect">
            <a:avLst/>
          </a:prstGeom>
          <a:noFill/>
        </p:spPr>
        <p:txBody>
          <a:bodyPr wrap="square" lIns="0" rIns="0" tIns="0" bIns="0" anchor="t">
            <a:spAutoFit/>
          </a:bodyPr>
          <a:lstStyle/>
          <a:p>
            <a:pPr algn="l">
              <a:lnSpc>
                <a:spcPct val="104000"/>
              </a:lnSpc>
            </a:pPr>
            <a:r>
              <a:rPr sz="3800" b="0" i="0">
                <a:solidFill>
                  <a:srgbClr val="F2ECDE"/>
                </a:solidFill>
                <a:latin typeface="Georgia"/>
              </a:rPr>
              <a:t>Where we started</a:t>
            </a:r>
          </a:p>
        </p:txBody>
      </p:sp>
      <p:sp>
        <p:nvSpPr>
          <p:cNvPr id="6" name="TextBox 5"/>
          <p:cNvSpPr txBox="1"/>
          <p:nvPr/>
        </p:nvSpPr>
        <p:spPr>
          <a:xfrm>
            <a:off x="1005840" y="5138928"/>
            <a:ext cx="7680960" cy="822960"/>
          </a:xfrm>
          <a:prstGeom prst="rect">
            <a:avLst/>
          </a:prstGeom>
          <a:noFill/>
        </p:spPr>
        <p:txBody>
          <a:bodyPr wrap="square" lIns="0" rIns="0" tIns="0" bIns="0" anchor="t">
            <a:spAutoFit/>
          </a:bodyPr>
          <a:lstStyle/>
          <a:p>
            <a:pPr algn="l">
              <a:lnSpc>
                <a:spcPct val="130000"/>
              </a:lnSpc>
            </a:pPr>
            <a:r>
              <a:rPr sz="1300" b="0" i="0">
                <a:solidFill>
                  <a:srgbClr val="A9BEB8"/>
                </a:solidFill>
                <a:latin typeface="Corbel"/>
              </a:rPr>
              <a:t>The mandate you funded in 2016, the eleven positions we bought, and whether we stayed faithful to the brief</a:t>
            </a:r>
          </a:p>
        </p:txBody>
      </p:sp>
      <p:sp>
        <p:nvSpPr>
          <p:cNvPr id="7" name="TextBox 6"/>
          <p:cNvSpPr txBox="1"/>
          <p:nvPr/>
        </p:nvSpPr>
        <p:spPr>
          <a:xfrm>
            <a:off x="9174175" y="6053328"/>
            <a:ext cx="2468880" cy="274320"/>
          </a:xfrm>
          <a:prstGeom prst="rect">
            <a:avLst/>
          </a:prstGeom>
          <a:noFill/>
        </p:spPr>
        <p:txBody>
          <a:bodyPr wrap="square" lIns="0" rIns="0" tIns="0" bIns="0" anchor="t">
            <a:spAutoFit/>
          </a:bodyPr>
          <a:lstStyle/>
          <a:p>
            <a:pPr algn="r">
              <a:lnSpc>
                <a:spcPct val="105000"/>
              </a:lnSpc>
            </a:pPr>
            <a:r>
              <a:rPr sz="800" b="0" i="0" spc="220">
                <a:solidFill>
                  <a:srgbClr val="A9BEB8"/>
                </a:solidFill>
                <a:latin typeface="Corbel"/>
              </a:rPr>
              <a:t>NORTHPOINT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05</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Where we started</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WHERE WE STARTED</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The mandate you funded</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Nothing in the strategy changed over six years. The discipline was in the rules, not in the reacting</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graphicFrame>
        <p:nvGraphicFramePr>
          <p:cNvPr id="11" name="Table 10"/>
          <p:cNvGraphicFramePr>
            <a:graphicFrameLocks noGrp="1"/>
          </p:cNvGraphicFramePr>
          <p:nvPr/>
        </p:nvGraphicFramePr>
        <p:xfrm>
          <a:off x="1298448" y="1700784"/>
          <a:ext cx="10344606" cy="4023360"/>
        </p:xfrm>
        <a:graphic>
          <a:graphicData uri="http://schemas.openxmlformats.org/drawingml/2006/table">
            <a:tbl>
              <a:tblPr>
                <a:tableStyleId>{5C22544A-7EE6-4342-B048-85BDC9FD1C3A}</a:tableStyleId>
              </a:tblPr>
              <a:tblGrid>
                <a:gridCol w="2793043"/>
                <a:gridCol w="7551563"/>
              </a:tblGrid>
              <a:tr h="365760">
                <a:tc>
                  <a:txBody>
                    <a:bodyPr wrap="square"/>
                    <a:lstStyle/>
                    <a:p>
                      <a:pPr algn="l"/>
                      <a:r>
                        <a:rPr sz="1000" b="1" spc="130">
                          <a:solidFill>
                            <a:srgbClr val="4A443C"/>
                          </a:solidFill>
                          <a:latin typeface="Corbel"/>
                        </a:rPr>
                        <a:t>MANDATE PARAMETER</a:t>
                      </a:r>
                    </a:p>
                  </a:txBody>
                  <a:tcPr marL="18288" marR="91440" marT="27432" marB="27432" anchor="ctr">
                    <a:noFill/>
                    <a:lnB w="6350" cap="flat">
                      <a:solidFill>
                        <a:srgbClr val="16130F"/>
                      </a:solidFill>
                    </a:lnB>
                  </a:tcPr>
                </a:tc>
                <a:tc>
                  <a:txBody>
                    <a:bodyPr wrap="square"/>
                    <a:lstStyle/>
                    <a:p>
                      <a:pPr algn="l"/>
                      <a:r>
                        <a:rPr sz="1000" b="1" spc="130">
                          <a:solidFill>
                            <a:srgbClr val="4A443C"/>
                          </a:solidFill>
                          <a:latin typeface="Corbel"/>
                        </a:rPr>
                        <a:t>WHAT WE COMMITTED TO IN JANUARY 2016</a:t>
                      </a:r>
                    </a:p>
                  </a:txBody>
                  <a:tcPr marL="91440" marR="91440" marT="27432" marB="27432" anchor="ctr">
                    <a:noFill/>
                    <a:lnB w="6350" cap="flat">
                      <a:solidFill>
                        <a:srgbClr val="16130F"/>
                      </a:solidFill>
                    </a:lnB>
                  </a:tcPr>
                </a:tc>
              </a:tr>
              <a:tr h="365760">
                <a:tc>
                  <a:txBody>
                    <a:bodyPr wrap="square"/>
                    <a:lstStyle/>
                    <a:p>
                      <a:pPr algn="l"/>
                      <a:r>
                        <a:rPr sz="1150" b="0">
                          <a:solidFill>
                            <a:srgbClr val="16130F"/>
                          </a:solidFill>
                          <a:latin typeface="Corbel"/>
                        </a:rPr>
                        <a:t>Capital</a:t>
                      </a:r>
                    </a:p>
                  </a:txBody>
                  <a:tcPr marL="18288" marR="91440" marT="27432" marB="27432" anchor="ctr">
                    <a:noFill/>
                    <a:lnT w="3175" cap="flat">
                      <a:solidFill>
                        <a:srgbClr val="E2DCCF"/>
                      </a:solidFill>
                    </a:lnT>
                  </a:tcPr>
                </a:tc>
                <a:tc>
                  <a:txBody>
                    <a:bodyPr wrap="square"/>
                    <a:lstStyle/>
                    <a:p>
                      <a:pPr algn="l"/>
                      <a:r>
                        <a:rPr sz="1150" b="0">
                          <a:solidFill>
                            <a:srgbClr val="16130F"/>
                          </a:solidFill>
                          <a:latin typeface="Corbel"/>
                        </a:rPr>
                        <a:t>US$100 million, six-year fund life (Jan 2017 – Dec 2022)</a:t>
                      </a:r>
                    </a:p>
                  </a:txBody>
                  <a:tcPr marL="91440" marR="91440" marT="27432" marB="27432" anchor="ctr">
                    <a:noFill/>
                    <a:lnT w="3175" cap="flat">
                      <a:solidFill>
                        <a:srgbClr val="E2DCCF"/>
                      </a:solidFill>
                    </a:lnT>
                  </a:tcPr>
                </a:tc>
              </a:tr>
              <a:tr h="365760">
                <a:tc>
                  <a:txBody>
                    <a:bodyPr wrap="square"/>
                    <a:lstStyle/>
                    <a:p>
                      <a:pPr algn="l"/>
                      <a:r>
                        <a:rPr sz="1150" b="0">
                          <a:solidFill>
                            <a:srgbClr val="16130F"/>
                          </a:solidFill>
                          <a:latin typeface="Corbel"/>
                        </a:rPr>
                        <a:t>Strategy</a:t>
                      </a:r>
                    </a:p>
                  </a:txBody>
                  <a:tcPr marL="18288" marR="91440" marT="27432" marB="27432" anchor="ctr">
                    <a:noFill/>
                    <a:lnT w="3175" cap="flat">
                      <a:solidFill>
                        <a:srgbClr val="E2DCCF"/>
                      </a:solidFill>
                    </a:lnT>
                  </a:tcPr>
                </a:tc>
                <a:tc>
                  <a:txBody>
                    <a:bodyPr wrap="square"/>
                    <a:lstStyle/>
                    <a:p>
                      <a:pPr algn="l"/>
                      <a:r>
                        <a:rPr sz="1150" b="0">
                          <a:solidFill>
                            <a:srgbClr val="16130F"/>
                          </a:solidFill>
                          <a:latin typeface="Corbel"/>
                        </a:rPr>
                        <a:t>Active, high-conviction thematic equity — technology and innovation</a:t>
                      </a:r>
                    </a:p>
                  </a:txBody>
                  <a:tcPr marL="91440" marR="91440" marT="27432" marB="27432" anchor="ctr">
                    <a:noFill/>
                    <a:lnT w="3175" cap="flat">
                      <a:solidFill>
                        <a:srgbClr val="E2DCCF"/>
                      </a:solidFill>
                    </a:lnT>
                  </a:tcPr>
                </a:tc>
              </a:tr>
              <a:tr h="365760">
                <a:tc>
                  <a:txBody>
                    <a:bodyPr wrap="square"/>
                    <a:lstStyle/>
                    <a:p>
                      <a:pPr algn="l"/>
                      <a:r>
                        <a:rPr sz="1150" b="0">
                          <a:solidFill>
                            <a:srgbClr val="16130F"/>
                          </a:solidFill>
                          <a:latin typeface="Corbel"/>
                        </a:rPr>
                        <a:t>Theme</a:t>
                      </a:r>
                    </a:p>
                  </a:txBody>
                  <a:tcPr marL="18288" marR="91440" marT="27432" marB="27432" anchor="ctr">
                    <a:noFill/>
                    <a:lnT w="3175" cap="flat">
                      <a:solidFill>
                        <a:srgbClr val="E2DCCF"/>
                      </a:solidFill>
                    </a:lnT>
                  </a:tcPr>
                </a:tc>
                <a:tc>
                  <a:txBody>
                    <a:bodyPr wrap="square"/>
                    <a:lstStyle/>
                    <a:p>
                      <a:pPr algn="l"/>
                      <a:r>
                        <a:rPr sz="1150" b="0">
                          <a:solidFill>
                            <a:srgbClr val="16130F"/>
                          </a:solidFill>
                          <a:latin typeface="Corbel"/>
                        </a:rPr>
                        <a:t>Digital transformation: cloud, mobile data, payments, automation, genomics</a:t>
                      </a:r>
                    </a:p>
                  </a:txBody>
                  <a:tcPr marL="91440" marR="91440" marT="27432" marB="27432" anchor="ctr">
                    <a:noFill/>
                    <a:lnT w="3175" cap="flat">
                      <a:solidFill>
                        <a:srgbClr val="E2DCCF"/>
                      </a:solidFill>
                    </a:lnT>
                  </a:tcPr>
                </a:tc>
              </a:tr>
              <a:tr h="365760">
                <a:tc>
                  <a:txBody>
                    <a:bodyPr wrap="square"/>
                    <a:lstStyle/>
                    <a:p>
                      <a:pPr algn="l"/>
                      <a:r>
                        <a:rPr sz="1150" b="0">
                          <a:solidFill>
                            <a:srgbClr val="16130F"/>
                          </a:solidFill>
                          <a:latin typeface="Corbel"/>
                        </a:rPr>
                        <a:t>Holdings</a:t>
                      </a:r>
                    </a:p>
                  </a:txBody>
                  <a:tcPr marL="18288" marR="91440" marT="27432" marB="27432" anchor="ctr">
                    <a:noFill/>
                    <a:lnT w="3175" cap="flat">
                      <a:solidFill>
                        <a:srgbClr val="E2DCCF"/>
                      </a:solidFill>
                    </a:lnT>
                  </a:tcPr>
                </a:tc>
                <a:tc>
                  <a:txBody>
                    <a:bodyPr wrap="square"/>
                    <a:lstStyle/>
                    <a:p>
                      <a:pPr algn="l"/>
                      <a:r>
                        <a:rPr sz="1150" b="0">
                          <a:solidFill>
                            <a:srgbClr val="16130F"/>
                          </a:solidFill>
                          <a:latin typeface="Corbel"/>
                        </a:rPr>
                        <a:t>Eleven US-listed stocks — exactly one per GICS sector</a:t>
                      </a:r>
                    </a:p>
                  </a:txBody>
                  <a:tcPr marL="91440" marR="91440" marT="27432" marB="27432" anchor="ctr">
                    <a:noFill/>
                    <a:lnT w="3175" cap="flat">
                      <a:solidFill>
                        <a:srgbClr val="E2DCCF"/>
                      </a:solidFill>
                    </a:lnT>
                  </a:tcPr>
                </a:tc>
              </a:tr>
              <a:tr h="365760">
                <a:tc>
                  <a:txBody>
                    <a:bodyPr wrap="square"/>
                    <a:lstStyle/>
                    <a:p>
                      <a:pPr algn="l"/>
                      <a:r>
                        <a:rPr sz="1150" b="0">
                          <a:solidFill>
                            <a:srgbClr val="16130F"/>
                          </a:solidFill>
                          <a:latin typeface="Corbel"/>
                        </a:rPr>
                        <a:t>Weighting</a:t>
                      </a:r>
                    </a:p>
                  </a:txBody>
                  <a:tcPr marL="18288" marR="91440" marT="27432" marB="27432" anchor="ctr">
                    <a:noFill/>
                    <a:lnT w="3175" cap="flat">
                      <a:solidFill>
                        <a:srgbClr val="E2DCCF"/>
                      </a:solidFill>
                    </a:lnT>
                  </a:tcPr>
                </a:tc>
                <a:tc>
                  <a:txBody>
                    <a:bodyPr wrap="square"/>
                    <a:lstStyle/>
                    <a:p>
                      <a:pPr algn="l"/>
                      <a:r>
                        <a:rPr sz="1150" b="0">
                          <a:solidFill>
                            <a:srgbClr val="16130F"/>
                          </a:solidFill>
                          <a:latin typeface="Corbel"/>
                        </a:rPr>
                        <a:t>Conviction tiers, 5% floor per sector, 16% cap on the largest position</a:t>
                      </a:r>
                    </a:p>
                  </a:txBody>
                  <a:tcPr marL="91440" marR="91440" marT="27432" marB="27432" anchor="ctr">
                    <a:noFill/>
                    <a:lnT w="3175" cap="flat">
                      <a:solidFill>
                        <a:srgbClr val="E2DCCF"/>
                      </a:solidFill>
                    </a:lnT>
                  </a:tcPr>
                </a:tc>
              </a:tr>
              <a:tr h="365760">
                <a:tc>
                  <a:txBody>
                    <a:bodyPr wrap="square"/>
                    <a:lstStyle/>
                    <a:p>
                      <a:pPr algn="l"/>
                      <a:r>
                        <a:rPr sz="1150" b="0">
                          <a:solidFill>
                            <a:srgbClr val="16130F"/>
                          </a:solidFill>
                          <a:latin typeface="Corbel"/>
                        </a:rPr>
                        <a:t>Rebalancing</a:t>
                      </a:r>
                    </a:p>
                  </a:txBody>
                  <a:tcPr marL="18288" marR="91440" marT="27432" marB="27432" anchor="ctr">
                    <a:noFill/>
                    <a:lnT w="3175" cap="flat">
                      <a:solidFill>
                        <a:srgbClr val="E2DCCF"/>
                      </a:solidFill>
                    </a:lnT>
                  </a:tcPr>
                </a:tc>
                <a:tc>
                  <a:txBody>
                    <a:bodyPr wrap="square"/>
                    <a:lstStyle/>
                    <a:p>
                      <a:pPr algn="l"/>
                      <a:r>
                        <a:rPr sz="1150" b="0">
                          <a:solidFill>
                            <a:srgbClr val="16130F"/>
                          </a:solidFill>
                          <a:latin typeface="Corbel"/>
                        </a:rPr>
                        <a:t>Quarterly, plus a 5-percentage-point drift threshold; mid-life review at end-2019</a:t>
                      </a:r>
                    </a:p>
                  </a:txBody>
                  <a:tcPr marL="91440" marR="91440" marT="27432" marB="27432" anchor="ctr">
                    <a:noFill/>
                    <a:lnT w="3175" cap="flat">
                      <a:solidFill>
                        <a:srgbClr val="E2DCCF"/>
                      </a:solidFill>
                    </a:lnT>
                  </a:tcPr>
                </a:tc>
              </a:tr>
              <a:tr h="365760">
                <a:tc>
                  <a:txBody>
                    <a:bodyPr wrap="square"/>
                    <a:lstStyle/>
                    <a:p>
                      <a:pPr algn="l"/>
                      <a:r>
                        <a:rPr sz="1150" b="0">
                          <a:solidFill>
                            <a:srgbClr val="16130F"/>
                          </a:solidFill>
                          <a:latin typeface="Corbel"/>
                        </a:rPr>
                        <a:t>Primary benchmark</a:t>
                      </a:r>
                    </a:p>
                  </a:txBody>
                  <a:tcPr marL="18288" marR="91440" marT="27432" marB="27432" anchor="ctr">
                    <a:noFill/>
                    <a:lnT w="3175" cap="flat">
                      <a:solidFill>
                        <a:srgbClr val="E2DCCF"/>
                      </a:solidFill>
                    </a:lnT>
                  </a:tcPr>
                </a:tc>
                <a:tc>
                  <a:txBody>
                    <a:bodyPr wrap="square"/>
                    <a:lstStyle/>
                    <a:p>
                      <a:pPr algn="l"/>
                      <a:r>
                        <a:rPr sz="1150" b="0">
                          <a:solidFill>
                            <a:srgbClr val="16130F"/>
                          </a:solidFill>
                          <a:latin typeface="Corbel"/>
                        </a:rPr>
                        <a:t>NASDAQ-100 (theme-aligned — measures selection skill within the theme)</a:t>
                      </a:r>
                    </a:p>
                  </a:txBody>
                  <a:tcPr marL="91440" marR="91440" marT="27432" marB="27432" anchor="ctr">
                    <a:noFill/>
                    <a:lnT w="3175" cap="flat">
                      <a:solidFill>
                        <a:srgbClr val="E2DCCF"/>
                      </a:solidFill>
                    </a:lnT>
                  </a:tcPr>
                </a:tc>
              </a:tr>
              <a:tr h="365760">
                <a:tc>
                  <a:txBody>
                    <a:bodyPr wrap="square"/>
                    <a:lstStyle/>
                    <a:p>
                      <a:pPr algn="l"/>
                      <a:r>
                        <a:rPr sz="1150" b="0">
                          <a:solidFill>
                            <a:srgbClr val="16130F"/>
                          </a:solidFill>
                          <a:latin typeface="Corbel"/>
                        </a:rPr>
                        <a:t>Secondary benchmark</a:t>
                      </a:r>
                    </a:p>
                  </a:txBody>
                  <a:tcPr marL="18288" marR="91440" marT="27432" marB="27432" anchor="ctr">
                    <a:noFill/>
                    <a:lnT w="3175" cap="flat">
                      <a:solidFill>
                        <a:srgbClr val="E2DCCF"/>
                      </a:solidFill>
                    </a:lnT>
                  </a:tcPr>
                </a:tc>
                <a:tc>
                  <a:txBody>
                    <a:bodyPr wrap="square"/>
                    <a:lstStyle/>
                    <a:p>
                      <a:pPr algn="l"/>
                      <a:r>
                        <a:rPr sz="1150" b="0">
                          <a:solidFill>
                            <a:srgbClr val="16130F"/>
                          </a:solidFill>
                          <a:latin typeface="Corbel"/>
                        </a:rPr>
                        <a:t>S&amp;P 500 (broad market — measures whether the theme was worth owning)</a:t>
                      </a:r>
                    </a:p>
                  </a:txBody>
                  <a:tcPr marL="91440" marR="91440" marT="27432" marB="27432" anchor="ctr">
                    <a:noFill/>
                    <a:lnT w="3175" cap="flat">
                      <a:solidFill>
                        <a:srgbClr val="E2DCCF"/>
                      </a:solidFill>
                    </a:lnT>
                  </a:tcPr>
                </a:tc>
              </a:tr>
              <a:tr h="365760">
                <a:tc>
                  <a:txBody>
                    <a:bodyPr wrap="square"/>
                    <a:lstStyle/>
                    <a:p>
                      <a:pPr algn="l"/>
                      <a:r>
                        <a:rPr sz="1150" b="0">
                          <a:solidFill>
                            <a:srgbClr val="16130F"/>
                          </a:solidFill>
                          <a:latin typeface="Corbel"/>
                        </a:rPr>
                        <a:t>Fees</a:t>
                      </a:r>
                    </a:p>
                  </a:txBody>
                  <a:tcPr marL="18288" marR="91440" marT="27432" marB="27432" anchor="ctr">
                    <a:noFill/>
                    <a:lnT w="3175" cap="flat">
                      <a:solidFill>
                        <a:srgbClr val="E2DCCF"/>
                      </a:solidFill>
                    </a:lnT>
                  </a:tcPr>
                </a:tc>
                <a:tc>
                  <a:txBody>
                    <a:bodyPr wrap="square"/>
                    <a:lstStyle/>
                    <a:p>
                      <a:pPr algn="l"/>
                      <a:r>
                        <a:rPr sz="1150" b="0">
                          <a:solidFill>
                            <a:srgbClr val="16130F"/>
                          </a:solidFill>
                          <a:latin typeface="Corbel"/>
                        </a:rPr>
                        <a:t>0.90% p.a. management + 10% of returns over the hurdle, high-water mark</a:t>
                      </a:r>
                    </a:p>
                  </a:txBody>
                  <a:tcPr marL="91440" marR="91440" marT="27432" marB="27432" anchor="ctr">
                    <a:noFill/>
                    <a:lnT w="3175" cap="flat">
                      <a:solidFill>
                        <a:srgbClr val="E2DCCF"/>
                      </a:solidFill>
                    </a:lnT>
                  </a:tcPr>
                </a:tc>
              </a:tr>
              <a:tr h="365760">
                <a:tc>
                  <a:txBody>
                    <a:bodyPr wrap="square"/>
                    <a:lstStyle/>
                    <a:p>
                      <a:pPr algn="l"/>
                      <a:r>
                        <a:rPr sz="1150" b="0">
                          <a:solidFill>
                            <a:srgbClr val="16130F"/>
                          </a:solidFill>
                          <a:latin typeface="Corbel"/>
                        </a:rPr>
                        <a:t>Return target</a:t>
                      </a:r>
                    </a:p>
                  </a:txBody>
                  <a:tcPr marL="18288" marR="91440" marT="27432" marB="27432" anchor="ctr">
                    <a:noFill/>
                    <a:lnT w="3175" cap="flat">
                      <a:solidFill>
                        <a:srgbClr val="E2DCCF"/>
                      </a:solidFill>
                    </a:lnT>
                  </a:tcPr>
                </a:tc>
                <a:tc>
                  <a:txBody>
                    <a:bodyPr wrap="square"/>
                    <a:lstStyle/>
                    <a:p>
                      <a:pPr algn="l"/>
                      <a:r>
                        <a:rPr sz="1150" b="0">
                          <a:solidFill>
                            <a:srgbClr val="16130F"/>
                          </a:solidFill>
                          <a:latin typeface="Corbel"/>
                        </a:rPr>
                        <a:t>8–10% net p.a., roughly 55–70% cumulative net over the fund life</a:t>
                      </a:r>
                    </a:p>
                  </a:txBody>
                  <a:tcPr marL="91440" marR="91440" marT="27432" marB="27432" anchor="ctr">
                    <a:noFill/>
                    <a:lnT w="3175" cap="flat">
                      <a:solidFill>
                        <a:srgbClr val="E2DCCF"/>
                      </a:solidFill>
                    </a:lnT>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06</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Where we started</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WHERE WE STARTED</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Eleven sectors, one idea</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The theme was expressed through conviction tiers, never by abandoning a sector</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26_weights_donut.png"/>
          <p:cNvPicPr>
            <a:picLocks noChangeAspect="1"/>
          </p:cNvPicPr>
          <p:nvPr/>
        </p:nvPicPr>
        <p:blipFill>
          <a:blip r:embed="rId2"/>
          <a:stretch>
            <a:fillRect/>
          </a:stretch>
        </p:blipFill>
        <p:spPr>
          <a:xfrm>
            <a:off x="2551878" y="1517904"/>
            <a:ext cx="3855073" cy="4498847"/>
          </a:xfrm>
          <a:prstGeom prst="rect">
            <a:avLst/>
          </a:prstGeom>
        </p:spPr>
      </p:pic>
      <p:sp>
        <p:nvSpPr>
          <p:cNvPr id="12" name="TextBox 11"/>
          <p:cNvSpPr txBox="1"/>
          <p:nvPr/>
        </p:nvSpPr>
        <p:spPr>
          <a:xfrm>
            <a:off x="7934701" y="1554480"/>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HOW THE BOOK WAS BUILT</a:t>
            </a:r>
          </a:p>
        </p:txBody>
      </p:sp>
      <p:sp>
        <p:nvSpPr>
          <p:cNvPr id="13" name="TextBox 12"/>
          <p:cNvSpPr txBox="1"/>
          <p:nvPr/>
        </p:nvSpPr>
        <p:spPr>
          <a:xfrm>
            <a:off x="7934701" y="1920240"/>
            <a:ext cx="3708354" cy="944880"/>
          </a:xfrm>
          <a:prstGeom prst="rect">
            <a:avLst/>
          </a:prstGeom>
          <a:noFill/>
        </p:spPr>
        <p:txBody>
          <a:bodyPr wrap="square" lIns="0" rIns="0" tIns="0" bIns="0">
            <a:spAutoFit/>
          </a:bodyPr>
          <a:lstStyle/>
          <a:p>
            <a:pPr>
              <a:lnSpc>
                <a:spcPct val="122000"/>
              </a:lnSpc>
            </a:pPr>
            <a:r>
              <a:rPr sz="1200" b="1">
                <a:solidFill>
                  <a:srgbClr val="0D3B38"/>
                </a:solidFill>
                <a:latin typeface="Corbel"/>
              </a:rPr>
              <a:t>Tier 1, 42%.  </a:t>
            </a:r>
            <a:r>
              <a:rPr sz="1200">
                <a:solidFill>
                  <a:srgbClr val="16130F"/>
                </a:solidFill>
                <a:latin typeface="Corbel"/>
              </a:rPr>
              <a:t>Microsoft, Alphabet and Amazon: the platform companies where the cloud, advertising and e-commerce theses all compound at once. Highest conviction, largest weights.</a:t>
            </a:r>
          </a:p>
        </p:txBody>
      </p:sp>
      <p:sp>
        <p:nvSpPr>
          <p:cNvPr id="14" name="TextBox 13"/>
          <p:cNvSpPr txBox="1"/>
          <p:nvPr/>
        </p:nvSpPr>
        <p:spPr>
          <a:xfrm>
            <a:off x="7934701" y="3066288"/>
            <a:ext cx="3708354" cy="755904"/>
          </a:xfrm>
          <a:prstGeom prst="rect">
            <a:avLst/>
          </a:prstGeom>
          <a:noFill/>
        </p:spPr>
        <p:txBody>
          <a:bodyPr wrap="square" lIns="0" rIns="0" tIns="0" bIns="0">
            <a:spAutoFit/>
          </a:bodyPr>
          <a:lstStyle/>
          <a:p>
            <a:pPr>
              <a:lnSpc>
                <a:spcPct val="122000"/>
              </a:lnSpc>
            </a:pPr>
            <a:r>
              <a:rPr sz="1200" b="1">
                <a:solidFill>
                  <a:srgbClr val="0D3B38"/>
                </a:solidFill>
                <a:latin typeface="Corbel"/>
              </a:rPr>
              <a:t>Tier 2, 34%.  </a:t>
            </a:r>
            <a:r>
              <a:rPr sz="1200">
                <a:solidFill>
                  <a:srgbClr val="16130F"/>
                </a:solidFill>
                <a:latin typeface="Corbel"/>
              </a:rPr>
              <a:t>Visa, Equinix, Illumina and Rockwell: the enablers. Each monetises digitisation in one specific channel — payments, data centres, genomics, factory automation.</a:t>
            </a:r>
          </a:p>
        </p:txBody>
      </p:sp>
      <p:sp>
        <p:nvSpPr>
          <p:cNvPr id="15" name="TextBox 14"/>
          <p:cNvSpPr txBox="1"/>
          <p:nvPr/>
        </p:nvSpPr>
        <p:spPr>
          <a:xfrm>
            <a:off x="7934701" y="4023360"/>
            <a:ext cx="3708354" cy="755904"/>
          </a:xfrm>
          <a:prstGeom prst="rect">
            <a:avLst/>
          </a:prstGeom>
          <a:noFill/>
        </p:spPr>
        <p:txBody>
          <a:bodyPr wrap="square" lIns="0" rIns="0" tIns="0" bIns="0">
            <a:spAutoFit/>
          </a:bodyPr>
          <a:lstStyle/>
          <a:p>
            <a:pPr>
              <a:lnSpc>
                <a:spcPct val="122000"/>
              </a:lnSpc>
            </a:pPr>
            <a:r>
              <a:rPr sz="1200" b="1">
                <a:solidFill>
                  <a:srgbClr val="0D3B38"/>
                </a:solidFill>
                <a:latin typeface="Corbel"/>
              </a:rPr>
              <a:t>Tier 3, 24%.  </a:t>
            </a:r>
            <a:r>
              <a:rPr sz="1200">
                <a:solidFill>
                  <a:srgbClr val="16130F"/>
                </a:solidFill>
                <a:latin typeface="Corbel"/>
              </a:rPr>
              <a:t>NextEra, Costco, Albemarle and Schlumberger: diversification and ballast, each still carrying an innovation or recovery angle.</a:t>
            </a:r>
          </a:p>
        </p:txBody>
      </p:sp>
      <p:sp>
        <p:nvSpPr>
          <p:cNvPr id="16" name="TextBox 15"/>
          <p:cNvSpPr txBox="1"/>
          <p:nvPr/>
        </p:nvSpPr>
        <p:spPr>
          <a:xfrm>
            <a:off x="7934701" y="4980432"/>
            <a:ext cx="3708354" cy="944880"/>
          </a:xfrm>
          <a:prstGeom prst="rect">
            <a:avLst/>
          </a:prstGeom>
          <a:noFill/>
        </p:spPr>
        <p:txBody>
          <a:bodyPr wrap="square" lIns="0" rIns="0" tIns="0" bIns="0">
            <a:spAutoFit/>
          </a:bodyPr>
          <a:lstStyle/>
          <a:p>
            <a:pPr>
              <a:lnSpc>
                <a:spcPct val="122000"/>
              </a:lnSpc>
            </a:pPr>
            <a:r>
              <a:rPr sz="1200" b="1">
                <a:solidFill>
                  <a:srgbClr val="0D3B38"/>
                </a:solidFill>
                <a:latin typeface="Corbel"/>
              </a:rPr>
              <a:t>The floor mattered.  </a:t>
            </a:r>
            <a:r>
              <a:rPr sz="1200">
                <a:solidFill>
                  <a:srgbClr val="16130F"/>
                </a:solidFill>
                <a:latin typeface="Corbel"/>
              </a:rPr>
              <a:t>Energy at 5% and Materials at 6% looked like drag for five years. In 2022 they were the two reasons our drawdown ran ten points shallower than the NASDAQ's.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07</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Where we started</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WHERE WE STARTED</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We rebalanced. That was a decision, and it paid.</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Quarterly rebalancing added 1.3 percentage points a year over letting the winners run</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21_weight_drift.png"/>
          <p:cNvPicPr>
            <a:picLocks noChangeAspect="1"/>
          </p:cNvPicPr>
          <p:nvPr/>
        </p:nvPicPr>
        <p:blipFill>
          <a:blip r:embed="rId2"/>
          <a:stretch>
            <a:fillRect/>
          </a:stretch>
        </p:blipFill>
        <p:spPr>
          <a:xfrm>
            <a:off x="2024287" y="1517904"/>
            <a:ext cx="8892928" cy="3730751"/>
          </a:xfrm>
          <a:prstGeom prst="rect">
            <a:avLst/>
          </a:prstGeom>
        </p:spPr>
      </p:pic>
      <p:graphicFrame>
        <p:nvGraphicFramePr>
          <p:cNvPr id="12" name="Table 11"/>
          <p:cNvGraphicFramePr>
            <a:graphicFrameLocks noGrp="1"/>
          </p:cNvGraphicFramePr>
          <p:nvPr/>
        </p:nvGraphicFramePr>
        <p:xfrm>
          <a:off x="1298448" y="5376672"/>
          <a:ext cx="10344604" cy="822960"/>
        </p:xfrm>
        <a:graphic>
          <a:graphicData uri="http://schemas.openxmlformats.org/drawingml/2006/table">
            <a:tbl>
              <a:tblPr>
                <a:tableStyleId>{5C22544A-7EE6-4342-B048-85BDC9FD1C3A}</a:tableStyleId>
              </a:tblPr>
              <a:tblGrid>
                <a:gridCol w="3103382"/>
                <a:gridCol w="1448244"/>
                <a:gridCol w="1241352"/>
                <a:gridCol w="1241352"/>
                <a:gridCol w="1655137"/>
                <a:gridCol w="1655137"/>
              </a:tblGrid>
              <a:tr h="274320">
                <a:tc>
                  <a:txBody>
                    <a:bodyPr wrap="square"/>
                    <a:lstStyle/>
                    <a:p>
                      <a:pPr algn="l"/>
                      <a:r>
                        <a:rPr sz="950" b="1" spc="130">
                          <a:solidFill>
                            <a:srgbClr val="4A443C"/>
                          </a:solidFill>
                          <a:latin typeface="Corbel"/>
                        </a:rPr>
                        <a:t/>
                      </a:r>
                    </a:p>
                  </a:txBody>
                  <a:tcPr marL="18288" marR="91440" marT="27432" marB="27432" anchor="ctr">
                    <a:noFill/>
                    <a:lnB w="6350" cap="flat">
                      <a:solidFill>
                        <a:srgbClr val="16130F"/>
                      </a:solidFill>
                    </a:lnB>
                  </a:tcPr>
                </a:tc>
                <a:tc>
                  <a:txBody>
                    <a:bodyPr wrap="square"/>
                    <a:lstStyle/>
                    <a:p>
                      <a:pPr algn="r"/>
                      <a:r>
                        <a:rPr sz="950" b="1" spc="130">
                          <a:solidFill>
                            <a:srgbClr val="4A443C"/>
                          </a:solidFill>
                          <a:latin typeface="Corbel"/>
                        </a:rPr>
                        <a:t>CUMULATIVE</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CAGR</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SHARPE</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MAX DRAWDOWN</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TERMINAL ON $100M</a:t>
                      </a:r>
                    </a:p>
                  </a:txBody>
                  <a:tcPr marL="91440" marR="91440" marT="27432" marB="27432" anchor="ctr">
                    <a:noFill/>
                    <a:lnB w="6350" cap="flat">
                      <a:solidFill>
                        <a:srgbClr val="16130F"/>
                      </a:solidFill>
                    </a:lnB>
                  </a:tcPr>
                </a:tc>
              </a:tr>
              <a:tr h="274320">
                <a:tc>
                  <a:txBody>
                    <a:bodyPr wrap="square"/>
                    <a:lstStyle/>
                    <a:p>
                      <a:pPr algn="l"/>
                      <a:r>
                        <a:rPr sz="1100" b="1">
                          <a:solidFill>
                            <a:srgbClr val="16130F"/>
                          </a:solidFill>
                          <a:latin typeface="Corbel"/>
                        </a:rPr>
                        <a:t>Quarterly rebalanced (as run)</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179.2%</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18.7%</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0.94</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-24.9%</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$279m</a:t>
                      </a:r>
                    </a:p>
                  </a:txBody>
                  <a:tcPr marL="91440" marR="91440" marT="27432" marB="27432" anchor="ctr">
                    <a:noFill/>
                    <a:lnT w="3175" cap="flat">
                      <a:solidFill>
                        <a:srgbClr val="E2DCCF"/>
                      </a:solidFill>
                    </a:lnT>
                  </a:tcPr>
                </a:tc>
              </a:tr>
              <a:tr h="274320">
                <a:tc>
                  <a:txBody>
                    <a:bodyPr wrap="square"/>
                    <a:lstStyle/>
                    <a:p>
                      <a:pPr algn="l"/>
                      <a:r>
                        <a:rPr sz="1100" b="1">
                          <a:solidFill>
                            <a:srgbClr val="16130F"/>
                          </a:solidFill>
                          <a:latin typeface="Corbel"/>
                        </a:rPr>
                        <a:t>Left to drift (buy &amp; hold)</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160.9%</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17.3%</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0.88</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-27.8%</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$261m</a:t>
                      </a:r>
                    </a:p>
                  </a:txBody>
                  <a:tcPr marL="91440" marR="91440" marT="27432" marB="27432" anchor="ctr">
                    <a:noFill/>
                    <a:lnT w="3175" cap="flat">
                      <a:solidFill>
                        <a:srgbClr val="E2DCCF"/>
                      </a:solidFill>
                    </a:lnT>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3B38"/>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371600"/>
            <a:ext cx="3840480" cy="2377440"/>
          </a:xfrm>
          <a:prstGeom prst="rect">
            <a:avLst/>
          </a:prstGeom>
          <a:noFill/>
        </p:spPr>
        <p:txBody>
          <a:bodyPr wrap="square" lIns="0" rIns="0" tIns="0" bIns="0" anchor="t">
            <a:spAutoFit/>
          </a:bodyPr>
          <a:lstStyle/>
          <a:p>
            <a:pPr algn="l">
              <a:lnSpc>
                <a:spcPct val="105000"/>
              </a:lnSpc>
            </a:pPr>
            <a:r>
              <a:rPr sz="13200" b="0" i="0">
                <a:solidFill>
                  <a:srgbClr val="144E4A"/>
                </a:solidFill>
                <a:latin typeface="Georgia"/>
              </a:rPr>
              <a:t>02</a:t>
            </a:r>
          </a:p>
        </p:txBody>
      </p:sp>
      <p:sp>
        <p:nvSpPr>
          <p:cNvPr id="4" name="Rectangle 3"/>
          <p:cNvSpPr/>
          <p:nvPr/>
        </p:nvSpPr>
        <p:spPr>
          <a:xfrm>
            <a:off x="1024128" y="3913632"/>
            <a:ext cx="1371600" cy="2743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4224528"/>
            <a:ext cx="8961120" cy="822960"/>
          </a:xfrm>
          <a:prstGeom prst="rect">
            <a:avLst/>
          </a:prstGeom>
          <a:noFill/>
        </p:spPr>
        <p:txBody>
          <a:bodyPr wrap="square" lIns="0" rIns="0" tIns="0" bIns="0" anchor="t">
            <a:spAutoFit/>
          </a:bodyPr>
          <a:lstStyle/>
          <a:p>
            <a:pPr algn="l">
              <a:lnSpc>
                <a:spcPct val="104000"/>
              </a:lnSpc>
            </a:pPr>
            <a:r>
              <a:rPr sz="3800" b="0" i="0">
                <a:solidFill>
                  <a:srgbClr val="F2ECDE"/>
                </a:solidFill>
                <a:latin typeface="Georgia"/>
              </a:rPr>
              <a:t>The economy we lived through</a:t>
            </a:r>
          </a:p>
        </p:txBody>
      </p:sp>
      <p:sp>
        <p:nvSpPr>
          <p:cNvPr id="6" name="TextBox 5"/>
          <p:cNvSpPr txBox="1"/>
          <p:nvPr/>
        </p:nvSpPr>
        <p:spPr>
          <a:xfrm>
            <a:off x="1005840" y="5138928"/>
            <a:ext cx="7680960" cy="822960"/>
          </a:xfrm>
          <a:prstGeom prst="rect">
            <a:avLst/>
          </a:prstGeom>
          <a:noFill/>
        </p:spPr>
        <p:txBody>
          <a:bodyPr wrap="square" lIns="0" rIns="0" tIns="0" bIns="0" anchor="t">
            <a:spAutoFit/>
          </a:bodyPr>
          <a:lstStyle/>
          <a:p>
            <a:pPr algn="l">
              <a:lnSpc>
                <a:spcPct val="130000"/>
              </a:lnSpc>
            </a:pPr>
            <a:r>
              <a:rPr sz="1300" b="0" i="0">
                <a:solidFill>
                  <a:srgbClr val="A9BEB8"/>
                </a:solidFill>
                <a:latin typeface="Corbel"/>
              </a:rPr>
              <a:t>Three distinct regimes in six years — and an honest mark-to-market of the scenarios we published in January 2016</a:t>
            </a:r>
          </a:p>
        </p:txBody>
      </p:sp>
      <p:sp>
        <p:nvSpPr>
          <p:cNvPr id="7" name="TextBox 6"/>
          <p:cNvSpPr txBox="1"/>
          <p:nvPr/>
        </p:nvSpPr>
        <p:spPr>
          <a:xfrm>
            <a:off x="9174175" y="6053328"/>
            <a:ext cx="2468880" cy="274320"/>
          </a:xfrm>
          <a:prstGeom prst="rect">
            <a:avLst/>
          </a:prstGeom>
          <a:noFill/>
        </p:spPr>
        <p:txBody>
          <a:bodyPr wrap="square" lIns="0" rIns="0" tIns="0" bIns="0" anchor="t">
            <a:spAutoFit/>
          </a:bodyPr>
          <a:lstStyle/>
          <a:p>
            <a:pPr algn="r">
              <a:lnSpc>
                <a:spcPct val="105000"/>
              </a:lnSpc>
            </a:pPr>
            <a:r>
              <a:rPr sz="800" b="0" i="0" spc="220">
                <a:solidFill>
                  <a:srgbClr val="A9BEB8"/>
                </a:solidFill>
                <a:latin typeface="Corbel"/>
              </a:rPr>
              <a:t>NORTHPOINT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09</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The economy we lived through</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THE ECONOMY WE LIVED THROUGH</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Six years, seven turning points</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The events that shaped the fund, plotted against the wealth they created or destroyed</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02_growth_events.png"/>
          <p:cNvPicPr>
            <a:picLocks noChangeAspect="1"/>
          </p:cNvPicPr>
          <p:nvPr/>
        </p:nvPicPr>
        <p:blipFill>
          <a:blip r:embed="rId2"/>
          <a:stretch>
            <a:fillRect/>
          </a:stretch>
        </p:blipFill>
        <p:spPr>
          <a:xfrm>
            <a:off x="2191359" y="1536192"/>
            <a:ext cx="8558784" cy="46085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10</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The economy we lived through</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THE ECONOMY WE LIVED THROUGH</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The macro backdrop, regime by regime</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How the state of the economy translated into the portfolio's returns</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sp>
        <p:nvSpPr>
          <p:cNvPr id="11" name="Rectangle 10"/>
          <p:cNvSpPr/>
          <p:nvPr/>
        </p:nvSpPr>
        <p:spPr>
          <a:xfrm>
            <a:off x="1298448" y="1645920"/>
            <a:ext cx="5035143" cy="20116"/>
          </a:xfrm>
          <a:prstGeom prst="rect">
            <a:avLst/>
          </a:prstGeom>
          <a:solidFill>
            <a:srgbClr val="007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98448" y="1773936"/>
            <a:ext cx="3657600" cy="292608"/>
          </a:xfrm>
          <a:prstGeom prst="rect">
            <a:avLst/>
          </a:prstGeom>
          <a:noFill/>
        </p:spPr>
        <p:txBody>
          <a:bodyPr wrap="square" lIns="0" rIns="0" tIns="0" bIns="0" anchor="t">
            <a:spAutoFit/>
          </a:bodyPr>
          <a:lstStyle/>
          <a:p>
            <a:pPr algn="l">
              <a:lnSpc>
                <a:spcPct val="105000"/>
              </a:lnSpc>
            </a:pPr>
            <a:r>
              <a:rPr sz="1900" b="0" i="0">
                <a:solidFill>
                  <a:srgbClr val="16130F"/>
                </a:solidFill>
                <a:latin typeface="Georgia"/>
              </a:rPr>
              <a:t>2017 – 2019</a:t>
            </a:r>
          </a:p>
        </p:txBody>
      </p:sp>
      <p:sp>
        <p:nvSpPr>
          <p:cNvPr id="13" name="TextBox 12"/>
          <p:cNvSpPr txBox="1"/>
          <p:nvPr/>
        </p:nvSpPr>
        <p:spPr>
          <a:xfrm>
            <a:off x="1298448" y="2103120"/>
            <a:ext cx="4852263" cy="237744"/>
          </a:xfrm>
          <a:prstGeom prst="rect">
            <a:avLst/>
          </a:prstGeom>
          <a:noFill/>
        </p:spPr>
        <p:txBody>
          <a:bodyPr wrap="square" lIns="0" rIns="0" tIns="0" bIns="0" anchor="t">
            <a:spAutoFit/>
          </a:bodyPr>
          <a:lstStyle/>
          <a:p>
            <a:pPr algn="l">
              <a:lnSpc>
                <a:spcPct val="105000"/>
              </a:lnSpc>
            </a:pPr>
            <a:r>
              <a:rPr sz="850" b="1" i="0" spc="130">
                <a:solidFill>
                  <a:srgbClr val="8C8478"/>
                </a:solidFill>
                <a:latin typeface="Corbel"/>
              </a:rPr>
              <a:t>SYNCHRONISED GROWTH</a:t>
            </a:r>
          </a:p>
        </p:txBody>
      </p:sp>
      <p:sp>
        <p:nvSpPr>
          <p:cNvPr id="14" name="TextBox 13"/>
          <p:cNvSpPr txBox="1"/>
          <p:nvPr/>
        </p:nvSpPr>
        <p:spPr>
          <a:xfrm>
            <a:off x="1298448" y="2560320"/>
            <a:ext cx="4797399" cy="755904"/>
          </a:xfrm>
          <a:prstGeom prst="rect">
            <a:avLst/>
          </a:prstGeom>
          <a:noFill/>
        </p:spPr>
        <p:txBody>
          <a:bodyPr wrap="square" lIns="0" rIns="0" tIns="0" bIns="0">
            <a:spAutoFit/>
          </a:bodyPr>
          <a:lstStyle/>
          <a:p>
            <a:pPr>
              <a:lnSpc>
                <a:spcPct val="122000"/>
              </a:lnSpc>
            </a:pPr>
            <a:r>
              <a:rPr sz="1200" b="1">
                <a:solidFill>
                  <a:srgbClr val="0D3B38"/>
                </a:solidFill>
                <a:latin typeface="Corbel"/>
              </a:rPr>
              <a:t>2017: +40.0%  </a:t>
            </a:r>
            <a:r>
              <a:rPr sz="1200">
                <a:solidFill>
                  <a:srgbClr val="16130F"/>
                </a:solidFill>
                <a:latin typeface="Corbel"/>
              </a:rPr>
              <a:t>Synchronised global growth, benign inflation, a gradual Fed. US tax reform cut the corporate rate from 35% to 21%, lifting after-tax earnings across the book.</a:t>
            </a:r>
          </a:p>
        </p:txBody>
      </p:sp>
      <p:sp>
        <p:nvSpPr>
          <p:cNvPr id="15" name="TextBox 14"/>
          <p:cNvSpPr txBox="1"/>
          <p:nvPr/>
        </p:nvSpPr>
        <p:spPr>
          <a:xfrm>
            <a:off x="1298448" y="3499104"/>
            <a:ext cx="4797399" cy="755904"/>
          </a:xfrm>
          <a:prstGeom prst="rect">
            <a:avLst/>
          </a:prstGeom>
          <a:noFill/>
        </p:spPr>
        <p:txBody>
          <a:bodyPr wrap="square" lIns="0" rIns="0" tIns="0" bIns="0">
            <a:spAutoFit/>
          </a:bodyPr>
          <a:lstStyle/>
          <a:p>
            <a:pPr>
              <a:lnSpc>
                <a:spcPct val="122000"/>
              </a:lnSpc>
            </a:pPr>
            <a:r>
              <a:rPr sz="1200" b="1">
                <a:solidFill>
                  <a:srgbClr val="0D3B38"/>
                </a:solidFill>
                <a:latin typeface="Corbel"/>
              </a:rPr>
              <a:t>2018: +3.7%  </a:t>
            </a:r>
            <a:r>
              <a:rPr sz="1200">
                <a:solidFill>
                  <a:srgbClr val="16130F"/>
                </a:solidFill>
                <a:latin typeface="Corbel"/>
              </a:rPr>
              <a:t>Trade-war escalation and a hawkish Fed produced a violent Q4. We lost 9.6% in October and 9.8% in December — and still finished positive while the S&amp;P fell 4.6%.</a:t>
            </a:r>
          </a:p>
        </p:txBody>
      </p:sp>
      <p:sp>
        <p:nvSpPr>
          <p:cNvPr id="16" name="TextBox 15"/>
          <p:cNvSpPr txBox="1"/>
          <p:nvPr/>
        </p:nvSpPr>
        <p:spPr>
          <a:xfrm>
            <a:off x="1298448" y="4437888"/>
            <a:ext cx="4797399" cy="566928"/>
          </a:xfrm>
          <a:prstGeom prst="rect">
            <a:avLst/>
          </a:prstGeom>
          <a:noFill/>
        </p:spPr>
        <p:txBody>
          <a:bodyPr wrap="square" lIns="0" rIns="0" tIns="0" bIns="0">
            <a:spAutoFit/>
          </a:bodyPr>
          <a:lstStyle/>
          <a:p>
            <a:pPr>
              <a:lnSpc>
                <a:spcPct val="122000"/>
              </a:lnSpc>
            </a:pPr>
            <a:r>
              <a:rPr sz="1200" b="1">
                <a:solidFill>
                  <a:srgbClr val="0D3B38"/>
                </a:solidFill>
                <a:latin typeface="Corbel"/>
              </a:rPr>
              <a:t>2019: +36.6%  </a:t>
            </a:r>
            <a:r>
              <a:rPr sz="1200">
                <a:solidFill>
                  <a:srgbClr val="16130F"/>
                </a:solidFill>
                <a:latin typeface="Corbel"/>
              </a:rPr>
              <a:t>The Fed pivoted to cutting. Multiple expansion did most of the work; cloud and payments earnings kept compounding underneath it.</a:t>
            </a:r>
          </a:p>
        </p:txBody>
      </p:sp>
      <p:sp>
        <p:nvSpPr>
          <p:cNvPr id="17" name="Rectangle 16"/>
          <p:cNvSpPr/>
          <p:nvPr/>
        </p:nvSpPr>
        <p:spPr>
          <a:xfrm>
            <a:off x="6607911" y="1645920"/>
            <a:ext cx="5035143" cy="20116"/>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7911" y="1773936"/>
            <a:ext cx="3657600" cy="292608"/>
          </a:xfrm>
          <a:prstGeom prst="rect">
            <a:avLst/>
          </a:prstGeom>
          <a:noFill/>
        </p:spPr>
        <p:txBody>
          <a:bodyPr wrap="square" lIns="0" rIns="0" tIns="0" bIns="0" anchor="t">
            <a:spAutoFit/>
          </a:bodyPr>
          <a:lstStyle/>
          <a:p>
            <a:pPr algn="l">
              <a:lnSpc>
                <a:spcPct val="105000"/>
              </a:lnSpc>
            </a:pPr>
            <a:r>
              <a:rPr sz="1900" b="0" i="0">
                <a:solidFill>
                  <a:srgbClr val="16130F"/>
                </a:solidFill>
                <a:latin typeface="Georgia"/>
              </a:rPr>
              <a:t>2020 – 2022</a:t>
            </a:r>
          </a:p>
        </p:txBody>
      </p:sp>
      <p:sp>
        <p:nvSpPr>
          <p:cNvPr id="19" name="TextBox 18"/>
          <p:cNvSpPr txBox="1"/>
          <p:nvPr/>
        </p:nvSpPr>
        <p:spPr>
          <a:xfrm>
            <a:off x="6607911" y="2103120"/>
            <a:ext cx="4852263" cy="237744"/>
          </a:xfrm>
          <a:prstGeom prst="rect">
            <a:avLst/>
          </a:prstGeom>
          <a:noFill/>
        </p:spPr>
        <p:txBody>
          <a:bodyPr wrap="square" lIns="0" rIns="0" tIns="0" bIns="0" anchor="t">
            <a:spAutoFit/>
          </a:bodyPr>
          <a:lstStyle/>
          <a:p>
            <a:pPr algn="l">
              <a:lnSpc>
                <a:spcPct val="105000"/>
              </a:lnSpc>
            </a:pPr>
            <a:r>
              <a:rPr sz="850" b="1" i="0" spc="130">
                <a:solidFill>
                  <a:srgbClr val="8C8478"/>
                </a:solidFill>
                <a:latin typeface="Corbel"/>
              </a:rPr>
              <a:t>PANDEMIC, STIMULUS, THEN THE RATE SHOCK</a:t>
            </a:r>
          </a:p>
        </p:txBody>
      </p:sp>
      <p:sp>
        <p:nvSpPr>
          <p:cNvPr id="20" name="TextBox 19"/>
          <p:cNvSpPr txBox="1"/>
          <p:nvPr/>
        </p:nvSpPr>
        <p:spPr>
          <a:xfrm>
            <a:off x="6607911" y="2560320"/>
            <a:ext cx="4797399" cy="755904"/>
          </a:xfrm>
          <a:prstGeom prst="rect">
            <a:avLst/>
          </a:prstGeom>
          <a:noFill/>
        </p:spPr>
        <p:txBody>
          <a:bodyPr wrap="square" lIns="0" rIns="0" tIns="0" bIns="0">
            <a:spAutoFit/>
          </a:bodyPr>
          <a:lstStyle/>
          <a:p>
            <a:pPr>
              <a:lnSpc>
                <a:spcPct val="122000"/>
              </a:lnSpc>
            </a:pPr>
            <a:r>
              <a:rPr sz="1200" b="1">
                <a:solidFill>
                  <a:srgbClr val="0D3B38"/>
                </a:solidFill>
                <a:latin typeface="Corbel"/>
              </a:rPr>
              <a:t>2020: +37.1%  </a:t>
            </a:r>
            <a:r>
              <a:rPr sz="1200">
                <a:solidFill>
                  <a:srgbClr val="16130F"/>
                </a:solidFill>
                <a:latin typeface="Corbel"/>
              </a:rPr>
              <a:t>The COVID crash took 12.6% off the fund in two months. Then the pandemic became the single largest accelerant our thesis ever received: remote work, e-commerce and cloud migration pulled forward by years.</a:t>
            </a:r>
          </a:p>
        </p:txBody>
      </p:sp>
      <p:sp>
        <p:nvSpPr>
          <p:cNvPr id="21" name="TextBox 20"/>
          <p:cNvSpPr txBox="1"/>
          <p:nvPr/>
        </p:nvSpPr>
        <p:spPr>
          <a:xfrm>
            <a:off x="6607911" y="3499104"/>
            <a:ext cx="4797399" cy="566928"/>
          </a:xfrm>
          <a:prstGeom prst="rect">
            <a:avLst/>
          </a:prstGeom>
          <a:noFill/>
        </p:spPr>
        <p:txBody>
          <a:bodyPr wrap="square" lIns="0" rIns="0" tIns="0" bIns="0">
            <a:spAutoFit/>
          </a:bodyPr>
          <a:lstStyle/>
          <a:p>
            <a:pPr>
              <a:lnSpc>
                <a:spcPct val="122000"/>
              </a:lnSpc>
            </a:pPr>
            <a:r>
              <a:rPr sz="1200" b="1">
                <a:solidFill>
                  <a:srgbClr val="0D3B38"/>
                </a:solidFill>
                <a:latin typeface="Corbel"/>
              </a:rPr>
              <a:t>2021: +32.5%  </a:t>
            </a:r>
            <a:r>
              <a:rPr sz="1200">
                <a:solidFill>
                  <a:srgbClr val="16130F"/>
                </a:solidFill>
                <a:latin typeface="Corbel"/>
              </a:rPr>
              <a:t>Reopening, record stimulus and peak growth valuations. Our thesis was consensus by now — which is usually the warning sign, and it was.</a:t>
            </a:r>
          </a:p>
        </p:txBody>
      </p:sp>
      <p:sp>
        <p:nvSpPr>
          <p:cNvPr id="22" name="TextBox 21"/>
          <p:cNvSpPr txBox="1"/>
          <p:nvPr/>
        </p:nvSpPr>
        <p:spPr>
          <a:xfrm>
            <a:off x="6607911" y="4248912"/>
            <a:ext cx="4797399" cy="944880"/>
          </a:xfrm>
          <a:prstGeom prst="rect">
            <a:avLst/>
          </a:prstGeom>
          <a:noFill/>
        </p:spPr>
        <p:txBody>
          <a:bodyPr wrap="square" lIns="0" rIns="0" tIns="0" bIns="0">
            <a:spAutoFit/>
          </a:bodyPr>
          <a:lstStyle/>
          <a:p>
            <a:pPr>
              <a:lnSpc>
                <a:spcPct val="122000"/>
              </a:lnSpc>
            </a:pPr>
            <a:r>
              <a:rPr sz="1200" b="1">
                <a:solidFill>
                  <a:srgbClr val="0D3B38"/>
                </a:solidFill>
                <a:latin typeface="Corbel"/>
              </a:rPr>
              <a:t>2022: −22.5%  </a:t>
            </a:r>
            <a:r>
              <a:rPr sz="1200">
                <a:solidFill>
                  <a:srgbClr val="16130F"/>
                </a:solidFill>
                <a:latin typeface="Corbel"/>
              </a:rPr>
              <a:t>The sharpest tightening cycle since 1981. CPI peaked at 9.1%; the Fed raised 425bp. Long-duration growth equity de-rated hardest. Our energy and materials ballast is why we fell 10 points less than the NASDAQ-100.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11</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The economy we lived through</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THE ECONOMY WE LIVED THROUGH</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Marking our 2016 scenarios to market</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We were right about direction in five of six years, and consistently too conservative about magnitude</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25_scenario.png"/>
          <p:cNvPicPr>
            <a:picLocks noChangeAspect="1"/>
          </p:cNvPicPr>
          <p:nvPr/>
        </p:nvPicPr>
        <p:blipFill>
          <a:blip r:embed="rId2"/>
          <a:stretch>
            <a:fillRect/>
          </a:stretch>
        </p:blipFill>
        <p:spPr>
          <a:xfrm>
            <a:off x="2097473" y="1517904"/>
            <a:ext cx="8746557" cy="3456431"/>
          </a:xfrm>
          <a:prstGeom prst="rect">
            <a:avLst/>
          </a:prstGeom>
        </p:spPr>
      </p:pic>
      <p:graphicFrame>
        <p:nvGraphicFramePr>
          <p:cNvPr id="12" name="Table 11"/>
          <p:cNvGraphicFramePr>
            <a:graphicFrameLocks noGrp="1"/>
          </p:cNvGraphicFramePr>
          <p:nvPr/>
        </p:nvGraphicFramePr>
        <p:xfrm>
          <a:off x="1298448" y="5102352"/>
          <a:ext cx="10344604" cy="1097280"/>
        </p:xfrm>
        <a:graphic>
          <a:graphicData uri="http://schemas.openxmlformats.org/drawingml/2006/table">
            <a:tbl>
              <a:tblPr>
                <a:tableStyleId>{5C22544A-7EE6-4342-B048-85BDC9FD1C3A}</a:tableStyleId>
              </a:tblPr>
              <a:tblGrid>
                <a:gridCol w="2793043"/>
                <a:gridCol w="1551691"/>
                <a:gridCol w="1344798"/>
                <a:gridCol w="2379259"/>
                <a:gridCol w="2275813"/>
              </a:tblGrid>
              <a:tr h="274320">
                <a:tc>
                  <a:txBody>
                    <a:bodyPr wrap="square"/>
                    <a:lstStyle/>
                    <a:p>
                      <a:pPr algn="l"/>
                      <a:r>
                        <a:rPr sz="900" b="1" spc="130">
                          <a:solidFill>
                            <a:srgbClr val="4A443C"/>
                          </a:solidFill>
                          <a:latin typeface="Corbel"/>
                        </a:rPr>
                        <a:t>SCENARIO (AS PUBLISHED, JAN 2016)</a:t>
                      </a:r>
                    </a:p>
                  </a:txBody>
                  <a:tcPr marL="18288" marR="91440" marT="27432" marB="27432" anchor="ctr">
                    <a:noFill/>
                    <a:lnB w="6350" cap="flat">
                      <a:solidFill>
                        <a:srgbClr val="16130F"/>
                      </a:solidFill>
                    </a:lnB>
                  </a:tcPr>
                </a:tc>
                <a:tc>
                  <a:txBody>
                    <a:bodyPr wrap="square"/>
                    <a:lstStyle/>
                    <a:p>
                      <a:pPr algn="ctr"/>
                      <a:r>
                        <a:rPr sz="900" b="1" spc="130">
                          <a:solidFill>
                            <a:srgbClr val="4A443C"/>
                          </a:solidFill>
                          <a:latin typeface="Corbel"/>
                        </a:rPr>
                        <a:t>ASSIGNED PROBABILITY</a:t>
                      </a:r>
                    </a:p>
                  </a:txBody>
                  <a:tcPr marL="91440" marR="91440" marT="27432" marB="27432" anchor="ctr">
                    <a:noFill/>
                    <a:lnB w="6350" cap="flat">
                      <a:solidFill>
                        <a:srgbClr val="16130F"/>
                      </a:solidFill>
                    </a:lnB>
                  </a:tcPr>
                </a:tc>
                <a:tc>
                  <a:txBody>
                    <a:bodyPr wrap="square"/>
                    <a:lstStyle/>
                    <a:p>
                      <a:pPr algn="ctr"/>
                      <a:r>
                        <a:rPr sz="900" b="1" spc="130">
                          <a:solidFill>
                            <a:srgbClr val="4A443C"/>
                          </a:solidFill>
                          <a:latin typeface="Corbel"/>
                        </a:rPr>
                        <a:t>ASSUMED RETURN P.A.</a:t>
                      </a:r>
                    </a:p>
                  </a:txBody>
                  <a:tcPr marL="91440" marR="91440" marT="27432" marB="27432" anchor="ctr">
                    <a:noFill/>
                    <a:lnB w="6350" cap="flat">
                      <a:solidFill>
                        <a:srgbClr val="16130F"/>
                      </a:solidFill>
                    </a:lnB>
                  </a:tcPr>
                </a:tc>
                <a:tc>
                  <a:txBody>
                    <a:bodyPr wrap="square"/>
                    <a:lstStyle/>
                    <a:p>
                      <a:pPr algn="l"/>
                      <a:r>
                        <a:rPr sz="900" b="1" spc="130">
                          <a:solidFill>
                            <a:srgbClr val="4A443C"/>
                          </a:solidFill>
                          <a:latin typeface="Corbel"/>
                        </a:rPr>
                        <a:t>YEARS IT ACTUALLY DESCRIBED</a:t>
                      </a:r>
                    </a:p>
                  </a:txBody>
                  <a:tcPr marL="91440" marR="91440" marT="27432" marB="27432" anchor="ctr">
                    <a:noFill/>
                    <a:lnB w="6350" cap="flat">
                      <a:solidFill>
                        <a:srgbClr val="16130F"/>
                      </a:solidFill>
                    </a:lnB>
                  </a:tcPr>
                </a:tc>
                <a:tc>
                  <a:txBody>
                    <a:bodyPr wrap="square"/>
                    <a:lstStyle/>
                    <a:p>
                      <a:pPr algn="l"/>
                      <a:r>
                        <a:rPr sz="900" b="1" spc="130">
                          <a:solidFill>
                            <a:srgbClr val="4A443C"/>
                          </a:solidFill>
                          <a:latin typeface="Corbel"/>
                        </a:rPr>
                        <a:t>VERDICT</a:t>
                      </a:r>
                    </a:p>
                  </a:txBody>
                  <a:tcPr marL="91440" marR="91440" marT="27432" marB="27432" anchor="ctr">
                    <a:noFill/>
                    <a:lnB w="6350" cap="flat">
                      <a:solidFill>
                        <a:srgbClr val="16130F"/>
                      </a:solidFill>
                    </a:lnB>
                  </a:tcPr>
                </a:tc>
              </a:tr>
              <a:tr h="274320">
                <a:tc>
                  <a:txBody>
                    <a:bodyPr wrap="square"/>
                    <a:lstStyle/>
                    <a:p>
                      <a:pPr algn="l"/>
                      <a:r>
                        <a:rPr sz="1050" b="1">
                          <a:solidFill>
                            <a:srgbClr val="16130F"/>
                          </a:solidFill>
                          <a:latin typeface="Corbel"/>
                        </a:rPr>
                        <a:t>A — Growth &amp; digital acceleration</a:t>
                      </a:r>
                    </a:p>
                  </a:txBody>
                  <a:tcPr marL="18288" marR="91440" marT="27432" marB="27432" anchor="ctr">
                    <a:noFill/>
                    <a:lnT w="3175" cap="flat">
                      <a:solidFill>
                        <a:srgbClr val="E2DCCF"/>
                      </a:solidFill>
                    </a:lnT>
                  </a:tcPr>
                </a:tc>
                <a:tc>
                  <a:txBody>
                    <a:bodyPr wrap="square"/>
                    <a:lstStyle/>
                    <a:p>
                      <a:pPr algn="ctr"/>
                      <a:r>
                        <a:rPr sz="1050" b="0">
                          <a:solidFill>
                            <a:srgbClr val="16130F"/>
                          </a:solidFill>
                          <a:latin typeface="Corbel"/>
                        </a:rPr>
                        <a:t>50% ST / 40% MT</a:t>
                      </a:r>
                    </a:p>
                  </a:txBody>
                  <a:tcPr marL="91440" marR="91440" marT="27432" marB="27432" anchor="ctr">
                    <a:noFill/>
                    <a:lnT w="3175" cap="flat">
                      <a:solidFill>
                        <a:srgbClr val="E2DCCF"/>
                      </a:solidFill>
                    </a:lnT>
                  </a:tcPr>
                </a:tc>
                <a:tc>
                  <a:txBody>
                    <a:bodyPr wrap="square"/>
                    <a:lstStyle/>
                    <a:p>
                      <a:pPr algn="ctr"/>
                      <a:r>
                        <a:rPr sz="1050" b="0">
                          <a:solidFill>
                            <a:srgbClr val="16130F"/>
                          </a:solidFill>
                          <a:latin typeface="Corbel"/>
                        </a:rPr>
                        <a:t>+18%</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2017, 2018, 2020, 2021</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Occurred in 4 of 6 years</a:t>
                      </a:r>
                    </a:p>
                  </a:txBody>
                  <a:tcPr marL="91440" marR="91440" marT="27432" marB="27432" anchor="ctr">
                    <a:noFill/>
                    <a:lnT w="3175" cap="flat">
                      <a:solidFill>
                        <a:srgbClr val="E2DCCF"/>
                      </a:solidFill>
                    </a:lnT>
                  </a:tcPr>
                </a:tc>
              </a:tr>
              <a:tr h="274320">
                <a:tc>
                  <a:txBody>
                    <a:bodyPr wrap="square"/>
                    <a:lstStyle/>
                    <a:p>
                      <a:pPr algn="l"/>
                      <a:r>
                        <a:rPr sz="1050" b="1">
                          <a:solidFill>
                            <a:srgbClr val="16130F"/>
                          </a:solidFill>
                          <a:latin typeface="Corbel"/>
                        </a:rPr>
                        <a:t>B — Stagnation / low-growth grind</a:t>
                      </a:r>
                    </a:p>
                  </a:txBody>
                  <a:tcPr marL="18288" marR="91440" marT="27432" marB="27432" anchor="ctr">
                    <a:noFill/>
                    <a:lnT w="3175" cap="flat">
                      <a:solidFill>
                        <a:srgbClr val="E2DCCF"/>
                      </a:solidFill>
                    </a:lnT>
                  </a:tcPr>
                </a:tc>
                <a:tc>
                  <a:txBody>
                    <a:bodyPr wrap="square"/>
                    <a:lstStyle/>
                    <a:p>
                      <a:pPr algn="ctr"/>
                      <a:r>
                        <a:rPr sz="1050" b="0">
                          <a:solidFill>
                            <a:srgbClr val="16130F"/>
                          </a:solidFill>
                          <a:latin typeface="Corbel"/>
                        </a:rPr>
                        <a:t>30% ST / 30% MT</a:t>
                      </a:r>
                    </a:p>
                  </a:txBody>
                  <a:tcPr marL="91440" marR="91440" marT="27432" marB="27432" anchor="ctr">
                    <a:noFill/>
                    <a:lnT w="3175" cap="flat">
                      <a:solidFill>
                        <a:srgbClr val="E2DCCF"/>
                      </a:solidFill>
                    </a:lnT>
                  </a:tcPr>
                </a:tc>
                <a:tc>
                  <a:txBody>
                    <a:bodyPr wrap="square"/>
                    <a:lstStyle/>
                    <a:p>
                      <a:pPr algn="ctr"/>
                      <a:r>
                        <a:rPr sz="1050" b="0">
                          <a:solidFill>
                            <a:srgbClr val="16130F"/>
                          </a:solidFill>
                          <a:latin typeface="Corbel"/>
                        </a:rPr>
                        <a:t>+9%</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2019</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Understated: we returned 36.6%</a:t>
                      </a:r>
                    </a:p>
                  </a:txBody>
                  <a:tcPr marL="91440" marR="91440" marT="27432" marB="27432" anchor="ctr">
                    <a:noFill/>
                    <a:lnT w="3175" cap="flat">
                      <a:solidFill>
                        <a:srgbClr val="E2DCCF"/>
                      </a:solidFill>
                    </a:lnT>
                  </a:tcPr>
                </a:tc>
              </a:tr>
              <a:tr h="274320">
                <a:tc>
                  <a:txBody>
                    <a:bodyPr wrap="square"/>
                    <a:lstStyle/>
                    <a:p>
                      <a:pPr algn="l"/>
                      <a:r>
                        <a:rPr sz="1050" b="1">
                          <a:solidFill>
                            <a:srgbClr val="16130F"/>
                          </a:solidFill>
                          <a:latin typeface="Corbel"/>
                        </a:rPr>
                        <a:t>C — Recession / risk-off shock</a:t>
                      </a:r>
                    </a:p>
                  </a:txBody>
                  <a:tcPr marL="18288" marR="91440" marT="27432" marB="27432" anchor="ctr">
                    <a:noFill/>
                    <a:lnT w="3175" cap="flat">
                      <a:solidFill>
                        <a:srgbClr val="E2DCCF"/>
                      </a:solidFill>
                    </a:lnT>
                  </a:tcPr>
                </a:tc>
                <a:tc>
                  <a:txBody>
                    <a:bodyPr wrap="square"/>
                    <a:lstStyle/>
                    <a:p>
                      <a:pPr algn="ctr"/>
                      <a:r>
                        <a:rPr sz="1050" b="0">
                          <a:solidFill>
                            <a:srgbClr val="16130F"/>
                          </a:solidFill>
                          <a:latin typeface="Corbel"/>
                        </a:rPr>
                        <a:t>20% ST / 30% MT</a:t>
                      </a:r>
                    </a:p>
                  </a:txBody>
                  <a:tcPr marL="91440" marR="91440" marT="27432" marB="27432" anchor="ctr">
                    <a:noFill/>
                    <a:lnT w="3175" cap="flat">
                      <a:solidFill>
                        <a:srgbClr val="E2DCCF"/>
                      </a:solidFill>
                    </a:lnT>
                  </a:tcPr>
                </a:tc>
                <a:tc>
                  <a:txBody>
                    <a:bodyPr wrap="square"/>
                    <a:lstStyle/>
                    <a:p>
                      <a:pPr algn="ctr"/>
                      <a:r>
                        <a:rPr sz="1050" b="0">
                          <a:solidFill>
                            <a:srgbClr val="16130F"/>
                          </a:solidFill>
                          <a:latin typeface="Corbel"/>
                        </a:rPr>
                        <a:t>−4%</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2022</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Understated: we lost 22.5%</a:t>
                      </a:r>
                    </a:p>
                  </a:txBody>
                  <a:tcPr marL="91440" marR="91440" marT="27432" marB="27432" anchor="ctr">
                    <a:noFill/>
                    <a:lnT w="3175" cap="flat">
                      <a:solidFill>
                        <a:srgbClr val="E2DCCF"/>
                      </a:solidFill>
                    </a:lnT>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3B38"/>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371600"/>
            <a:ext cx="3840480" cy="2377440"/>
          </a:xfrm>
          <a:prstGeom prst="rect">
            <a:avLst/>
          </a:prstGeom>
          <a:noFill/>
        </p:spPr>
        <p:txBody>
          <a:bodyPr wrap="square" lIns="0" rIns="0" tIns="0" bIns="0" anchor="t">
            <a:spAutoFit/>
          </a:bodyPr>
          <a:lstStyle/>
          <a:p>
            <a:pPr algn="l">
              <a:lnSpc>
                <a:spcPct val="105000"/>
              </a:lnSpc>
            </a:pPr>
            <a:r>
              <a:rPr sz="13200" b="0" i="0">
                <a:solidFill>
                  <a:srgbClr val="144E4A"/>
                </a:solidFill>
                <a:latin typeface="Georgia"/>
              </a:rPr>
              <a:t>03</a:t>
            </a:r>
          </a:p>
        </p:txBody>
      </p:sp>
      <p:sp>
        <p:nvSpPr>
          <p:cNvPr id="4" name="Rectangle 3"/>
          <p:cNvSpPr/>
          <p:nvPr/>
        </p:nvSpPr>
        <p:spPr>
          <a:xfrm>
            <a:off x="1024128" y="3913632"/>
            <a:ext cx="1371600" cy="2743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4224528"/>
            <a:ext cx="8961120" cy="822960"/>
          </a:xfrm>
          <a:prstGeom prst="rect">
            <a:avLst/>
          </a:prstGeom>
          <a:noFill/>
        </p:spPr>
        <p:txBody>
          <a:bodyPr wrap="square" lIns="0" rIns="0" tIns="0" bIns="0" anchor="t">
            <a:spAutoFit/>
          </a:bodyPr>
          <a:lstStyle/>
          <a:p>
            <a:pPr algn="l">
              <a:lnSpc>
                <a:spcPct val="104000"/>
              </a:lnSpc>
            </a:pPr>
            <a:r>
              <a:rPr sz="3800" b="0" i="0">
                <a:solidFill>
                  <a:srgbClr val="F2ECDE"/>
                </a:solidFill>
                <a:latin typeface="Georgia"/>
              </a:rPr>
              <a:t>What the fund returned</a:t>
            </a:r>
          </a:p>
        </p:txBody>
      </p:sp>
      <p:sp>
        <p:nvSpPr>
          <p:cNvPr id="6" name="TextBox 5"/>
          <p:cNvSpPr txBox="1"/>
          <p:nvPr/>
        </p:nvSpPr>
        <p:spPr>
          <a:xfrm>
            <a:off x="1005840" y="5138928"/>
            <a:ext cx="7680960" cy="822960"/>
          </a:xfrm>
          <a:prstGeom prst="rect">
            <a:avLst/>
          </a:prstGeom>
          <a:noFill/>
        </p:spPr>
        <p:txBody>
          <a:bodyPr wrap="square" lIns="0" rIns="0" tIns="0" bIns="0" anchor="t">
            <a:spAutoFit/>
          </a:bodyPr>
          <a:lstStyle/>
          <a:p>
            <a:pPr algn="l">
              <a:lnSpc>
                <a:spcPct val="130000"/>
              </a:lnSpc>
            </a:pPr>
            <a:r>
              <a:rPr sz="1300" b="0" i="0">
                <a:solidFill>
                  <a:srgbClr val="A9BEB8"/>
                </a:solidFill>
                <a:latin typeface="Corbel"/>
              </a:rPr>
              <a:t>Wealth created, benchmarked against the indices you are paying us to beat, and stress-tested through the two events that mattered</a:t>
            </a:r>
          </a:p>
        </p:txBody>
      </p:sp>
      <p:sp>
        <p:nvSpPr>
          <p:cNvPr id="7" name="TextBox 6"/>
          <p:cNvSpPr txBox="1"/>
          <p:nvPr/>
        </p:nvSpPr>
        <p:spPr>
          <a:xfrm>
            <a:off x="9174175" y="6053328"/>
            <a:ext cx="2468880" cy="274320"/>
          </a:xfrm>
          <a:prstGeom prst="rect">
            <a:avLst/>
          </a:prstGeom>
          <a:noFill/>
        </p:spPr>
        <p:txBody>
          <a:bodyPr wrap="square" lIns="0" rIns="0" tIns="0" bIns="0" anchor="t">
            <a:spAutoFit/>
          </a:bodyPr>
          <a:lstStyle/>
          <a:p>
            <a:pPr algn="r">
              <a:lnSpc>
                <a:spcPct val="105000"/>
              </a:lnSpc>
            </a:pPr>
            <a:r>
              <a:rPr sz="800" b="0" i="0" spc="220">
                <a:solidFill>
                  <a:srgbClr val="A9BEB8"/>
                </a:solidFill>
                <a:latin typeface="Corbel"/>
              </a:rPr>
              <a:t>NORTHPOINT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13</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What the fund returned</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WHAT THE FUND RETURNED</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A $100m mandate became $279m</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Ahead of the S&amp;P 500 by 89 percentage points, and ahead of our own theme-aligned benchmark by 44</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01_growth.png"/>
          <p:cNvPicPr>
            <a:picLocks noChangeAspect="1"/>
          </p:cNvPicPr>
          <p:nvPr/>
        </p:nvPicPr>
        <p:blipFill>
          <a:blip r:embed="rId2"/>
          <a:stretch>
            <a:fillRect/>
          </a:stretch>
        </p:blipFill>
        <p:spPr>
          <a:xfrm>
            <a:off x="2193930" y="1517904"/>
            <a:ext cx="8553642" cy="3182111"/>
          </a:xfrm>
          <a:prstGeom prst="rect">
            <a:avLst/>
          </a:prstGeom>
        </p:spPr>
      </p:pic>
      <p:graphicFrame>
        <p:nvGraphicFramePr>
          <p:cNvPr id="12" name="Table 11"/>
          <p:cNvGraphicFramePr>
            <a:graphicFrameLocks noGrp="1"/>
          </p:cNvGraphicFramePr>
          <p:nvPr/>
        </p:nvGraphicFramePr>
        <p:xfrm>
          <a:off x="1298448" y="4828032"/>
          <a:ext cx="10344605" cy="1371600"/>
        </p:xfrm>
        <a:graphic>
          <a:graphicData uri="http://schemas.openxmlformats.org/drawingml/2006/table">
            <a:tbl>
              <a:tblPr>
                <a:tableStyleId>{5C22544A-7EE6-4342-B048-85BDC9FD1C3A}</a:tableStyleId>
              </a:tblPr>
              <a:tblGrid>
                <a:gridCol w="3517166"/>
                <a:gridCol w="1551691"/>
                <a:gridCol w="1241352"/>
                <a:gridCol w="2172367"/>
                <a:gridCol w="1862029"/>
              </a:tblGrid>
              <a:tr h="274320">
                <a:tc>
                  <a:txBody>
                    <a:bodyPr wrap="square"/>
                    <a:lstStyle/>
                    <a:p>
                      <a:pPr algn="l"/>
                      <a:r>
                        <a:rPr sz="950" b="1" spc="130">
                          <a:solidFill>
                            <a:srgbClr val="4A443C"/>
                          </a:solidFill>
                          <a:latin typeface="Corbel"/>
                        </a:rPr>
                        <a:t/>
                      </a:r>
                    </a:p>
                  </a:txBody>
                  <a:tcPr marL="18288" marR="91440" marT="27432" marB="27432" anchor="ctr">
                    <a:noFill/>
                    <a:lnB w="6350" cap="flat">
                      <a:solidFill>
                        <a:srgbClr val="16130F"/>
                      </a:solidFill>
                    </a:lnB>
                  </a:tcPr>
                </a:tc>
                <a:tc>
                  <a:txBody>
                    <a:bodyPr wrap="square"/>
                    <a:lstStyle/>
                    <a:p>
                      <a:pPr algn="r"/>
                      <a:r>
                        <a:rPr sz="950" b="1" spc="130">
                          <a:solidFill>
                            <a:srgbClr val="4A443C"/>
                          </a:solidFill>
                          <a:latin typeface="Corbel"/>
                        </a:rPr>
                        <a:t>CUMULATIVE</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CAGR</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TERMINAL VALUE ON $100M</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VALUE ADDED VS NDIF</a:t>
                      </a:r>
                    </a:p>
                  </a:txBody>
                  <a:tcPr marL="91440" marR="91440" marT="27432" marB="27432" anchor="ctr">
                    <a:noFill/>
                    <a:lnB w="6350" cap="flat">
                      <a:solidFill>
                        <a:srgbClr val="16130F"/>
                      </a:solidFill>
                    </a:lnB>
                  </a:tcPr>
                </a:tc>
              </a:tr>
              <a:tr h="274320">
                <a:tc>
                  <a:txBody>
                    <a:bodyPr wrap="square"/>
                    <a:lstStyle/>
                    <a:p>
                      <a:pPr algn="l"/>
                      <a:r>
                        <a:rPr sz="1100" b="1">
                          <a:solidFill>
                            <a:srgbClr val="16130F"/>
                          </a:solidFill>
                          <a:latin typeface="Corbel"/>
                        </a:rPr>
                        <a:t>Northpoint Digital Innovation Fund</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179.2%</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18.7%</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$279.2m</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a:t>
                      </a:r>
                    </a:p>
                  </a:txBody>
                  <a:tcPr marL="91440" marR="91440" marT="27432" marB="27432" anchor="ctr">
                    <a:noFill/>
                    <a:lnT w="3175" cap="flat">
                      <a:solidFill>
                        <a:srgbClr val="E2DCCF"/>
                      </a:solidFill>
                    </a:lnT>
                  </a:tcPr>
                </a:tc>
              </a:tr>
              <a:tr h="274320">
                <a:tc>
                  <a:txBody>
                    <a:bodyPr wrap="square"/>
                    <a:lstStyle/>
                    <a:p>
                      <a:pPr algn="l"/>
                      <a:r>
                        <a:rPr sz="1100" b="1">
                          <a:solidFill>
                            <a:srgbClr val="16130F"/>
                          </a:solidFill>
                          <a:latin typeface="Corbel"/>
                        </a:rPr>
                        <a:t>NASDAQ-100 (primary benchmark)</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134.7%</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15.3%</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$234.7m</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+$44.4m</a:t>
                      </a:r>
                    </a:p>
                  </a:txBody>
                  <a:tcPr marL="91440" marR="91440" marT="27432" marB="27432" anchor="ctr">
                    <a:noFill/>
                    <a:lnT w="3175" cap="flat">
                      <a:solidFill>
                        <a:srgbClr val="E2DCCF"/>
                      </a:solidFill>
                    </a:lnT>
                  </a:tcPr>
                </a:tc>
              </a:tr>
              <a:tr h="274320">
                <a:tc>
                  <a:txBody>
                    <a:bodyPr wrap="square"/>
                    <a:lstStyle/>
                    <a:p>
                      <a:pPr algn="l"/>
                      <a:r>
                        <a:rPr sz="1100" b="1">
                          <a:solidFill>
                            <a:srgbClr val="16130F"/>
                          </a:solidFill>
                          <a:latin typeface="Corbel"/>
                        </a:rPr>
                        <a:t>S&amp;P 500 (secondary benchmark)</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90.0%</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11.3%</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$190.0m</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+$89.2m</a:t>
                      </a:r>
                    </a:p>
                  </a:txBody>
                  <a:tcPr marL="91440" marR="91440" marT="27432" marB="27432" anchor="ctr">
                    <a:noFill/>
                    <a:lnT w="3175" cap="flat">
                      <a:solidFill>
                        <a:srgbClr val="E2DCCF"/>
                      </a:solidFill>
                    </a:lnT>
                  </a:tcPr>
                </a:tc>
              </a:tr>
              <a:tr h="274320">
                <a:tc>
                  <a:txBody>
                    <a:bodyPr wrap="square"/>
                    <a:lstStyle/>
                    <a:p>
                      <a:pPr algn="l"/>
                      <a:r>
                        <a:rPr sz="1100" b="1">
                          <a:solidFill>
                            <a:srgbClr val="16130F"/>
                          </a:solidFill>
                          <a:latin typeface="Corbel"/>
                        </a:rPr>
                        <a:t>60/40 stock/bond portfolio</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51.9%</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7.2%</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$151.9m</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+$127.3m</a:t>
                      </a:r>
                    </a:p>
                  </a:txBody>
                  <a:tcPr marL="91440" marR="91440" marT="27432" marB="27432" anchor="ctr">
                    <a:noFill/>
                    <a:lnT w="3175" cap="flat">
                      <a:solidFill>
                        <a:srgbClr val="E2DCCF"/>
                      </a:solidFill>
                    </a:lnT>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14</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What the fund returned</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WHAT THE FUND RETURNED</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Beat the S&amp;P 500 in five of six years</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Including 2018 and 2022, the two years the market fell</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04_annual_bars.png"/>
          <p:cNvPicPr>
            <a:picLocks noChangeAspect="1"/>
          </p:cNvPicPr>
          <p:nvPr/>
        </p:nvPicPr>
        <p:blipFill>
          <a:blip r:embed="rId2"/>
          <a:stretch>
            <a:fillRect/>
          </a:stretch>
        </p:blipFill>
        <p:spPr>
          <a:xfrm>
            <a:off x="2302687" y="1517904"/>
            <a:ext cx="8336128" cy="3182111"/>
          </a:xfrm>
          <a:prstGeom prst="rect">
            <a:avLst/>
          </a:prstGeom>
        </p:spPr>
      </p:pic>
      <p:graphicFrame>
        <p:nvGraphicFramePr>
          <p:cNvPr id="12" name="Table 11"/>
          <p:cNvGraphicFramePr>
            <a:graphicFrameLocks noGrp="1"/>
          </p:cNvGraphicFramePr>
          <p:nvPr/>
        </p:nvGraphicFramePr>
        <p:xfrm>
          <a:off x="1298448" y="4828032"/>
          <a:ext cx="10344602" cy="1371600"/>
        </p:xfrm>
        <a:graphic>
          <a:graphicData uri="http://schemas.openxmlformats.org/drawingml/2006/table">
            <a:tbl>
              <a:tblPr>
                <a:tableStyleId>{5C22544A-7EE6-4342-B048-85BDC9FD1C3A}</a:tableStyleId>
              </a:tblPr>
              <a:tblGrid>
                <a:gridCol w="2477750"/>
                <a:gridCol w="1311142"/>
                <a:gridCol w="1311142"/>
                <a:gridCol w="1311142"/>
                <a:gridCol w="1311142"/>
                <a:gridCol w="1311142"/>
                <a:gridCol w="1311142"/>
              </a:tblGrid>
              <a:tr h="274320">
                <a:tc>
                  <a:txBody>
                    <a:bodyPr wrap="square"/>
                    <a:lstStyle/>
                    <a:p>
                      <a:pPr algn="l"/>
                      <a:r>
                        <a:rPr sz="950" b="1" spc="130">
                          <a:solidFill>
                            <a:srgbClr val="4A443C"/>
                          </a:solidFill>
                          <a:latin typeface="Corbel"/>
                        </a:rPr>
                        <a:t>CALENDAR YEAR</a:t>
                      </a:r>
                    </a:p>
                  </a:txBody>
                  <a:tcPr marL="18288" marR="91440" marT="27432" marB="27432" anchor="ctr">
                    <a:noFill/>
                    <a:lnB w="6350" cap="flat">
                      <a:solidFill>
                        <a:srgbClr val="16130F"/>
                      </a:solidFill>
                    </a:lnB>
                  </a:tcPr>
                </a:tc>
                <a:tc>
                  <a:txBody>
                    <a:bodyPr wrap="square"/>
                    <a:lstStyle/>
                    <a:p>
                      <a:pPr algn="r"/>
                      <a:r>
                        <a:rPr sz="950" b="1" spc="130">
                          <a:solidFill>
                            <a:srgbClr val="4A443C"/>
                          </a:solidFill>
                          <a:latin typeface="Corbel"/>
                        </a:rPr>
                        <a:t>2017</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2018</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2019</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2020</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2021</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2022</a:t>
                      </a:r>
                    </a:p>
                  </a:txBody>
                  <a:tcPr marL="91440" marR="91440" marT="27432" marB="27432" anchor="ctr">
                    <a:noFill/>
                    <a:lnB w="6350" cap="flat">
                      <a:solidFill>
                        <a:srgbClr val="16130F"/>
                      </a:solidFill>
                    </a:lnB>
                  </a:tcPr>
                </a:tc>
              </a:tr>
              <a:tr h="274320">
                <a:tc>
                  <a:txBody>
                    <a:bodyPr wrap="square"/>
                    <a:lstStyle/>
                    <a:p>
                      <a:pPr algn="l"/>
                      <a:r>
                        <a:rPr sz="1100" b="1">
                          <a:solidFill>
                            <a:srgbClr val="16130F"/>
                          </a:solidFill>
                          <a:latin typeface="Corbel"/>
                        </a:rPr>
                        <a:t>NDIF</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40.0%</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3.7%</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36.6%</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37.1%</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32.5%</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-22.5%</a:t>
                      </a:r>
                    </a:p>
                  </a:txBody>
                  <a:tcPr marL="91440" marR="91440" marT="27432" marB="27432" anchor="ctr">
                    <a:noFill/>
                    <a:lnT w="3175" cap="flat">
                      <a:solidFill>
                        <a:srgbClr val="E2DCCF"/>
                      </a:solidFill>
                    </a:lnT>
                  </a:tcPr>
                </a:tc>
              </a:tr>
              <a:tr h="274320">
                <a:tc>
                  <a:txBody>
                    <a:bodyPr wrap="square"/>
                    <a:lstStyle/>
                    <a:p>
                      <a:pPr algn="l"/>
                      <a:r>
                        <a:rPr sz="1100" b="1">
                          <a:solidFill>
                            <a:srgbClr val="16130F"/>
                          </a:solidFill>
                          <a:latin typeface="Corbel"/>
                        </a:rPr>
                        <a:t>NASDAQ-100</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32.7%</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-0.1%</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39.0%</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48.4%</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27.4%</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-32.6%</a:t>
                      </a:r>
                    </a:p>
                  </a:txBody>
                  <a:tcPr marL="91440" marR="91440" marT="27432" marB="27432" anchor="ctr">
                    <a:noFill/>
                    <a:lnT w="3175" cap="flat">
                      <a:solidFill>
                        <a:srgbClr val="E2DCCF"/>
                      </a:solidFill>
                    </a:lnT>
                  </a:tcPr>
                </a:tc>
              </a:tr>
              <a:tr h="274320">
                <a:tc>
                  <a:txBody>
                    <a:bodyPr wrap="square"/>
                    <a:lstStyle/>
                    <a:p>
                      <a:pPr algn="l"/>
                      <a:r>
                        <a:rPr sz="1100" b="1">
                          <a:solidFill>
                            <a:srgbClr val="16130F"/>
                          </a:solidFill>
                          <a:latin typeface="Corbel"/>
                        </a:rPr>
                        <a:t>S&amp;P 500</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21.7%</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-4.6%</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31.2%</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18.3%</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28.7%</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-18.2%</a:t>
                      </a:r>
                    </a:p>
                  </a:txBody>
                  <a:tcPr marL="91440" marR="91440" marT="27432" marB="27432" anchor="ctr">
                    <a:noFill/>
                    <a:lnT w="3175" cap="flat">
                      <a:solidFill>
                        <a:srgbClr val="E2DCCF"/>
                      </a:solidFill>
                    </a:lnT>
                  </a:tcPr>
                </a:tc>
              </a:tr>
              <a:tr h="274320">
                <a:tc>
                  <a:txBody>
                    <a:bodyPr wrap="square"/>
                    <a:lstStyle/>
                    <a:p>
                      <a:pPr algn="l"/>
                      <a:r>
                        <a:rPr sz="1100" b="1">
                          <a:solidFill>
                            <a:srgbClr val="16130F"/>
                          </a:solidFill>
                          <a:latin typeface="Corbel"/>
                        </a:rPr>
                        <a:t>NDIF vs S&amp;P 500</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+18.3%</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+8.2%</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+5.4%</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+18.8%</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+3.8%</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-4.4%</a:t>
                      </a:r>
                    </a:p>
                  </a:txBody>
                  <a:tcPr marL="91440" marR="91440" marT="27432" marB="27432" anchor="ctr">
                    <a:noFill/>
                    <a:lnT w="3175" cap="flat">
                      <a:solidFill>
                        <a:srgbClr val="E2DCCF"/>
                      </a:solidFill>
                    </a:lnT>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15</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What the fund returned</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WHAT THE FUND RETURNED</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The value-add compounded quietly, then paid off</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Cumulative performance relative to both benchmarks, rebased to zero at inception</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23_relative.png"/>
          <p:cNvPicPr>
            <a:picLocks noChangeAspect="1"/>
          </p:cNvPicPr>
          <p:nvPr/>
        </p:nvPicPr>
        <p:blipFill>
          <a:blip r:embed="rId2"/>
          <a:stretch>
            <a:fillRect/>
          </a:stretch>
        </p:blipFill>
        <p:spPr>
          <a:xfrm>
            <a:off x="2117023" y="1517904"/>
            <a:ext cx="8707457" cy="4069079"/>
          </a:xfrm>
          <a:prstGeom prst="rect">
            <a:avLst/>
          </a:prstGeom>
        </p:spPr>
      </p:pic>
      <p:sp>
        <p:nvSpPr>
          <p:cNvPr id="12" name="TextBox 11"/>
          <p:cNvSpPr txBox="1"/>
          <p:nvPr/>
        </p:nvSpPr>
        <p:spPr>
          <a:xfrm>
            <a:off x="1298448" y="5696712"/>
            <a:ext cx="10344607" cy="457200"/>
          </a:xfrm>
          <a:prstGeom prst="rect">
            <a:avLst/>
          </a:prstGeom>
          <a:noFill/>
        </p:spPr>
        <p:txBody>
          <a:bodyPr wrap="square" lIns="0" rIns="0" tIns="0" bIns="0" anchor="t">
            <a:spAutoFit/>
          </a:bodyPr>
          <a:lstStyle/>
          <a:p>
            <a:pPr algn="l">
              <a:lnSpc>
                <a:spcPct val="122000"/>
              </a:lnSpc>
            </a:pPr>
            <a:r>
              <a:rPr sz="1100" b="0" i="0">
                <a:solidFill>
                  <a:srgbClr val="4A443C"/>
                </a:solidFill>
                <a:latin typeface="Corbel"/>
              </a:rPr>
              <a:t>Read this as the wealth ratio between the fund and each benchmark. A rising line means the fund is pulling ahead. Note that most of the outperformance versus the NASDAQ-100 was created after November 2021 — that is, on the way down, not on the way up.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16</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What the fund returned</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WHAT THE FUND RETURNED</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The fund fell less than its own benchmark</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Maximum drawdown of −24.9% against the NASDAQ-100's −32.6%</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03_drawdown.png"/>
          <p:cNvPicPr>
            <a:picLocks noChangeAspect="1"/>
          </p:cNvPicPr>
          <p:nvPr/>
        </p:nvPicPr>
        <p:blipFill>
          <a:blip r:embed="rId2"/>
          <a:stretch>
            <a:fillRect/>
          </a:stretch>
        </p:blipFill>
        <p:spPr>
          <a:xfrm>
            <a:off x="1416093" y="1517904"/>
            <a:ext cx="10109317" cy="3456431"/>
          </a:xfrm>
          <a:prstGeom prst="rect">
            <a:avLst/>
          </a:prstGeom>
        </p:spPr>
      </p:pic>
      <p:graphicFrame>
        <p:nvGraphicFramePr>
          <p:cNvPr id="12" name="Table 11"/>
          <p:cNvGraphicFramePr>
            <a:graphicFrameLocks noGrp="1"/>
          </p:cNvGraphicFramePr>
          <p:nvPr/>
        </p:nvGraphicFramePr>
        <p:xfrm>
          <a:off x="1298448" y="5102352"/>
          <a:ext cx="10344606" cy="1097280"/>
        </p:xfrm>
        <a:graphic>
          <a:graphicData uri="http://schemas.openxmlformats.org/drawingml/2006/table">
            <a:tbl>
              <a:tblPr>
                <a:tableStyleId>{5C22544A-7EE6-4342-B048-85BDC9FD1C3A}</a:tableStyleId>
              </a:tblPr>
              <a:tblGrid>
                <a:gridCol w="1862029"/>
                <a:gridCol w="1862029"/>
                <a:gridCol w="1551691"/>
                <a:gridCol w="1551691"/>
                <a:gridCol w="1655137"/>
                <a:gridCol w="1862029"/>
              </a:tblGrid>
              <a:tr h="274320">
                <a:tc>
                  <a:txBody>
                    <a:bodyPr wrap="square"/>
                    <a:lstStyle/>
                    <a:p>
                      <a:pPr algn="l"/>
                      <a:r>
                        <a:rPr sz="950" b="1" spc="130">
                          <a:solidFill>
                            <a:srgbClr val="4A443C"/>
                          </a:solidFill>
                          <a:latin typeface="Corbel"/>
                        </a:rPr>
                        <a:t/>
                      </a:r>
                    </a:p>
                  </a:txBody>
                  <a:tcPr marL="18288" marR="91440" marT="27432" marB="27432" anchor="ctr">
                    <a:noFill/>
                    <a:lnB w="6350" cap="flat">
                      <a:solidFill>
                        <a:srgbClr val="16130F"/>
                      </a:solidFill>
                    </a:lnB>
                  </a:tcPr>
                </a:tc>
                <a:tc>
                  <a:txBody>
                    <a:bodyPr wrap="square"/>
                    <a:lstStyle/>
                    <a:p>
                      <a:pPr algn="r"/>
                      <a:r>
                        <a:rPr sz="950" b="1" spc="130">
                          <a:solidFill>
                            <a:srgbClr val="4A443C"/>
                          </a:solidFill>
                          <a:latin typeface="Corbel"/>
                        </a:rPr>
                        <a:t>MAXIMUM DRAWDOWN</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PEAK MONTH</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TROUGH MONTH</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CALMAR RATIO</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DOWNSIDE DEVIATION</a:t>
                      </a:r>
                    </a:p>
                  </a:txBody>
                  <a:tcPr marL="91440" marR="91440" marT="27432" marB="27432" anchor="ctr">
                    <a:noFill/>
                    <a:lnB w="6350" cap="flat">
                      <a:solidFill>
                        <a:srgbClr val="16130F"/>
                      </a:solidFill>
                    </a:lnB>
                  </a:tcPr>
                </a:tc>
              </a:tr>
              <a:tr h="274320">
                <a:tc>
                  <a:txBody>
                    <a:bodyPr wrap="square"/>
                    <a:lstStyle/>
                    <a:p>
                      <a:pPr algn="l"/>
                      <a:r>
                        <a:rPr sz="1100" b="1">
                          <a:solidFill>
                            <a:srgbClr val="16130F"/>
                          </a:solidFill>
                          <a:latin typeface="Corbel"/>
                        </a:rPr>
                        <a:t>NDIF</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-24.9%</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Nov 2021</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Sep 2022</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0.75</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11.9%</a:t>
                      </a:r>
                    </a:p>
                  </a:txBody>
                  <a:tcPr marL="91440" marR="91440" marT="27432" marB="27432" anchor="ctr">
                    <a:noFill/>
                    <a:lnT w="3175" cap="flat">
                      <a:solidFill>
                        <a:srgbClr val="E2DCCF"/>
                      </a:solidFill>
                    </a:lnT>
                  </a:tcPr>
                </a:tc>
              </a:tr>
              <a:tr h="274320">
                <a:tc>
                  <a:txBody>
                    <a:bodyPr wrap="square"/>
                    <a:lstStyle/>
                    <a:p>
                      <a:pPr algn="l"/>
                      <a:r>
                        <a:rPr sz="1100" b="1">
                          <a:solidFill>
                            <a:srgbClr val="16130F"/>
                          </a:solidFill>
                          <a:latin typeface="Corbel"/>
                        </a:rPr>
                        <a:t>NASDAQ-100</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-32.6%</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Nov 2021</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Dec 2022</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0.47</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12.9%</a:t>
                      </a:r>
                    </a:p>
                  </a:txBody>
                  <a:tcPr marL="91440" marR="91440" marT="27432" marB="27432" anchor="ctr">
                    <a:noFill/>
                    <a:lnT w="3175" cap="flat">
                      <a:solidFill>
                        <a:srgbClr val="E2DCCF"/>
                      </a:solidFill>
                    </a:lnT>
                  </a:tcPr>
                </a:tc>
              </a:tr>
              <a:tr h="274320">
                <a:tc>
                  <a:txBody>
                    <a:bodyPr wrap="square"/>
                    <a:lstStyle/>
                    <a:p>
                      <a:pPr algn="l"/>
                      <a:r>
                        <a:rPr sz="1100" b="1">
                          <a:solidFill>
                            <a:srgbClr val="16130F"/>
                          </a:solidFill>
                          <a:latin typeface="Corbel"/>
                        </a:rPr>
                        <a:t>S&amp;P 500</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-23.9%</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Dec 2021</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Sep 2022</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0.47</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11.3%</a:t>
                      </a:r>
                    </a:p>
                  </a:txBody>
                  <a:tcPr marL="91440" marR="91440" marT="27432" marB="27432" anchor="ctr">
                    <a:noFill/>
                    <a:lnT w="3175" cap="flat">
                      <a:solidFill>
                        <a:srgbClr val="E2DCCF"/>
                      </a:solidFill>
                    </a:lnT>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17</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What the fund returned</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WHAT THE FUND RETURNED</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Stress test one: COVID-19</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Scenario C arrived in March 2020. The fund lost 12.6% in two months and had recovered it within eight weeks</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28_covid.png"/>
          <p:cNvPicPr>
            <a:picLocks noChangeAspect="1"/>
          </p:cNvPicPr>
          <p:nvPr/>
        </p:nvPicPr>
        <p:blipFill>
          <a:blip r:embed="rId2"/>
          <a:stretch>
            <a:fillRect/>
          </a:stretch>
        </p:blipFill>
        <p:spPr>
          <a:xfrm>
            <a:off x="2258660" y="1517904"/>
            <a:ext cx="8424182" cy="3913631"/>
          </a:xfrm>
          <a:prstGeom prst="rect">
            <a:avLst/>
          </a:prstGeom>
        </p:spPr>
      </p:pic>
      <p:sp>
        <p:nvSpPr>
          <p:cNvPr id="12" name="TextBox 11"/>
          <p:cNvSpPr txBox="1"/>
          <p:nvPr/>
        </p:nvSpPr>
        <p:spPr>
          <a:xfrm>
            <a:off x="1298448" y="5541264"/>
            <a:ext cx="10344607" cy="658368"/>
          </a:xfrm>
          <a:prstGeom prst="rect">
            <a:avLst/>
          </a:prstGeom>
          <a:noFill/>
        </p:spPr>
        <p:txBody>
          <a:bodyPr wrap="square" lIns="0" rIns="0" tIns="0" bIns="0" anchor="t">
            <a:spAutoFit/>
          </a:bodyPr>
          <a:lstStyle/>
          <a:p>
            <a:pPr algn="l">
              <a:lnSpc>
                <a:spcPct val="122000"/>
              </a:lnSpc>
            </a:pPr>
            <a:r>
              <a:rPr sz="1100" b="0" i="0">
                <a:solidFill>
                  <a:srgbClr val="4A443C"/>
                </a:solidFill>
                <a:latin typeface="Corbel"/>
              </a:rPr>
              <a:t>Our 2016 document had explicitly named “a systemic disruption such as a global pandemic” as a Scenario C trigger and assigned it a 20% probability. The thesis assumption that held up: cloud migration, e-commerce and payment digitisation are cost-saving, so they continue — and in fact accelerate — through a recession.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18</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What the fund returned</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WHAT THE FUND RETURNED</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Stress test two: the 2022 rate shock</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Down 22.5% against a NASDAQ-100 down 32.6%, and the ballast is the entire reason why</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24_2022.png"/>
          <p:cNvPicPr>
            <a:picLocks noChangeAspect="1"/>
          </p:cNvPicPr>
          <p:nvPr/>
        </p:nvPicPr>
        <p:blipFill>
          <a:blip r:embed="rId2"/>
          <a:stretch>
            <a:fillRect/>
          </a:stretch>
        </p:blipFill>
        <p:spPr>
          <a:xfrm>
            <a:off x="2260311" y="1517904"/>
            <a:ext cx="8420880" cy="3913631"/>
          </a:xfrm>
          <a:prstGeom prst="rect">
            <a:avLst/>
          </a:prstGeom>
        </p:spPr>
      </p:pic>
      <p:sp>
        <p:nvSpPr>
          <p:cNvPr id="12" name="TextBox 11"/>
          <p:cNvSpPr txBox="1"/>
          <p:nvPr/>
        </p:nvSpPr>
        <p:spPr>
          <a:xfrm>
            <a:off x="1298448" y="5541264"/>
            <a:ext cx="10344607" cy="658368"/>
          </a:xfrm>
          <a:prstGeom prst="rect">
            <a:avLst/>
          </a:prstGeom>
          <a:noFill/>
        </p:spPr>
        <p:txBody>
          <a:bodyPr wrap="square" lIns="0" rIns="0" tIns="0" bIns="0" anchor="t">
            <a:spAutoFit/>
          </a:bodyPr>
          <a:lstStyle/>
          <a:p>
            <a:pPr algn="l">
              <a:lnSpc>
                <a:spcPct val="122000"/>
              </a:lnSpc>
            </a:pPr>
            <a:r>
              <a:rPr sz="1100" b="0" i="0">
                <a:solidFill>
                  <a:srgbClr val="4A443C"/>
                </a:solidFill>
                <a:latin typeface="Corbel"/>
              </a:rPr>
              <a:t>Schlumberger — the fund's worst holding over the full six years at −23.5% — returned +81.2% in 2022. Albemarle lost only 6.6% and NextEra 8.5%. Without the 5% energy floor and the 24% ballast tier, the fund's 2022 loss would have been close to the NASDAQ-100's. This is what a sector floor is for.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3B38"/>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371600"/>
            <a:ext cx="3840480" cy="2377440"/>
          </a:xfrm>
          <a:prstGeom prst="rect">
            <a:avLst/>
          </a:prstGeom>
          <a:noFill/>
        </p:spPr>
        <p:txBody>
          <a:bodyPr wrap="square" lIns="0" rIns="0" tIns="0" bIns="0" anchor="t">
            <a:spAutoFit/>
          </a:bodyPr>
          <a:lstStyle/>
          <a:p>
            <a:pPr algn="l">
              <a:lnSpc>
                <a:spcPct val="105000"/>
              </a:lnSpc>
            </a:pPr>
            <a:r>
              <a:rPr sz="13200" b="0" i="0">
                <a:solidFill>
                  <a:srgbClr val="144E4A"/>
                </a:solidFill>
                <a:latin typeface="Georgia"/>
              </a:rPr>
              <a:t>04</a:t>
            </a:r>
          </a:p>
        </p:txBody>
      </p:sp>
      <p:sp>
        <p:nvSpPr>
          <p:cNvPr id="4" name="Rectangle 3"/>
          <p:cNvSpPr/>
          <p:nvPr/>
        </p:nvSpPr>
        <p:spPr>
          <a:xfrm>
            <a:off x="1024128" y="3913632"/>
            <a:ext cx="1371600" cy="2743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4224528"/>
            <a:ext cx="8961120" cy="822960"/>
          </a:xfrm>
          <a:prstGeom prst="rect">
            <a:avLst/>
          </a:prstGeom>
          <a:noFill/>
        </p:spPr>
        <p:txBody>
          <a:bodyPr wrap="square" lIns="0" rIns="0" tIns="0" bIns="0" anchor="t">
            <a:spAutoFit/>
          </a:bodyPr>
          <a:lstStyle/>
          <a:p>
            <a:pPr algn="l">
              <a:lnSpc>
                <a:spcPct val="104000"/>
              </a:lnSpc>
            </a:pPr>
            <a:r>
              <a:rPr sz="3800" b="0" i="0">
                <a:solidFill>
                  <a:srgbClr val="F2ECDE"/>
                </a:solidFill>
                <a:latin typeface="Georgia"/>
              </a:rPr>
              <a:t>How much risk we took</a:t>
            </a:r>
          </a:p>
        </p:txBody>
      </p:sp>
      <p:sp>
        <p:nvSpPr>
          <p:cNvPr id="6" name="TextBox 5"/>
          <p:cNvSpPr txBox="1"/>
          <p:nvPr/>
        </p:nvSpPr>
        <p:spPr>
          <a:xfrm>
            <a:off x="1005840" y="5138928"/>
            <a:ext cx="7680960" cy="822960"/>
          </a:xfrm>
          <a:prstGeom prst="rect">
            <a:avLst/>
          </a:prstGeom>
          <a:noFill/>
        </p:spPr>
        <p:txBody>
          <a:bodyPr wrap="square" lIns="0" rIns="0" tIns="0" bIns="0" anchor="t">
            <a:spAutoFit/>
          </a:bodyPr>
          <a:lstStyle/>
          <a:p>
            <a:pPr algn="l">
              <a:lnSpc>
                <a:spcPct val="130000"/>
              </a:lnSpc>
            </a:pPr>
            <a:r>
              <a:rPr sz="1300" b="0" i="0">
                <a:solidFill>
                  <a:srgbClr val="A9BEB8"/>
                </a:solidFill>
                <a:latin typeface="Corbel"/>
              </a:rPr>
              <a:t>The full distribution of 72 monthly returns, the risk-adjusted measures, tail risk, and where in the calendar the money was made</a:t>
            </a:r>
          </a:p>
        </p:txBody>
      </p:sp>
      <p:sp>
        <p:nvSpPr>
          <p:cNvPr id="7" name="TextBox 6"/>
          <p:cNvSpPr txBox="1"/>
          <p:nvPr/>
        </p:nvSpPr>
        <p:spPr>
          <a:xfrm>
            <a:off x="9174175" y="6053328"/>
            <a:ext cx="2468880" cy="274320"/>
          </a:xfrm>
          <a:prstGeom prst="rect">
            <a:avLst/>
          </a:prstGeom>
          <a:noFill/>
        </p:spPr>
        <p:txBody>
          <a:bodyPr wrap="square" lIns="0" rIns="0" tIns="0" bIns="0" anchor="t">
            <a:spAutoFit/>
          </a:bodyPr>
          <a:lstStyle/>
          <a:p>
            <a:pPr algn="r">
              <a:lnSpc>
                <a:spcPct val="105000"/>
              </a:lnSpc>
            </a:pPr>
            <a:r>
              <a:rPr sz="800" b="0" i="0" spc="220">
                <a:solidFill>
                  <a:srgbClr val="A9BEB8"/>
                </a:solidFill>
                <a:latin typeface="Corbel"/>
              </a:rPr>
              <a:t>NORTHPOINT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20</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How much risk we took</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HOW MUCH RISK WE TOOK</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The shape of our returns</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Close to normal, with a mild left tail. 72 monthly observations, Jan 2017 to Dec 2022</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05_histogram.png"/>
          <p:cNvPicPr>
            <a:picLocks noChangeAspect="1"/>
          </p:cNvPicPr>
          <p:nvPr/>
        </p:nvPicPr>
        <p:blipFill>
          <a:blip r:embed="rId2"/>
          <a:stretch>
            <a:fillRect/>
          </a:stretch>
        </p:blipFill>
        <p:spPr>
          <a:xfrm>
            <a:off x="1298448" y="2137160"/>
            <a:ext cx="6361933" cy="3150607"/>
          </a:xfrm>
          <a:prstGeom prst="rect">
            <a:avLst/>
          </a:prstGeom>
        </p:spPr>
      </p:pic>
      <p:sp>
        <p:nvSpPr>
          <p:cNvPr id="12" name="Rectangle 11"/>
          <p:cNvSpPr/>
          <p:nvPr/>
        </p:nvSpPr>
        <p:spPr>
          <a:xfrm>
            <a:off x="7934701" y="1700784"/>
            <a:ext cx="3708354" cy="20116"/>
          </a:xfrm>
          <a:prstGeom prst="rect">
            <a:avLst/>
          </a:prstGeom>
          <a:solidFill>
            <a:srgbClr val="007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34701" y="1828800"/>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DISTRIBUTIONAL STATISTICS</a:t>
            </a:r>
          </a:p>
        </p:txBody>
      </p:sp>
      <p:sp>
        <p:nvSpPr>
          <p:cNvPr id="14" name="TextBox 13"/>
          <p:cNvSpPr txBox="1"/>
          <p:nvPr/>
        </p:nvSpPr>
        <p:spPr>
          <a:xfrm>
            <a:off x="7934701" y="2231136"/>
            <a:ext cx="2748234" cy="237744"/>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Mean monthly return</a:t>
            </a:r>
          </a:p>
        </p:txBody>
      </p:sp>
      <p:sp>
        <p:nvSpPr>
          <p:cNvPr id="15" name="TextBox 14"/>
          <p:cNvSpPr txBox="1"/>
          <p:nvPr/>
        </p:nvSpPr>
        <p:spPr>
          <a:xfrm>
            <a:off x="7934701" y="2231136"/>
            <a:ext cx="3580338" cy="237744"/>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1.59%</a:t>
            </a:r>
          </a:p>
        </p:txBody>
      </p:sp>
      <p:sp>
        <p:nvSpPr>
          <p:cNvPr id="16" name="Rectangle 15"/>
          <p:cNvSpPr/>
          <p:nvPr/>
        </p:nvSpPr>
        <p:spPr>
          <a:xfrm>
            <a:off x="7934701" y="2478024"/>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34701" y="2555748"/>
            <a:ext cx="2748234" cy="237744"/>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Median monthly return</a:t>
            </a:r>
          </a:p>
        </p:txBody>
      </p:sp>
      <p:sp>
        <p:nvSpPr>
          <p:cNvPr id="18" name="TextBox 17"/>
          <p:cNvSpPr txBox="1"/>
          <p:nvPr/>
        </p:nvSpPr>
        <p:spPr>
          <a:xfrm>
            <a:off x="7934701" y="2555748"/>
            <a:ext cx="3580338" cy="237744"/>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2.73%</a:t>
            </a:r>
          </a:p>
        </p:txBody>
      </p:sp>
      <p:sp>
        <p:nvSpPr>
          <p:cNvPr id="19" name="Rectangle 18"/>
          <p:cNvSpPr/>
          <p:nvPr/>
        </p:nvSpPr>
        <p:spPr>
          <a:xfrm>
            <a:off x="7934701" y="2802636"/>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34701" y="2880360"/>
            <a:ext cx="2748234" cy="237744"/>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Standard deviation (monthly)</a:t>
            </a:r>
          </a:p>
        </p:txBody>
      </p:sp>
      <p:sp>
        <p:nvSpPr>
          <p:cNvPr id="21" name="TextBox 20"/>
          <p:cNvSpPr txBox="1"/>
          <p:nvPr/>
        </p:nvSpPr>
        <p:spPr>
          <a:xfrm>
            <a:off x="7934701" y="2880360"/>
            <a:ext cx="3580338" cy="237744"/>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5.50%</a:t>
            </a:r>
          </a:p>
        </p:txBody>
      </p:sp>
      <p:sp>
        <p:nvSpPr>
          <p:cNvPr id="22" name="Rectangle 21"/>
          <p:cNvSpPr/>
          <p:nvPr/>
        </p:nvSpPr>
        <p:spPr>
          <a:xfrm>
            <a:off x="7934701" y="3127248"/>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34701" y="3204972"/>
            <a:ext cx="2748234" cy="237744"/>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Annualised volatility</a:t>
            </a:r>
          </a:p>
        </p:txBody>
      </p:sp>
      <p:sp>
        <p:nvSpPr>
          <p:cNvPr id="24" name="TextBox 23"/>
          <p:cNvSpPr txBox="1"/>
          <p:nvPr/>
        </p:nvSpPr>
        <p:spPr>
          <a:xfrm>
            <a:off x="7934701" y="3204972"/>
            <a:ext cx="3580338" cy="237744"/>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19.06%</a:t>
            </a:r>
          </a:p>
        </p:txBody>
      </p:sp>
      <p:sp>
        <p:nvSpPr>
          <p:cNvPr id="25" name="Rectangle 24"/>
          <p:cNvSpPr/>
          <p:nvPr/>
        </p:nvSpPr>
        <p:spPr>
          <a:xfrm>
            <a:off x="7934701" y="3451860"/>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34701" y="3529584"/>
            <a:ext cx="2748234" cy="237744"/>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Skewness</a:t>
            </a:r>
          </a:p>
        </p:txBody>
      </p:sp>
      <p:sp>
        <p:nvSpPr>
          <p:cNvPr id="27" name="TextBox 26"/>
          <p:cNvSpPr txBox="1"/>
          <p:nvPr/>
        </p:nvSpPr>
        <p:spPr>
          <a:xfrm>
            <a:off x="7934701" y="3529584"/>
            <a:ext cx="3580338" cy="237744"/>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-0.472</a:t>
            </a:r>
          </a:p>
        </p:txBody>
      </p:sp>
      <p:sp>
        <p:nvSpPr>
          <p:cNvPr id="28" name="Rectangle 27"/>
          <p:cNvSpPr/>
          <p:nvPr/>
        </p:nvSpPr>
        <p:spPr>
          <a:xfrm>
            <a:off x="7934701" y="3776472"/>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34701" y="3854196"/>
            <a:ext cx="2748234" cy="237744"/>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Excess kurtosis</a:t>
            </a:r>
          </a:p>
        </p:txBody>
      </p:sp>
      <p:sp>
        <p:nvSpPr>
          <p:cNvPr id="30" name="TextBox 29"/>
          <p:cNvSpPr txBox="1"/>
          <p:nvPr/>
        </p:nvSpPr>
        <p:spPr>
          <a:xfrm>
            <a:off x="7934701" y="3854196"/>
            <a:ext cx="3580338" cy="237744"/>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0.067</a:t>
            </a:r>
          </a:p>
        </p:txBody>
      </p:sp>
      <p:sp>
        <p:nvSpPr>
          <p:cNvPr id="31" name="Rectangle 30"/>
          <p:cNvSpPr/>
          <p:nvPr/>
        </p:nvSpPr>
        <p:spPr>
          <a:xfrm>
            <a:off x="7934701" y="4101084"/>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34701" y="4178808"/>
            <a:ext cx="2748234" cy="237744"/>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Jarque–Bera p-value</a:t>
            </a:r>
          </a:p>
        </p:txBody>
      </p:sp>
      <p:sp>
        <p:nvSpPr>
          <p:cNvPr id="33" name="TextBox 32"/>
          <p:cNvSpPr txBox="1"/>
          <p:nvPr/>
        </p:nvSpPr>
        <p:spPr>
          <a:xfrm>
            <a:off x="7934701" y="4178808"/>
            <a:ext cx="3580338" cy="237744"/>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0.278</a:t>
            </a:r>
          </a:p>
        </p:txBody>
      </p:sp>
      <p:sp>
        <p:nvSpPr>
          <p:cNvPr id="34" name="Rectangle 33"/>
          <p:cNvSpPr/>
          <p:nvPr/>
        </p:nvSpPr>
        <p:spPr>
          <a:xfrm>
            <a:off x="7934701" y="4425696"/>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34701" y="4503420"/>
            <a:ext cx="2748234" cy="237744"/>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Best month (Apr 2020)</a:t>
            </a:r>
          </a:p>
        </p:txBody>
      </p:sp>
      <p:sp>
        <p:nvSpPr>
          <p:cNvPr id="36" name="TextBox 35"/>
          <p:cNvSpPr txBox="1"/>
          <p:nvPr/>
        </p:nvSpPr>
        <p:spPr>
          <a:xfrm>
            <a:off x="7934701" y="4503420"/>
            <a:ext cx="3580338" cy="237744"/>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14.5%</a:t>
            </a:r>
          </a:p>
        </p:txBody>
      </p:sp>
      <p:sp>
        <p:nvSpPr>
          <p:cNvPr id="37" name="Rectangle 36"/>
          <p:cNvSpPr/>
          <p:nvPr/>
        </p:nvSpPr>
        <p:spPr>
          <a:xfrm>
            <a:off x="7934701" y="4750308"/>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34701" y="4828032"/>
            <a:ext cx="2748234" cy="237744"/>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Worst month (Apr 2022)</a:t>
            </a:r>
          </a:p>
        </p:txBody>
      </p:sp>
      <p:sp>
        <p:nvSpPr>
          <p:cNvPr id="39" name="TextBox 38"/>
          <p:cNvSpPr txBox="1"/>
          <p:nvPr/>
        </p:nvSpPr>
        <p:spPr>
          <a:xfrm>
            <a:off x="7934701" y="4828032"/>
            <a:ext cx="3580338" cy="237744"/>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-12.1%</a:t>
            </a:r>
          </a:p>
        </p:txBody>
      </p:sp>
      <p:sp>
        <p:nvSpPr>
          <p:cNvPr id="40" name="Rectangle 39"/>
          <p:cNvSpPr/>
          <p:nvPr/>
        </p:nvSpPr>
        <p:spPr>
          <a:xfrm>
            <a:off x="7934701" y="5074920"/>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34701" y="5152644"/>
            <a:ext cx="2748234" cy="237744"/>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Positive months</a:t>
            </a:r>
          </a:p>
        </p:txBody>
      </p:sp>
      <p:sp>
        <p:nvSpPr>
          <p:cNvPr id="42" name="TextBox 41"/>
          <p:cNvSpPr txBox="1"/>
          <p:nvPr/>
        </p:nvSpPr>
        <p:spPr>
          <a:xfrm>
            <a:off x="7934701" y="5152644"/>
            <a:ext cx="3580338" cy="237744"/>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50 of 72  (69.4%)</a:t>
            </a:r>
          </a:p>
        </p:txBody>
      </p:sp>
      <p:sp>
        <p:nvSpPr>
          <p:cNvPr id="43" name="Rectangle 42"/>
          <p:cNvSpPr/>
          <p:nvPr/>
        </p:nvSpPr>
        <p:spPr>
          <a:xfrm>
            <a:off x="7934701" y="5399532"/>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21</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How much risk we took</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HOW MUCH RISK WE TOOK</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Risk-adjusted, we beat every comparator</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Highest Sharpe, Sortino, Calmar and Treynor, and the highest information ratio</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graphicFrame>
        <p:nvGraphicFramePr>
          <p:cNvPr id="11" name="Table 10"/>
          <p:cNvGraphicFramePr>
            <a:graphicFrameLocks noGrp="1"/>
          </p:cNvGraphicFramePr>
          <p:nvPr/>
        </p:nvGraphicFramePr>
        <p:xfrm>
          <a:off x="1298448" y="1700784"/>
          <a:ext cx="10344603" cy="3840480"/>
        </p:xfrm>
        <a:graphic>
          <a:graphicData uri="http://schemas.openxmlformats.org/drawingml/2006/table">
            <a:tbl>
              <a:tblPr>
                <a:tableStyleId>{5C22544A-7EE6-4342-B048-85BDC9FD1C3A}</a:tableStyleId>
              </a:tblPr>
              <a:tblGrid>
                <a:gridCol w="1965475"/>
                <a:gridCol w="931014"/>
                <a:gridCol w="1137906"/>
                <a:gridCol w="931014"/>
                <a:gridCol w="1137906"/>
                <a:gridCol w="827568"/>
                <a:gridCol w="3413720"/>
              </a:tblGrid>
              <a:tr h="384048">
                <a:tc>
                  <a:txBody>
                    <a:bodyPr wrap="square"/>
                    <a:lstStyle/>
                    <a:p>
                      <a:pPr algn="l"/>
                      <a:r>
                        <a:rPr sz="900" b="1" spc="130">
                          <a:solidFill>
                            <a:srgbClr val="4A443C"/>
                          </a:solidFill>
                          <a:latin typeface="Corbel"/>
                        </a:rPr>
                        <a:t>MEASURE</a:t>
                      </a:r>
                    </a:p>
                  </a:txBody>
                  <a:tcPr marL="18288" marR="91440" marT="27432" marB="27432" anchor="ctr">
                    <a:noFill/>
                    <a:lnB w="6350" cap="flat">
                      <a:solidFill>
                        <a:srgbClr val="16130F"/>
                      </a:solidFill>
                    </a:lnB>
                  </a:tcPr>
                </a:tc>
                <a:tc>
                  <a:txBody>
                    <a:bodyPr wrap="square"/>
                    <a:lstStyle/>
                    <a:p>
                      <a:pPr algn="r"/>
                      <a:r>
                        <a:rPr sz="900" b="1" spc="130">
                          <a:solidFill>
                            <a:srgbClr val="4A443C"/>
                          </a:solidFill>
                          <a:latin typeface="Corbel"/>
                        </a:rPr>
                        <a:t>NDIF</a:t>
                      </a:r>
                    </a:p>
                  </a:txBody>
                  <a:tcPr marL="91440" marR="91440" marT="27432" marB="27432" anchor="ctr">
                    <a:noFill/>
                    <a:lnB w="6350" cap="flat">
                      <a:solidFill>
                        <a:srgbClr val="16130F"/>
                      </a:solidFill>
                    </a:lnB>
                  </a:tcPr>
                </a:tc>
                <a:tc>
                  <a:txBody>
                    <a:bodyPr wrap="square"/>
                    <a:lstStyle/>
                    <a:p>
                      <a:pPr algn="r"/>
                      <a:r>
                        <a:rPr sz="900" b="1" spc="130">
                          <a:solidFill>
                            <a:srgbClr val="4A443C"/>
                          </a:solidFill>
                          <a:latin typeface="Corbel"/>
                        </a:rPr>
                        <a:t>NASDAQ-100</a:t>
                      </a:r>
                    </a:p>
                  </a:txBody>
                  <a:tcPr marL="91440" marR="91440" marT="27432" marB="27432" anchor="ctr">
                    <a:noFill/>
                    <a:lnB w="6350" cap="flat">
                      <a:solidFill>
                        <a:srgbClr val="16130F"/>
                      </a:solidFill>
                    </a:lnB>
                  </a:tcPr>
                </a:tc>
                <a:tc>
                  <a:txBody>
                    <a:bodyPr wrap="square"/>
                    <a:lstStyle/>
                    <a:p>
                      <a:pPr algn="r"/>
                      <a:r>
                        <a:rPr sz="900" b="1" spc="130">
                          <a:solidFill>
                            <a:srgbClr val="4A443C"/>
                          </a:solidFill>
                          <a:latin typeface="Corbel"/>
                        </a:rPr>
                        <a:t>S&amp;P 500</a:t>
                      </a:r>
                    </a:p>
                  </a:txBody>
                  <a:tcPr marL="91440" marR="91440" marT="27432" marB="27432" anchor="ctr">
                    <a:noFill/>
                    <a:lnB w="6350" cap="flat">
                      <a:solidFill>
                        <a:srgbClr val="16130F"/>
                      </a:solidFill>
                    </a:lnB>
                  </a:tcPr>
                </a:tc>
                <a:tc>
                  <a:txBody>
                    <a:bodyPr wrap="square"/>
                    <a:lstStyle/>
                    <a:p>
                      <a:pPr algn="r"/>
                      <a:r>
                        <a:rPr sz="900" b="1" spc="130">
                          <a:solidFill>
                            <a:srgbClr val="4A443C"/>
                          </a:solidFill>
                          <a:latin typeface="Corbel"/>
                        </a:rPr>
                        <a:t>EQUAL WEIGHT</a:t>
                      </a:r>
                    </a:p>
                  </a:txBody>
                  <a:tcPr marL="91440" marR="91440" marT="27432" marB="27432" anchor="ctr">
                    <a:noFill/>
                    <a:lnB w="6350" cap="flat">
                      <a:solidFill>
                        <a:srgbClr val="16130F"/>
                      </a:solidFill>
                    </a:lnB>
                  </a:tcPr>
                </a:tc>
                <a:tc>
                  <a:txBody>
                    <a:bodyPr wrap="square"/>
                    <a:lstStyle/>
                    <a:p>
                      <a:pPr algn="r"/>
                      <a:r>
                        <a:rPr sz="900" b="1" spc="130">
                          <a:solidFill>
                            <a:srgbClr val="4A443C"/>
                          </a:solidFill>
                          <a:latin typeface="Corbel"/>
                        </a:rPr>
                        <a:t>60/40</a:t>
                      </a:r>
                    </a:p>
                  </a:txBody>
                  <a:tcPr marL="91440" marR="91440" marT="27432" marB="27432" anchor="ctr">
                    <a:noFill/>
                    <a:lnB w="6350" cap="flat">
                      <a:solidFill>
                        <a:srgbClr val="16130F"/>
                      </a:solidFill>
                    </a:lnB>
                  </a:tcPr>
                </a:tc>
                <a:tc>
                  <a:txBody>
                    <a:bodyPr wrap="square"/>
                    <a:lstStyle/>
                    <a:p>
                      <a:pPr algn="l"/>
                      <a:r>
                        <a:rPr sz="900" b="1" spc="130">
                          <a:solidFill>
                            <a:srgbClr val="4A443C"/>
                          </a:solidFill>
                          <a:latin typeface="Corbel"/>
                        </a:rPr>
                        <a:t>WHAT IT TELLS YOU</a:t>
                      </a:r>
                    </a:p>
                  </a:txBody>
                  <a:tcPr marL="91440" marR="91440" marT="27432" marB="27432" anchor="ctr">
                    <a:noFill/>
                    <a:lnB w="6350" cap="flat">
                      <a:solidFill>
                        <a:srgbClr val="16130F"/>
                      </a:solidFill>
                    </a:lnB>
                  </a:tcPr>
                </a:tc>
              </a:tr>
              <a:tr h="384048">
                <a:tc>
                  <a:txBody>
                    <a:bodyPr wrap="square"/>
                    <a:lstStyle/>
                    <a:p>
                      <a:pPr algn="l"/>
                      <a:r>
                        <a:rPr sz="1050" b="1">
                          <a:solidFill>
                            <a:srgbClr val="16130F"/>
                          </a:solidFill>
                          <a:latin typeface="Corbel"/>
                        </a:rPr>
                        <a:t>Annualised return</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18.7%</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15.3%</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11.3%</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18.0%</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7.2%</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Geometric growth rate</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Annualised volatility</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19.1%</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20.2%</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17.1%</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19.4%</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11.1%</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Total risk</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Sharpe ratio</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0.94</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0.75</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0.65</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0.90</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0.59</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Excess return per unit of total risk</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Sortino ratio</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1.51</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1.18</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0.98</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1.45</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0.88</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Excess return per unit of downside risk</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Treynor ratio</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0.173</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0.139</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0.111</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0.163</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0.102</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Excess return per unit of market beta</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Calmar ratio</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0.75</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0.47</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0.47</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0.85</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0.36</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Return per unit of maximum drawdown</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Information ratio (vs S&amp;P)</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0.98</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0.54</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0.97</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-0.72</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Active return per unit of tracking error</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Beta (vs S&amp;P 500)</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1.04</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1.10</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1.00</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1.07</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0.64</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Market sensitivity</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M² (risk-matched return)</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17.2%</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14.0%</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12.2%</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16.5%</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11.1%</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Return at benchmark risk</a:t>
                      </a:r>
                    </a:p>
                  </a:txBody>
                  <a:tcPr marL="91440" marR="91440" marT="27432" marB="27432" anchor="ctr">
                    <a:noFill/>
                    <a:lnT w="3175" cap="flat">
                      <a:solidFill>
                        <a:srgbClr val="E2DCCF"/>
                      </a:solidFill>
                    </a:lnT>
                  </a:tcPr>
                </a:tc>
              </a:tr>
            </a:tbl>
          </a:graphicData>
        </a:graphic>
      </p:graphicFrame>
      <p:sp>
        <p:nvSpPr>
          <p:cNvPr id="12" name="TextBox 11"/>
          <p:cNvSpPr txBox="1"/>
          <p:nvPr/>
        </p:nvSpPr>
        <p:spPr>
          <a:xfrm>
            <a:off x="1298448" y="5724144"/>
            <a:ext cx="10344607" cy="457200"/>
          </a:xfrm>
          <a:prstGeom prst="rect">
            <a:avLst/>
          </a:prstGeom>
          <a:noFill/>
        </p:spPr>
        <p:txBody>
          <a:bodyPr wrap="square" lIns="0" rIns="0" tIns="0" bIns="0" anchor="t">
            <a:spAutoFit/>
          </a:bodyPr>
          <a:lstStyle/>
          <a:p>
            <a:pPr algn="l">
              <a:lnSpc>
                <a:spcPct val="120000"/>
              </a:lnSpc>
            </a:pPr>
            <a:r>
              <a:rPr sz="1050" b="0" i="0">
                <a:solidFill>
                  <a:srgbClr val="8C8478"/>
                </a:solidFill>
                <a:latin typeface="Corbel"/>
              </a:rPr>
              <a:t>Risk-free rate is the Fama–French one-month Treasury bill series (mean 1.25% p.a. over the period). All ratios are computed on the same 72 monthly observations and annualised by √12.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22</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How much risk we took</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HOW MUCH RISK WE TOOK</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Tail risk sits below the NASDAQ-100 on every measure</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One-month value-at-risk and expected shortfall from the empirical distribution</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22_var.png"/>
          <p:cNvPicPr>
            <a:picLocks noChangeAspect="1"/>
          </p:cNvPicPr>
          <p:nvPr/>
        </p:nvPicPr>
        <p:blipFill>
          <a:blip r:embed="rId2"/>
          <a:stretch>
            <a:fillRect/>
          </a:stretch>
        </p:blipFill>
        <p:spPr>
          <a:xfrm>
            <a:off x="1298448" y="2234679"/>
            <a:ext cx="6361933" cy="2955570"/>
          </a:xfrm>
          <a:prstGeom prst="rect">
            <a:avLst/>
          </a:prstGeom>
        </p:spPr>
      </p:pic>
      <p:sp>
        <p:nvSpPr>
          <p:cNvPr id="12" name="Rectangle 11"/>
          <p:cNvSpPr/>
          <p:nvPr/>
        </p:nvSpPr>
        <p:spPr>
          <a:xfrm>
            <a:off x="7934701" y="1700784"/>
            <a:ext cx="3708354" cy="20116"/>
          </a:xfrm>
          <a:prstGeom prst="rect">
            <a:avLst/>
          </a:prstGeom>
          <a:solidFill>
            <a:srgbClr val="007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34701" y="1828800"/>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NDIF TAIL MEASURES</a:t>
            </a:r>
          </a:p>
        </p:txBody>
      </p:sp>
      <p:sp>
        <p:nvSpPr>
          <p:cNvPr id="14" name="TextBox 13"/>
          <p:cNvSpPr txBox="1"/>
          <p:nvPr/>
        </p:nvSpPr>
        <p:spPr>
          <a:xfrm>
            <a:off x="7934701" y="2286000"/>
            <a:ext cx="2748234" cy="292608"/>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VaR 95% (historical)</a:t>
            </a:r>
          </a:p>
        </p:txBody>
      </p:sp>
      <p:sp>
        <p:nvSpPr>
          <p:cNvPr id="15" name="TextBox 14"/>
          <p:cNvSpPr txBox="1"/>
          <p:nvPr/>
        </p:nvSpPr>
        <p:spPr>
          <a:xfrm>
            <a:off x="7934701" y="2286000"/>
            <a:ext cx="3580338" cy="292608"/>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-8.82%</a:t>
            </a:r>
          </a:p>
        </p:txBody>
      </p:sp>
      <p:sp>
        <p:nvSpPr>
          <p:cNvPr id="16" name="Rectangle 15"/>
          <p:cNvSpPr/>
          <p:nvPr/>
        </p:nvSpPr>
        <p:spPr>
          <a:xfrm>
            <a:off x="7934701" y="2587752"/>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34701" y="2743200"/>
            <a:ext cx="2748234" cy="292608"/>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VaR 95% (parametric normal)</a:t>
            </a:r>
          </a:p>
        </p:txBody>
      </p:sp>
      <p:sp>
        <p:nvSpPr>
          <p:cNvPr id="18" name="TextBox 17"/>
          <p:cNvSpPr txBox="1"/>
          <p:nvPr/>
        </p:nvSpPr>
        <p:spPr>
          <a:xfrm>
            <a:off x="7934701" y="2743200"/>
            <a:ext cx="3580338" cy="292608"/>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-7.46%</a:t>
            </a:r>
          </a:p>
        </p:txBody>
      </p:sp>
      <p:sp>
        <p:nvSpPr>
          <p:cNvPr id="19" name="Rectangle 18"/>
          <p:cNvSpPr/>
          <p:nvPr/>
        </p:nvSpPr>
        <p:spPr>
          <a:xfrm>
            <a:off x="7934701" y="3044952"/>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34701" y="3200400"/>
            <a:ext cx="2748234" cy="292608"/>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VaR 95% (Cornish–Fisher)</a:t>
            </a:r>
          </a:p>
        </p:txBody>
      </p:sp>
      <p:sp>
        <p:nvSpPr>
          <p:cNvPr id="21" name="TextBox 20"/>
          <p:cNvSpPr txBox="1"/>
          <p:nvPr/>
        </p:nvSpPr>
        <p:spPr>
          <a:xfrm>
            <a:off x="7934701" y="3200400"/>
            <a:ext cx="3580338" cy="292608"/>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-8.17%</a:t>
            </a:r>
          </a:p>
        </p:txBody>
      </p:sp>
      <p:sp>
        <p:nvSpPr>
          <p:cNvPr id="22" name="Rectangle 21"/>
          <p:cNvSpPr/>
          <p:nvPr/>
        </p:nvSpPr>
        <p:spPr>
          <a:xfrm>
            <a:off x="7934701" y="3502152"/>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34701" y="3657600"/>
            <a:ext cx="2748234" cy="292608"/>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CVaR 95% (expected shortfall)</a:t>
            </a:r>
          </a:p>
        </p:txBody>
      </p:sp>
      <p:sp>
        <p:nvSpPr>
          <p:cNvPr id="24" name="TextBox 23"/>
          <p:cNvSpPr txBox="1"/>
          <p:nvPr/>
        </p:nvSpPr>
        <p:spPr>
          <a:xfrm>
            <a:off x="7934701" y="3657600"/>
            <a:ext cx="3580338" cy="292608"/>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-10.23%</a:t>
            </a:r>
          </a:p>
        </p:txBody>
      </p:sp>
      <p:sp>
        <p:nvSpPr>
          <p:cNvPr id="25" name="Rectangle 24"/>
          <p:cNvSpPr/>
          <p:nvPr/>
        </p:nvSpPr>
        <p:spPr>
          <a:xfrm>
            <a:off x="7934701" y="3959352"/>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34701" y="4114800"/>
            <a:ext cx="2748234" cy="292608"/>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VaR 99% (historical)</a:t>
            </a:r>
          </a:p>
        </p:txBody>
      </p:sp>
      <p:sp>
        <p:nvSpPr>
          <p:cNvPr id="27" name="TextBox 26"/>
          <p:cNvSpPr txBox="1"/>
          <p:nvPr/>
        </p:nvSpPr>
        <p:spPr>
          <a:xfrm>
            <a:off x="7934701" y="4114800"/>
            <a:ext cx="3580338" cy="292608"/>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-10.48%</a:t>
            </a:r>
          </a:p>
        </p:txBody>
      </p:sp>
      <p:sp>
        <p:nvSpPr>
          <p:cNvPr id="28" name="Rectangle 27"/>
          <p:cNvSpPr/>
          <p:nvPr/>
        </p:nvSpPr>
        <p:spPr>
          <a:xfrm>
            <a:off x="7934701" y="4416552"/>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34701" y="4572000"/>
            <a:ext cx="2748234" cy="292608"/>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CVaR 99% (expected shortfall)</a:t>
            </a:r>
          </a:p>
        </p:txBody>
      </p:sp>
      <p:sp>
        <p:nvSpPr>
          <p:cNvPr id="30" name="TextBox 29"/>
          <p:cNvSpPr txBox="1"/>
          <p:nvPr/>
        </p:nvSpPr>
        <p:spPr>
          <a:xfrm>
            <a:off x="7934701" y="4572000"/>
            <a:ext cx="3580338" cy="292608"/>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-12.14%</a:t>
            </a:r>
          </a:p>
        </p:txBody>
      </p:sp>
      <p:sp>
        <p:nvSpPr>
          <p:cNvPr id="31" name="Rectangle 30"/>
          <p:cNvSpPr/>
          <p:nvPr/>
        </p:nvSpPr>
        <p:spPr>
          <a:xfrm>
            <a:off x="7934701" y="4873752"/>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34701" y="5029200"/>
            <a:ext cx="2748234" cy="292608"/>
          </a:xfrm>
          <a:prstGeom prst="rect">
            <a:avLst/>
          </a:prstGeom>
          <a:noFill/>
        </p:spPr>
        <p:txBody>
          <a:bodyPr wrap="square" lIns="0" rIns="0" tIns="0" bIns="0" anchor="t">
            <a:spAutoFit/>
          </a:bodyPr>
          <a:lstStyle/>
          <a:p>
            <a:pPr algn="l">
              <a:lnSpc>
                <a:spcPct val="105000"/>
              </a:lnSpc>
            </a:pPr>
            <a:r>
              <a:rPr sz="1050" b="0" i="0">
                <a:solidFill>
                  <a:srgbClr val="4A443C"/>
                </a:solidFill>
                <a:latin typeface="Corbel"/>
              </a:rPr>
              <a:t>On $279m, a 95% VaR month is</a:t>
            </a:r>
          </a:p>
        </p:txBody>
      </p:sp>
      <p:sp>
        <p:nvSpPr>
          <p:cNvPr id="33" name="TextBox 32"/>
          <p:cNvSpPr txBox="1"/>
          <p:nvPr/>
        </p:nvSpPr>
        <p:spPr>
          <a:xfrm>
            <a:off x="7934701" y="5029200"/>
            <a:ext cx="3580338" cy="292608"/>
          </a:xfrm>
          <a:prstGeom prst="rect">
            <a:avLst/>
          </a:prstGeom>
          <a:noFill/>
        </p:spPr>
        <p:txBody>
          <a:bodyPr wrap="square" lIns="0" rIns="0" tIns="0" bIns="0" anchor="t">
            <a:spAutoFit/>
          </a:bodyPr>
          <a:lstStyle/>
          <a:p>
            <a:pPr algn="r">
              <a:lnSpc>
                <a:spcPct val="105000"/>
              </a:lnSpc>
            </a:pPr>
            <a:r>
              <a:rPr sz="1050" b="1" i="0">
                <a:solidFill>
                  <a:srgbClr val="16130F"/>
                </a:solidFill>
                <a:latin typeface="Corbel"/>
              </a:rPr>
              <a:t>−$24.6m</a:t>
            </a:r>
          </a:p>
        </p:txBody>
      </p:sp>
      <p:sp>
        <p:nvSpPr>
          <p:cNvPr id="34" name="Rectangle 33"/>
          <p:cNvSpPr/>
          <p:nvPr/>
        </p:nvSpPr>
        <p:spPr>
          <a:xfrm>
            <a:off x="7934701" y="5330952"/>
            <a:ext cx="3580338"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23</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How much risk we took</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HOW MUCH RISK WE TOOK</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Where in the calendar the money was made</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Seasonality across 72 months. Six observations per calendar month, so read this as description rather than a tradeable signal</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10_seasonality.png"/>
          <p:cNvPicPr>
            <a:picLocks noChangeAspect="1"/>
          </p:cNvPicPr>
          <p:nvPr/>
        </p:nvPicPr>
        <p:blipFill>
          <a:blip r:embed="rId2"/>
          <a:stretch>
            <a:fillRect/>
          </a:stretch>
        </p:blipFill>
        <p:spPr>
          <a:xfrm>
            <a:off x="2630136" y="1517904"/>
            <a:ext cx="7681230" cy="3035807"/>
          </a:xfrm>
          <a:prstGeom prst="rect">
            <a:avLst/>
          </a:prstGeom>
        </p:spPr>
      </p:pic>
      <p:sp>
        <p:nvSpPr>
          <p:cNvPr id="12" name="Rectangle 11"/>
          <p:cNvSpPr/>
          <p:nvPr/>
        </p:nvSpPr>
        <p:spPr>
          <a:xfrm>
            <a:off x="1298448" y="4718304"/>
            <a:ext cx="3277514" cy="20116"/>
          </a:xfrm>
          <a:prstGeom prst="rect">
            <a:avLst/>
          </a:prstGeom>
          <a:solidFill>
            <a:srgbClr val="8A6D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98448" y="4846320"/>
            <a:ext cx="3058058" cy="292608"/>
          </a:xfrm>
          <a:prstGeom prst="rect">
            <a:avLst/>
          </a:prstGeom>
          <a:noFill/>
        </p:spPr>
        <p:txBody>
          <a:bodyPr wrap="square" lIns="0" rIns="0" tIns="0" bIns="0" anchor="t">
            <a:spAutoFit/>
          </a:bodyPr>
          <a:lstStyle/>
          <a:p>
            <a:pPr algn="l">
              <a:lnSpc>
                <a:spcPct val="105000"/>
              </a:lnSpc>
            </a:pPr>
            <a:r>
              <a:rPr sz="1500" b="0" i="0">
                <a:solidFill>
                  <a:srgbClr val="16130F"/>
                </a:solidFill>
                <a:latin typeface="Georgia"/>
              </a:rPr>
              <a:t>July  +5.8%</a:t>
            </a:r>
          </a:p>
        </p:txBody>
      </p:sp>
      <p:sp>
        <p:nvSpPr>
          <p:cNvPr id="14" name="TextBox 13"/>
          <p:cNvSpPr txBox="1"/>
          <p:nvPr/>
        </p:nvSpPr>
        <p:spPr>
          <a:xfrm>
            <a:off x="1298448" y="5212080"/>
            <a:ext cx="3021482" cy="786384"/>
          </a:xfrm>
          <a:prstGeom prst="rect">
            <a:avLst/>
          </a:prstGeom>
          <a:noFill/>
        </p:spPr>
        <p:txBody>
          <a:bodyPr wrap="square" lIns="0" rIns="0" tIns="0" bIns="0" anchor="t">
            <a:spAutoFit/>
          </a:bodyPr>
          <a:lstStyle/>
          <a:p>
            <a:pPr algn="l">
              <a:lnSpc>
                <a:spcPct val="124000"/>
              </a:lnSpc>
            </a:pPr>
            <a:r>
              <a:rPr sz="1050" b="0" i="0">
                <a:solidFill>
                  <a:srgbClr val="4A443C"/>
                </a:solidFill>
                <a:latin typeface="Corbel"/>
              </a:rPr>
              <a:t>The strongest month, on the back of six positive Julys out of six — including +13.1% in July 2022 during the bear-market rally.</a:t>
            </a:r>
          </a:p>
        </p:txBody>
      </p:sp>
      <p:sp>
        <p:nvSpPr>
          <p:cNvPr id="15" name="Rectangle 14"/>
          <p:cNvSpPr/>
          <p:nvPr/>
        </p:nvSpPr>
        <p:spPr>
          <a:xfrm>
            <a:off x="4831994" y="4718304"/>
            <a:ext cx="3277514" cy="20116"/>
          </a:xfrm>
          <a:prstGeom prst="rect">
            <a:avLst/>
          </a:prstGeom>
          <a:solidFill>
            <a:srgbClr val="8F2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31994" y="4846320"/>
            <a:ext cx="3058058" cy="292608"/>
          </a:xfrm>
          <a:prstGeom prst="rect">
            <a:avLst/>
          </a:prstGeom>
          <a:noFill/>
        </p:spPr>
        <p:txBody>
          <a:bodyPr wrap="square" lIns="0" rIns="0" tIns="0" bIns="0" anchor="t">
            <a:spAutoFit/>
          </a:bodyPr>
          <a:lstStyle/>
          <a:p>
            <a:pPr algn="l">
              <a:lnSpc>
                <a:spcPct val="105000"/>
              </a:lnSpc>
            </a:pPr>
            <a:r>
              <a:rPr sz="1500" b="0" i="0">
                <a:solidFill>
                  <a:srgbClr val="16130F"/>
                </a:solidFill>
                <a:latin typeface="Georgia"/>
              </a:rPr>
              <a:t>September  −2.8%</a:t>
            </a:r>
          </a:p>
        </p:txBody>
      </p:sp>
      <p:sp>
        <p:nvSpPr>
          <p:cNvPr id="17" name="TextBox 16"/>
          <p:cNvSpPr txBox="1"/>
          <p:nvPr/>
        </p:nvSpPr>
        <p:spPr>
          <a:xfrm>
            <a:off x="4831994" y="5212080"/>
            <a:ext cx="3021482" cy="786384"/>
          </a:xfrm>
          <a:prstGeom prst="rect">
            <a:avLst/>
          </a:prstGeom>
          <a:noFill/>
        </p:spPr>
        <p:txBody>
          <a:bodyPr wrap="square" lIns="0" rIns="0" tIns="0" bIns="0" anchor="t">
            <a:spAutoFit/>
          </a:bodyPr>
          <a:lstStyle/>
          <a:p>
            <a:pPr algn="l">
              <a:lnSpc>
                <a:spcPct val="124000"/>
              </a:lnSpc>
            </a:pPr>
            <a:r>
              <a:rPr sz="1050" b="0" i="0">
                <a:solidFill>
                  <a:srgbClr val="4A443C"/>
                </a:solidFill>
                <a:latin typeface="Corbel"/>
              </a:rPr>
              <a:t>The weakest month. Negative in three of six years, but heavily so: September 2022 alone cost 9.3%.</a:t>
            </a:r>
          </a:p>
        </p:txBody>
      </p:sp>
      <p:sp>
        <p:nvSpPr>
          <p:cNvPr id="18" name="Rectangle 17"/>
          <p:cNvSpPr/>
          <p:nvPr/>
        </p:nvSpPr>
        <p:spPr>
          <a:xfrm>
            <a:off x="8365540" y="4718304"/>
            <a:ext cx="3277514" cy="20116"/>
          </a:xfrm>
          <a:prstGeom prst="rect">
            <a:avLst/>
          </a:prstGeom>
          <a:solidFill>
            <a:srgbClr val="007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5540" y="4846320"/>
            <a:ext cx="3058058" cy="292608"/>
          </a:xfrm>
          <a:prstGeom prst="rect">
            <a:avLst/>
          </a:prstGeom>
          <a:noFill/>
        </p:spPr>
        <p:txBody>
          <a:bodyPr wrap="square" lIns="0" rIns="0" tIns="0" bIns="0" anchor="t">
            <a:spAutoFit/>
          </a:bodyPr>
          <a:lstStyle/>
          <a:p>
            <a:pPr algn="l">
              <a:lnSpc>
                <a:spcPct val="105000"/>
              </a:lnSpc>
            </a:pPr>
            <a:r>
              <a:rPr sz="1500" b="0" i="0">
                <a:solidFill>
                  <a:srgbClr val="16130F"/>
                </a:solidFill>
                <a:latin typeface="Georgia"/>
              </a:rPr>
              <a:t>The extremes cluster</a:t>
            </a:r>
          </a:p>
        </p:txBody>
      </p:sp>
      <p:sp>
        <p:nvSpPr>
          <p:cNvPr id="20" name="TextBox 19"/>
          <p:cNvSpPr txBox="1"/>
          <p:nvPr/>
        </p:nvSpPr>
        <p:spPr>
          <a:xfrm>
            <a:off x="8365540" y="5212080"/>
            <a:ext cx="3021482" cy="786384"/>
          </a:xfrm>
          <a:prstGeom prst="rect">
            <a:avLst/>
          </a:prstGeom>
          <a:noFill/>
        </p:spPr>
        <p:txBody>
          <a:bodyPr wrap="square" lIns="0" rIns="0" tIns="0" bIns="0" anchor="t">
            <a:spAutoFit/>
          </a:bodyPr>
          <a:lstStyle/>
          <a:p>
            <a:pPr algn="l">
              <a:lnSpc>
                <a:spcPct val="124000"/>
              </a:lnSpc>
            </a:pPr>
            <a:r>
              <a:rPr sz="1050" b="0" i="0">
                <a:solidFill>
                  <a:srgbClr val="4A443C"/>
                </a:solidFill>
                <a:latin typeface="Corbel"/>
              </a:rPr>
              <a:t>April 2020 was the best month on record at +14.5%; April 2022 the worst at −12.1%. Both sit inside the same two-year window.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3B38"/>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371600"/>
            <a:ext cx="3840480" cy="2377440"/>
          </a:xfrm>
          <a:prstGeom prst="rect">
            <a:avLst/>
          </a:prstGeom>
          <a:noFill/>
        </p:spPr>
        <p:txBody>
          <a:bodyPr wrap="square" lIns="0" rIns="0" tIns="0" bIns="0" anchor="t">
            <a:spAutoFit/>
          </a:bodyPr>
          <a:lstStyle/>
          <a:p>
            <a:pPr algn="l">
              <a:lnSpc>
                <a:spcPct val="105000"/>
              </a:lnSpc>
            </a:pPr>
            <a:r>
              <a:rPr sz="13200" b="0" i="0">
                <a:solidFill>
                  <a:srgbClr val="144E4A"/>
                </a:solidFill>
                <a:latin typeface="Georgia"/>
              </a:rPr>
              <a:t>05</a:t>
            </a:r>
          </a:p>
        </p:txBody>
      </p:sp>
      <p:sp>
        <p:nvSpPr>
          <p:cNvPr id="4" name="Rectangle 3"/>
          <p:cNvSpPr/>
          <p:nvPr/>
        </p:nvSpPr>
        <p:spPr>
          <a:xfrm>
            <a:off x="1024128" y="3913632"/>
            <a:ext cx="1371600" cy="2743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4224528"/>
            <a:ext cx="8961120" cy="822960"/>
          </a:xfrm>
          <a:prstGeom prst="rect">
            <a:avLst/>
          </a:prstGeom>
          <a:noFill/>
        </p:spPr>
        <p:txBody>
          <a:bodyPr wrap="square" lIns="0" rIns="0" tIns="0" bIns="0" anchor="t">
            <a:spAutoFit/>
          </a:bodyPr>
          <a:lstStyle/>
          <a:p>
            <a:pPr algn="l">
              <a:lnSpc>
                <a:spcPct val="104000"/>
              </a:lnSpc>
            </a:pPr>
            <a:r>
              <a:rPr sz="3800" b="0" i="0">
                <a:solidFill>
                  <a:srgbClr val="F2ECDE"/>
                </a:solidFill>
                <a:latin typeface="Georgia"/>
              </a:rPr>
              <a:t>Was it skill?</a:t>
            </a:r>
          </a:p>
        </p:txBody>
      </p:sp>
      <p:sp>
        <p:nvSpPr>
          <p:cNvPr id="6" name="TextBox 5"/>
          <p:cNvSpPr txBox="1"/>
          <p:nvPr/>
        </p:nvSpPr>
        <p:spPr>
          <a:xfrm>
            <a:off x="1005840" y="5138928"/>
            <a:ext cx="7680960" cy="822960"/>
          </a:xfrm>
          <a:prstGeom prst="rect">
            <a:avLst/>
          </a:prstGeom>
          <a:noFill/>
        </p:spPr>
        <p:txBody>
          <a:bodyPr wrap="square" lIns="0" rIns="0" tIns="0" bIns="0" anchor="t">
            <a:spAutoFit/>
          </a:bodyPr>
          <a:lstStyle/>
          <a:p>
            <a:pPr algn="l">
              <a:lnSpc>
                <a:spcPct val="130000"/>
              </a:lnSpc>
            </a:pPr>
            <a:r>
              <a:rPr sz="1300" b="0" i="0">
                <a:solidFill>
                  <a:srgbClr val="A9BEB8"/>
                </a:solidFill>
                <a:latin typeface="Corbel"/>
              </a:rPr>
              <a:t>Jensen's alpha, factor models, performance attribution, and what a mean-variance optimiser would have done with the same eleven stocks</a:t>
            </a:r>
          </a:p>
        </p:txBody>
      </p:sp>
      <p:sp>
        <p:nvSpPr>
          <p:cNvPr id="7" name="TextBox 6"/>
          <p:cNvSpPr txBox="1"/>
          <p:nvPr/>
        </p:nvSpPr>
        <p:spPr>
          <a:xfrm>
            <a:off x="9174175" y="6053328"/>
            <a:ext cx="2468880" cy="274320"/>
          </a:xfrm>
          <a:prstGeom prst="rect">
            <a:avLst/>
          </a:prstGeom>
          <a:noFill/>
        </p:spPr>
        <p:txBody>
          <a:bodyPr wrap="square" lIns="0" rIns="0" tIns="0" bIns="0" anchor="t">
            <a:spAutoFit/>
          </a:bodyPr>
          <a:lstStyle/>
          <a:p>
            <a:pPr algn="r">
              <a:lnSpc>
                <a:spcPct val="105000"/>
              </a:lnSpc>
            </a:pPr>
            <a:r>
              <a:rPr sz="800" b="0" i="0" spc="220">
                <a:solidFill>
                  <a:srgbClr val="A9BEB8"/>
                </a:solidFill>
                <a:latin typeface="Corbel"/>
              </a:rPr>
              <a:t>NORTHPOINT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25</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Was it skill?</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WAS IT SKILL?</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Jensen's alpha: significant on every model we ran</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Excess return regressed on risk factors. 72 monthly observations, Newey–West standard errors with four lags</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graphicFrame>
        <p:nvGraphicFramePr>
          <p:cNvPr id="11" name="Table 10"/>
          <p:cNvGraphicFramePr>
            <a:graphicFrameLocks noGrp="1"/>
          </p:cNvGraphicFramePr>
          <p:nvPr/>
        </p:nvGraphicFramePr>
        <p:xfrm>
          <a:off x="1298448" y="1737360"/>
          <a:ext cx="10344602" cy="2633472"/>
        </p:xfrm>
        <a:graphic>
          <a:graphicData uri="http://schemas.openxmlformats.org/drawingml/2006/table">
            <a:tbl>
              <a:tblPr>
                <a:tableStyleId>{5C22544A-7EE6-4342-B048-85BDC9FD1C3A}</a:tableStyleId>
              </a:tblPr>
              <a:tblGrid>
                <a:gridCol w="2172367"/>
                <a:gridCol w="1344798"/>
                <a:gridCol w="1034460"/>
                <a:gridCol w="931014"/>
                <a:gridCol w="1034460"/>
                <a:gridCol w="1034460"/>
                <a:gridCol w="2793043"/>
              </a:tblGrid>
              <a:tr h="438912">
                <a:tc>
                  <a:txBody>
                    <a:bodyPr wrap="square"/>
                    <a:lstStyle/>
                    <a:p>
                      <a:pPr algn="l"/>
                      <a:r>
                        <a:rPr sz="950" b="1" spc="130">
                          <a:solidFill>
                            <a:srgbClr val="4A443C"/>
                          </a:solidFill>
                          <a:latin typeface="Corbel"/>
                        </a:rPr>
                        <a:t>MODEL</a:t>
                      </a:r>
                    </a:p>
                  </a:txBody>
                  <a:tcPr marL="18288" marR="91440" marT="27432" marB="27432" anchor="ctr">
                    <a:noFill/>
                    <a:lnB w="6350" cap="flat">
                      <a:solidFill>
                        <a:srgbClr val="16130F"/>
                      </a:solidFill>
                    </a:lnB>
                  </a:tcPr>
                </a:tc>
                <a:tc>
                  <a:txBody>
                    <a:bodyPr wrap="square"/>
                    <a:lstStyle/>
                    <a:p>
                      <a:pPr algn="r"/>
                      <a:r>
                        <a:rPr sz="950" b="1" spc="130">
                          <a:solidFill>
                            <a:srgbClr val="4A443C"/>
                          </a:solidFill>
                          <a:latin typeface="Corbel"/>
                        </a:rPr>
                        <a:t>ANNUALISED ALPHA</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ALPHA T-STAT</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P-VALUE</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MARKET BETA</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ADJUSTED R²</a:t>
                      </a:r>
                    </a:p>
                  </a:txBody>
                  <a:tcPr marL="91440" marR="91440" marT="27432" marB="27432" anchor="ctr">
                    <a:noFill/>
                    <a:lnB w="6350" cap="flat">
                      <a:solidFill>
                        <a:srgbClr val="16130F"/>
                      </a:solidFill>
                    </a:lnB>
                  </a:tcPr>
                </a:tc>
                <a:tc>
                  <a:txBody>
                    <a:bodyPr wrap="square"/>
                    <a:lstStyle/>
                    <a:p>
                      <a:pPr algn="l"/>
                      <a:r>
                        <a:rPr sz="950" b="1" spc="130">
                          <a:solidFill>
                            <a:srgbClr val="4A443C"/>
                          </a:solidFill>
                          <a:latin typeface="Corbel"/>
                        </a:rPr>
                        <a:t>INTERPRETATION</a:t>
                      </a:r>
                    </a:p>
                  </a:txBody>
                  <a:tcPr marL="91440" marR="91440" marT="27432" marB="27432" anchor="ctr">
                    <a:noFill/>
                    <a:lnB w="6350" cap="flat">
                      <a:solidFill>
                        <a:srgbClr val="16130F"/>
                      </a:solidFill>
                    </a:lnB>
                  </a:tcPr>
                </a:tc>
              </a:tr>
              <a:tr h="438912">
                <a:tc>
                  <a:txBody>
                    <a:bodyPr wrap="square"/>
                    <a:lstStyle/>
                    <a:p>
                      <a:pPr algn="l"/>
                      <a:r>
                        <a:rPr sz="1100" b="1">
                          <a:solidFill>
                            <a:srgbClr val="16130F"/>
                          </a:solidFill>
                          <a:latin typeface="Corbel"/>
                        </a:rPr>
                        <a:t>CAPM (single factor)</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7.2%</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2.19</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0.029</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1.005</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0.872</a:t>
                      </a:r>
                    </a:p>
                  </a:txBody>
                  <a:tcPr marL="91440" marR="91440" marT="27432" marB="27432" anchor="ctr">
                    <a:noFill/>
                    <a:lnT w="3175" cap="flat">
                      <a:solidFill>
                        <a:srgbClr val="E2DCCF"/>
                      </a:solidFill>
                    </a:lnT>
                  </a:tcPr>
                </a:tc>
                <a:tc>
                  <a:txBody>
                    <a:bodyPr wrap="square"/>
                    <a:lstStyle/>
                    <a:p>
                      <a:pPr algn="l"/>
                      <a:r>
                        <a:rPr sz="1100" b="0">
                          <a:solidFill>
                            <a:srgbClr val="16130F"/>
                          </a:solidFill>
                          <a:latin typeface="Corbel"/>
                        </a:rPr>
                        <a:t>Significant at the 5% level</a:t>
                      </a:r>
                    </a:p>
                  </a:txBody>
                  <a:tcPr marL="91440" marR="91440" marT="27432" marB="27432" anchor="ctr">
                    <a:noFill/>
                    <a:lnT w="3175" cap="flat">
                      <a:solidFill>
                        <a:srgbClr val="E2DCCF"/>
                      </a:solidFill>
                    </a:lnT>
                  </a:tcPr>
                </a:tc>
              </a:tr>
              <a:tr h="438912">
                <a:tc>
                  <a:txBody>
                    <a:bodyPr wrap="square"/>
                    <a:lstStyle/>
                    <a:p>
                      <a:pPr algn="l"/>
                      <a:r>
                        <a:rPr sz="1100" b="1">
                          <a:solidFill>
                            <a:srgbClr val="16130F"/>
                          </a:solidFill>
                          <a:latin typeface="Corbel"/>
                        </a:rPr>
                        <a:t>Fama–French 3-factor</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5.9%</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2.83</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0.005</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1.040</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0.915</a:t>
                      </a:r>
                    </a:p>
                  </a:txBody>
                  <a:tcPr marL="91440" marR="91440" marT="27432" marB="27432" anchor="ctr">
                    <a:noFill/>
                    <a:lnT w="3175" cap="flat">
                      <a:solidFill>
                        <a:srgbClr val="E2DCCF"/>
                      </a:solidFill>
                    </a:lnT>
                  </a:tcPr>
                </a:tc>
                <a:tc>
                  <a:txBody>
                    <a:bodyPr wrap="square"/>
                    <a:lstStyle/>
                    <a:p>
                      <a:pPr algn="l"/>
                      <a:r>
                        <a:rPr sz="1100" b="0">
                          <a:solidFill>
                            <a:srgbClr val="16130F"/>
                          </a:solidFill>
                          <a:latin typeface="Corbel"/>
                        </a:rPr>
                        <a:t>Significant at the 1% level</a:t>
                      </a:r>
                    </a:p>
                  </a:txBody>
                  <a:tcPr marL="91440" marR="91440" marT="27432" marB="27432" anchor="ctr">
                    <a:noFill/>
                    <a:lnT w="3175" cap="flat">
                      <a:solidFill>
                        <a:srgbClr val="E2DCCF"/>
                      </a:solidFill>
                    </a:lnT>
                  </a:tcPr>
                </a:tc>
              </a:tr>
              <a:tr h="438912">
                <a:tc>
                  <a:txBody>
                    <a:bodyPr wrap="square"/>
                    <a:lstStyle/>
                    <a:p>
                      <a:pPr algn="l"/>
                      <a:r>
                        <a:rPr sz="1100" b="1">
                          <a:solidFill>
                            <a:srgbClr val="16130F"/>
                          </a:solidFill>
                          <a:latin typeface="Corbel"/>
                        </a:rPr>
                        <a:t>Fama–French 5-factor</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6.6%</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3.06</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0.002</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1.050</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0.914</a:t>
                      </a:r>
                    </a:p>
                  </a:txBody>
                  <a:tcPr marL="91440" marR="91440" marT="27432" marB="27432" anchor="ctr">
                    <a:noFill/>
                    <a:lnT w="3175" cap="flat">
                      <a:solidFill>
                        <a:srgbClr val="E2DCCF"/>
                      </a:solidFill>
                    </a:lnT>
                  </a:tcPr>
                </a:tc>
                <a:tc>
                  <a:txBody>
                    <a:bodyPr wrap="square"/>
                    <a:lstStyle/>
                    <a:p>
                      <a:pPr algn="l"/>
                      <a:r>
                        <a:rPr sz="1100" b="0">
                          <a:solidFill>
                            <a:srgbClr val="16130F"/>
                          </a:solidFill>
                          <a:latin typeface="Corbel"/>
                        </a:rPr>
                        <a:t>Significant at the 1% level</a:t>
                      </a:r>
                    </a:p>
                  </a:txBody>
                  <a:tcPr marL="91440" marR="91440" marT="27432" marB="27432" anchor="ctr">
                    <a:noFill/>
                    <a:lnT w="3175" cap="flat">
                      <a:solidFill>
                        <a:srgbClr val="E2DCCF"/>
                      </a:solidFill>
                    </a:lnT>
                  </a:tcPr>
                </a:tc>
              </a:tr>
              <a:tr h="438912">
                <a:tc>
                  <a:txBody>
                    <a:bodyPr wrap="square"/>
                    <a:lstStyle/>
                    <a:p>
                      <a:pPr algn="l"/>
                      <a:r>
                        <a:rPr sz="1100" b="1">
                          <a:solidFill>
                            <a:srgbClr val="16130F"/>
                          </a:solidFill>
                          <a:latin typeface="Corbel"/>
                        </a:rPr>
                        <a:t>FF5 + momentum (Carhart)</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6.5%</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2.95</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0.003</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1.054</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0.913</a:t>
                      </a:r>
                    </a:p>
                  </a:txBody>
                  <a:tcPr marL="91440" marR="91440" marT="27432" marB="27432" anchor="ctr">
                    <a:noFill/>
                    <a:lnT w="3175" cap="flat">
                      <a:solidFill>
                        <a:srgbClr val="E2DCCF"/>
                      </a:solidFill>
                    </a:lnT>
                  </a:tcPr>
                </a:tc>
                <a:tc>
                  <a:txBody>
                    <a:bodyPr wrap="square"/>
                    <a:lstStyle/>
                    <a:p>
                      <a:pPr algn="l"/>
                      <a:r>
                        <a:rPr sz="1100" b="0">
                          <a:solidFill>
                            <a:srgbClr val="16130F"/>
                          </a:solidFill>
                          <a:latin typeface="Corbel"/>
                        </a:rPr>
                        <a:t>Significant at the 1% level</a:t>
                      </a:r>
                    </a:p>
                  </a:txBody>
                  <a:tcPr marL="91440" marR="91440" marT="27432" marB="27432" anchor="ctr">
                    <a:noFill/>
                    <a:lnT w="3175" cap="flat">
                      <a:solidFill>
                        <a:srgbClr val="E2DCCF"/>
                      </a:solidFill>
                    </a:lnT>
                  </a:tcPr>
                </a:tc>
              </a:tr>
              <a:tr h="438912">
                <a:tc>
                  <a:txBody>
                    <a:bodyPr wrap="square"/>
                    <a:lstStyle/>
                    <a:p>
                      <a:pPr algn="l"/>
                      <a:r>
                        <a:rPr sz="1100" b="1">
                          <a:solidFill>
                            <a:srgbClr val="16130F"/>
                          </a:solidFill>
                          <a:latin typeface="Corbel"/>
                        </a:rPr>
                        <a:t>NASDAQ-100, same FF5 test</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2.4%</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1.41</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0.159</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1.099</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0.943</a:t>
                      </a:r>
                    </a:p>
                  </a:txBody>
                  <a:tcPr marL="91440" marR="91440" marT="27432" marB="27432" anchor="ctr">
                    <a:noFill/>
                    <a:lnT w="3175" cap="flat">
                      <a:solidFill>
                        <a:srgbClr val="E2DCCF"/>
                      </a:solidFill>
                    </a:lnT>
                  </a:tcPr>
                </a:tc>
                <a:tc>
                  <a:txBody>
                    <a:bodyPr wrap="square"/>
                    <a:lstStyle/>
                    <a:p>
                      <a:pPr algn="l"/>
                      <a:r>
                        <a:rPr sz="1100" b="0">
                          <a:solidFill>
                            <a:srgbClr val="16130F"/>
                          </a:solidFill>
                          <a:latin typeface="Corbel"/>
                        </a:rPr>
                        <a:t>Not statistically significant</a:t>
                      </a:r>
                    </a:p>
                  </a:txBody>
                  <a:tcPr marL="91440" marR="91440" marT="27432" marB="27432" anchor="ctr">
                    <a:noFill/>
                    <a:lnT w="3175" cap="flat">
                      <a:solidFill>
                        <a:srgbClr val="E2DCCF"/>
                      </a:solidFill>
                    </a:lnT>
                  </a:tcPr>
                </a:tc>
              </a:tr>
            </a:tbl>
          </a:graphicData>
        </a:graphic>
      </p:graphicFrame>
      <p:sp>
        <p:nvSpPr>
          <p:cNvPr id="12" name="TextBox 11"/>
          <p:cNvSpPr txBox="1"/>
          <p:nvPr/>
        </p:nvSpPr>
        <p:spPr>
          <a:xfrm>
            <a:off x="1298448" y="4663440"/>
            <a:ext cx="10344607" cy="1280160"/>
          </a:xfrm>
          <a:prstGeom prst="rect">
            <a:avLst/>
          </a:prstGeom>
          <a:noFill/>
        </p:spPr>
        <p:txBody>
          <a:bodyPr wrap="square" lIns="0" rIns="0" tIns="0" bIns="0" anchor="t">
            <a:spAutoFit/>
          </a:bodyPr>
          <a:lstStyle/>
          <a:p>
            <a:pPr algn="l">
              <a:lnSpc>
                <a:spcPct val="130000"/>
              </a:lnSpc>
            </a:pPr>
            <a:r>
              <a:rPr sz="1300" b="0" i="0">
                <a:solidFill>
                  <a:srgbClr val="16130F"/>
                </a:solidFill>
                <a:latin typeface="Corbel"/>
              </a:rPr>
              <a:t>The test that matters. After controlling for the market, size, value, profitability, investment and momentum factors, the fund still delivered 6.6% a year that those factors cannot explain, with a t-statistic of 3.06 (p = 0.002). The same test applied to the NASDAQ-100 returns an alpha of 2.4% that is statistically indistinguishable from zero. The benchmark's excess return is explained by its factor exposures. Ours is not.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26</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Was it skill?</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WAS IT SKILL?</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What the factor loadings say about us</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A large-cap growth fund with market-like beta, which is the profile the mandate described</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18_factors.png"/>
          <p:cNvPicPr>
            <a:picLocks noChangeAspect="1"/>
          </p:cNvPicPr>
          <p:nvPr/>
        </p:nvPicPr>
        <p:blipFill>
          <a:blip r:embed="rId2"/>
          <a:stretch>
            <a:fillRect/>
          </a:stretch>
        </p:blipFill>
        <p:spPr>
          <a:xfrm>
            <a:off x="1298448" y="2156908"/>
            <a:ext cx="6361933" cy="3111111"/>
          </a:xfrm>
          <a:prstGeom prst="rect">
            <a:avLst/>
          </a:prstGeom>
        </p:spPr>
      </p:pic>
      <p:sp>
        <p:nvSpPr>
          <p:cNvPr id="12" name="TextBox 11"/>
          <p:cNvSpPr txBox="1"/>
          <p:nvPr/>
        </p:nvSpPr>
        <p:spPr>
          <a:xfrm>
            <a:off x="7934701" y="1737360"/>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READING THE COEFFICIENTS</a:t>
            </a:r>
          </a:p>
        </p:txBody>
      </p:sp>
      <p:sp>
        <p:nvSpPr>
          <p:cNvPr id="13" name="TextBox 12"/>
          <p:cNvSpPr txBox="1"/>
          <p:nvPr/>
        </p:nvSpPr>
        <p:spPr>
          <a:xfrm>
            <a:off x="7934701" y="2066543"/>
            <a:ext cx="3708354" cy="346456"/>
          </a:xfrm>
          <a:prstGeom prst="rect">
            <a:avLst/>
          </a:prstGeom>
          <a:noFill/>
        </p:spPr>
        <p:txBody>
          <a:bodyPr wrap="square" lIns="0" rIns="0" tIns="0" bIns="0">
            <a:spAutoFit/>
          </a:bodyPr>
          <a:lstStyle/>
          <a:p>
            <a:pPr>
              <a:lnSpc>
                <a:spcPct val="122000"/>
              </a:lnSpc>
            </a:pPr>
            <a:r>
              <a:rPr sz="1100" b="1">
                <a:solidFill>
                  <a:srgbClr val="0D3B38"/>
                </a:solidFill>
                <a:latin typeface="Corbel"/>
              </a:rPr>
              <a:t>Market +1.05.  </a:t>
            </a:r>
            <a:r>
              <a:rPr sz="1100">
                <a:solidFill>
                  <a:srgbClr val="16130F"/>
                </a:solidFill>
                <a:latin typeface="Corbel"/>
              </a:rPr>
              <a:t>Essentially one-for-one with the market. We were not levered.</a:t>
            </a:r>
          </a:p>
        </p:txBody>
      </p:sp>
      <p:sp>
        <p:nvSpPr>
          <p:cNvPr id="14" name="TextBox 13"/>
          <p:cNvSpPr txBox="1"/>
          <p:nvPr/>
        </p:nvSpPr>
        <p:spPr>
          <a:xfrm>
            <a:off x="7934701" y="2550159"/>
            <a:ext cx="3708354" cy="346456"/>
          </a:xfrm>
          <a:prstGeom prst="rect">
            <a:avLst/>
          </a:prstGeom>
          <a:noFill/>
        </p:spPr>
        <p:txBody>
          <a:bodyPr wrap="square" lIns="0" rIns="0" tIns="0" bIns="0">
            <a:spAutoFit/>
          </a:bodyPr>
          <a:lstStyle/>
          <a:p>
            <a:pPr>
              <a:lnSpc>
                <a:spcPct val="122000"/>
              </a:lnSpc>
            </a:pPr>
            <a:r>
              <a:rPr sz="1100" b="1">
                <a:solidFill>
                  <a:srgbClr val="0D3B38"/>
                </a:solidFill>
                <a:latin typeface="Corbel"/>
              </a:rPr>
              <a:t>Size −0.22.  </a:t>
            </a:r>
            <a:r>
              <a:rPr sz="1100">
                <a:solidFill>
                  <a:srgbClr val="16130F"/>
                </a:solidFill>
                <a:latin typeface="Corbel"/>
              </a:rPr>
              <a:t>Significantly negative: a large-cap fund, as intended.</a:t>
            </a:r>
          </a:p>
        </p:txBody>
      </p:sp>
      <p:sp>
        <p:nvSpPr>
          <p:cNvPr id="15" name="TextBox 14"/>
          <p:cNvSpPr txBox="1"/>
          <p:nvPr/>
        </p:nvSpPr>
        <p:spPr>
          <a:xfrm>
            <a:off x="7934701" y="3033775"/>
            <a:ext cx="3708354" cy="346456"/>
          </a:xfrm>
          <a:prstGeom prst="rect">
            <a:avLst/>
          </a:prstGeom>
          <a:noFill/>
        </p:spPr>
        <p:txBody>
          <a:bodyPr wrap="square" lIns="0" rIns="0" tIns="0" bIns="0">
            <a:spAutoFit/>
          </a:bodyPr>
          <a:lstStyle/>
          <a:p>
            <a:pPr>
              <a:lnSpc>
                <a:spcPct val="122000"/>
              </a:lnSpc>
            </a:pPr>
            <a:r>
              <a:rPr sz="1100" b="1">
                <a:solidFill>
                  <a:srgbClr val="0D3B38"/>
                </a:solidFill>
                <a:latin typeface="Corbel"/>
              </a:rPr>
              <a:t>Value −0.19.  </a:t>
            </a:r>
            <a:r>
              <a:rPr sz="1100">
                <a:solidFill>
                  <a:srgbClr val="16130F"/>
                </a:solidFill>
                <a:latin typeface="Corbel"/>
              </a:rPr>
              <a:t>Significantly negative: a growth fund, as intended.</a:t>
            </a:r>
          </a:p>
        </p:txBody>
      </p:sp>
      <p:sp>
        <p:nvSpPr>
          <p:cNvPr id="16" name="TextBox 15"/>
          <p:cNvSpPr txBox="1"/>
          <p:nvPr/>
        </p:nvSpPr>
        <p:spPr>
          <a:xfrm>
            <a:off x="7934701" y="3517391"/>
            <a:ext cx="3708354" cy="346456"/>
          </a:xfrm>
          <a:prstGeom prst="rect">
            <a:avLst/>
          </a:prstGeom>
          <a:noFill/>
        </p:spPr>
        <p:txBody>
          <a:bodyPr wrap="square" lIns="0" rIns="0" tIns="0" bIns="0">
            <a:spAutoFit/>
          </a:bodyPr>
          <a:lstStyle/>
          <a:p>
            <a:pPr>
              <a:lnSpc>
                <a:spcPct val="122000"/>
              </a:lnSpc>
            </a:pPr>
            <a:r>
              <a:rPr sz="1100" b="1">
                <a:solidFill>
                  <a:srgbClr val="0D3B38"/>
                </a:solidFill>
                <a:latin typeface="Corbel"/>
              </a:rPr>
              <a:t>Profitability −0.11, Investment −0.05.  </a:t>
            </a:r>
            <a:r>
              <a:rPr sz="1100">
                <a:solidFill>
                  <a:srgbClr val="16130F"/>
                </a:solidFill>
                <a:latin typeface="Corbel"/>
              </a:rPr>
              <a:t>Neither is significant, so no hidden quality tilt.</a:t>
            </a:r>
          </a:p>
        </p:txBody>
      </p:sp>
      <p:sp>
        <p:nvSpPr>
          <p:cNvPr id="17" name="TextBox 16"/>
          <p:cNvSpPr txBox="1"/>
          <p:nvPr/>
        </p:nvSpPr>
        <p:spPr>
          <a:xfrm>
            <a:off x="7934701" y="4001007"/>
            <a:ext cx="3708354" cy="346456"/>
          </a:xfrm>
          <a:prstGeom prst="rect">
            <a:avLst/>
          </a:prstGeom>
          <a:noFill/>
        </p:spPr>
        <p:txBody>
          <a:bodyPr wrap="square" lIns="0" rIns="0" tIns="0" bIns="0">
            <a:spAutoFit/>
          </a:bodyPr>
          <a:lstStyle/>
          <a:p>
            <a:pPr>
              <a:lnSpc>
                <a:spcPct val="122000"/>
              </a:lnSpc>
            </a:pPr>
            <a:r>
              <a:rPr sz="1100" b="1">
                <a:solidFill>
                  <a:srgbClr val="0D3B38"/>
                </a:solidFill>
                <a:latin typeface="Corbel"/>
              </a:rPr>
              <a:t>Momentum +0.02.  </a:t>
            </a:r>
            <a:r>
              <a:rPr sz="1100">
                <a:solidFill>
                  <a:srgbClr val="16130F"/>
                </a:solidFill>
                <a:latin typeface="Corbel"/>
              </a:rPr>
              <a:t>Effectively zero. This was not a momentum-chasing strategy.</a:t>
            </a:r>
          </a:p>
        </p:txBody>
      </p:sp>
      <p:sp>
        <p:nvSpPr>
          <p:cNvPr id="18" name="Rectangle 17"/>
          <p:cNvSpPr/>
          <p:nvPr/>
        </p:nvSpPr>
        <p:spPr>
          <a:xfrm>
            <a:off x="7934701" y="4630927"/>
            <a:ext cx="3708354" cy="1828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34701" y="4795519"/>
            <a:ext cx="3708354" cy="914400"/>
          </a:xfrm>
          <a:prstGeom prst="rect">
            <a:avLst/>
          </a:prstGeom>
          <a:noFill/>
        </p:spPr>
        <p:txBody>
          <a:bodyPr wrap="square" lIns="0" rIns="0" tIns="0" bIns="0" anchor="t">
            <a:spAutoFit/>
          </a:bodyPr>
          <a:lstStyle/>
          <a:p>
            <a:pPr algn="l">
              <a:lnSpc>
                <a:spcPct val="125000"/>
              </a:lnSpc>
            </a:pPr>
            <a:r>
              <a:rPr sz="1100" b="1" i="0">
                <a:solidFill>
                  <a:srgbClr val="0D3B38"/>
                </a:solidFill>
                <a:latin typeface="Corbel"/>
              </a:rPr>
              <a:t>Every loading sits where the January-2016 mandate said it would. There are no unexplained exposures hiding in this portfolio.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27</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Was it skill?</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WAS IT SKILL?</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Alpha was persistent, not a single lucky year</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Rolling 36-month Jensen's alpha stays positive across every window in the sample</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15_rolling_alpha.png"/>
          <p:cNvPicPr>
            <a:picLocks noChangeAspect="1"/>
          </p:cNvPicPr>
          <p:nvPr/>
        </p:nvPicPr>
        <p:blipFill>
          <a:blip r:embed="rId2"/>
          <a:stretch>
            <a:fillRect/>
          </a:stretch>
        </p:blipFill>
        <p:spPr>
          <a:xfrm>
            <a:off x="1926308" y="1517904"/>
            <a:ext cx="9088887" cy="3950207"/>
          </a:xfrm>
          <a:prstGeom prst="rect">
            <a:avLst/>
          </a:prstGeom>
        </p:spPr>
      </p:pic>
      <p:sp>
        <p:nvSpPr>
          <p:cNvPr id="12" name="TextBox 11"/>
          <p:cNvSpPr txBox="1"/>
          <p:nvPr/>
        </p:nvSpPr>
        <p:spPr>
          <a:xfrm>
            <a:off x="1298448" y="5577840"/>
            <a:ext cx="10344607" cy="640080"/>
          </a:xfrm>
          <a:prstGeom prst="rect">
            <a:avLst/>
          </a:prstGeom>
          <a:noFill/>
        </p:spPr>
        <p:txBody>
          <a:bodyPr wrap="square" lIns="0" rIns="0" tIns="0" bIns="0" anchor="t">
            <a:spAutoFit/>
          </a:bodyPr>
          <a:lstStyle/>
          <a:p>
            <a:pPr algn="l">
              <a:lnSpc>
                <a:spcPct val="125000"/>
              </a:lnSpc>
            </a:pPr>
            <a:r>
              <a:rPr sz="1150" b="0" i="0">
                <a:solidFill>
                  <a:srgbClr val="4A443C"/>
                </a:solidFill>
                <a:latin typeface="Corbel"/>
              </a:rPr>
              <a:t>A single full-sample alpha can be produced by one exceptional year. This chart re-estimates the CAPM alpha on every rolling three-year window from Dec-2019 onward. It never turns negative — including the windows dominated by the 2022 drawdown, where the alpha comes from losing less rather than gaining more.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28</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Was it skill?</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WAS IT SKILL?</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Nine of eleven picks beat their own sector</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Each holding measured against the GICS sector ETF it sits in, which is the fairest test of stock selection</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13_stock_vs_sector.png"/>
          <p:cNvPicPr>
            <a:picLocks noChangeAspect="1"/>
          </p:cNvPicPr>
          <p:nvPr/>
        </p:nvPicPr>
        <p:blipFill>
          <a:blip r:embed="rId2"/>
          <a:stretch>
            <a:fillRect/>
          </a:stretch>
        </p:blipFill>
        <p:spPr>
          <a:xfrm>
            <a:off x="2484876" y="1517904"/>
            <a:ext cx="7971750" cy="4023359"/>
          </a:xfrm>
          <a:prstGeom prst="rect">
            <a:avLst/>
          </a:prstGeom>
        </p:spPr>
      </p:pic>
      <p:sp>
        <p:nvSpPr>
          <p:cNvPr id="12" name="TextBox 11"/>
          <p:cNvSpPr txBox="1"/>
          <p:nvPr/>
        </p:nvSpPr>
        <p:spPr>
          <a:xfrm>
            <a:off x="1298448" y="5669280"/>
            <a:ext cx="10344607" cy="548640"/>
          </a:xfrm>
          <a:prstGeom prst="rect">
            <a:avLst/>
          </a:prstGeom>
          <a:noFill/>
        </p:spPr>
        <p:txBody>
          <a:bodyPr wrap="square" lIns="0" rIns="0" tIns="0" bIns="0" anchor="t">
            <a:spAutoFit/>
          </a:bodyPr>
          <a:lstStyle/>
          <a:p>
            <a:pPr algn="l">
              <a:lnSpc>
                <a:spcPct val="122000"/>
              </a:lnSpc>
            </a:pPr>
            <a:r>
              <a:rPr sz="1100" b="0" i="0">
                <a:solidFill>
                  <a:srgbClr val="4A443C"/>
                </a:solidFill>
                <a:latin typeface="Corbel"/>
              </a:rPr>
              <a:t>Only two picks lagged: Illumina, 60 points behind XLV, and Schlumberger, 77 points behind XLE. The standouts were Costco at 152 points ahead of XLP, NextEra 146 ahead of XLU and Microsoft 142 ahead of XLK. XLC did not exist until June 2018, so the Communication Services sleeve is spliced with XLK before that date.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29</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Was it skill?</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WAS IT SKILL?</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Where the 179% came from</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Compounded contribution to cumulative return by holding. Microsoft alone delivered nearly a quarter of it</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12_contribution.png"/>
          <p:cNvPicPr>
            <a:picLocks noChangeAspect="1"/>
          </p:cNvPicPr>
          <p:nvPr/>
        </p:nvPicPr>
        <p:blipFill>
          <a:blip r:embed="rId2"/>
          <a:stretch>
            <a:fillRect/>
          </a:stretch>
        </p:blipFill>
        <p:spPr>
          <a:xfrm>
            <a:off x="1298448" y="2201672"/>
            <a:ext cx="6361933" cy="3113023"/>
          </a:xfrm>
          <a:prstGeom prst="rect">
            <a:avLst/>
          </a:prstGeom>
        </p:spPr>
      </p:pic>
      <p:sp>
        <p:nvSpPr>
          <p:cNvPr id="12" name="TextBox 11"/>
          <p:cNvSpPr txBox="1"/>
          <p:nvPr/>
        </p:nvSpPr>
        <p:spPr>
          <a:xfrm>
            <a:off x="7934701" y="1737360"/>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TOP 3 AND BOTTOM 3</a:t>
            </a:r>
          </a:p>
        </p:txBody>
      </p:sp>
      <p:graphicFrame>
        <p:nvGraphicFramePr>
          <p:cNvPr id="13" name="Table 12"/>
          <p:cNvGraphicFramePr>
            <a:graphicFrameLocks noGrp="1"/>
          </p:cNvGraphicFramePr>
          <p:nvPr/>
        </p:nvGraphicFramePr>
        <p:xfrm>
          <a:off x="7934701" y="2084831"/>
          <a:ext cx="3708353" cy="2048256"/>
        </p:xfrm>
        <a:graphic>
          <a:graphicData uri="http://schemas.openxmlformats.org/drawingml/2006/table">
            <a:tbl>
              <a:tblPr>
                <a:tableStyleId>{5C22544A-7EE6-4342-B048-85BDC9FD1C3A}</a:tableStyleId>
              </a:tblPr>
              <a:tblGrid>
                <a:gridCol w="1112506"/>
                <a:gridCol w="1112506"/>
                <a:gridCol w="1483341"/>
              </a:tblGrid>
              <a:tr h="292608">
                <a:tc>
                  <a:txBody>
                    <a:bodyPr wrap="square"/>
                    <a:lstStyle/>
                    <a:p>
                      <a:pPr algn="l"/>
                      <a:r>
                        <a:rPr sz="900" b="1" spc="130">
                          <a:solidFill>
                            <a:srgbClr val="4A443C"/>
                          </a:solidFill>
                          <a:latin typeface="Corbel"/>
                        </a:rPr>
                        <a:t/>
                      </a:r>
                    </a:p>
                  </a:txBody>
                  <a:tcPr marL="18288" marR="91440" marT="27432" marB="27432" anchor="ctr">
                    <a:noFill/>
                    <a:lnB w="6350" cap="flat">
                      <a:solidFill>
                        <a:srgbClr val="16130F"/>
                      </a:solidFill>
                    </a:lnB>
                  </a:tcPr>
                </a:tc>
                <a:tc>
                  <a:txBody>
                    <a:bodyPr wrap="square"/>
                    <a:lstStyle/>
                    <a:p>
                      <a:pPr algn="r"/>
                      <a:r>
                        <a:rPr sz="900" b="1" spc="130">
                          <a:solidFill>
                            <a:srgbClr val="4A443C"/>
                          </a:solidFill>
                          <a:latin typeface="Corbel"/>
                        </a:rPr>
                        <a:t>CONTRIB.</a:t>
                      </a:r>
                    </a:p>
                  </a:txBody>
                  <a:tcPr marL="91440" marR="91440" marT="27432" marB="27432" anchor="ctr">
                    <a:noFill/>
                    <a:lnB w="6350" cap="flat">
                      <a:solidFill>
                        <a:srgbClr val="16130F"/>
                      </a:solidFill>
                    </a:lnB>
                  </a:tcPr>
                </a:tc>
                <a:tc>
                  <a:txBody>
                    <a:bodyPr wrap="square"/>
                    <a:lstStyle/>
                    <a:p>
                      <a:pPr algn="r"/>
                      <a:r>
                        <a:rPr sz="900" b="1" spc="130">
                          <a:solidFill>
                            <a:srgbClr val="4A443C"/>
                          </a:solidFill>
                          <a:latin typeface="Corbel"/>
                        </a:rPr>
                        <a:t>TOTAL RETURN</a:t>
                      </a:r>
                    </a:p>
                  </a:txBody>
                  <a:tcPr marL="91440" marR="91440" marT="27432" marB="27432" anchor="ctr">
                    <a:noFill/>
                    <a:lnB w="6350" cap="flat">
                      <a:solidFill>
                        <a:srgbClr val="16130F"/>
                      </a:solidFill>
                    </a:lnB>
                  </a:tcPr>
                </a:tc>
              </a:tr>
              <a:tr h="292608">
                <a:tc>
                  <a:txBody>
                    <a:bodyPr wrap="square"/>
                    <a:lstStyle/>
                    <a:p>
                      <a:pPr algn="l"/>
                      <a:r>
                        <a:rPr sz="1050" b="1">
                          <a:solidFill>
                            <a:srgbClr val="16130F"/>
                          </a:solidFill>
                          <a:latin typeface="Corbel"/>
                        </a:rPr>
                        <a:t>MSFT</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41.9 pts</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319%</a:t>
                      </a:r>
                    </a:p>
                  </a:txBody>
                  <a:tcPr marL="91440" marR="91440" marT="27432" marB="27432" anchor="ctr">
                    <a:noFill/>
                    <a:lnT w="3175" cap="flat">
                      <a:solidFill>
                        <a:srgbClr val="E2DCCF"/>
                      </a:solidFill>
                    </a:lnT>
                  </a:tcPr>
                </a:tc>
              </a:tr>
              <a:tr h="292608">
                <a:tc>
                  <a:txBody>
                    <a:bodyPr wrap="square"/>
                    <a:lstStyle/>
                    <a:p>
                      <a:pPr algn="l"/>
                      <a:r>
                        <a:rPr sz="1050" b="1">
                          <a:solidFill>
                            <a:srgbClr val="16130F"/>
                          </a:solidFill>
                          <a:latin typeface="Corbel"/>
                        </a:rPr>
                        <a:t>GOOGL</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22.1 pts</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123%</a:t>
                      </a:r>
                    </a:p>
                  </a:txBody>
                  <a:tcPr marL="91440" marR="91440" marT="27432" marB="27432" anchor="ctr">
                    <a:noFill/>
                    <a:lnT w="3175" cap="flat">
                      <a:solidFill>
                        <a:srgbClr val="E2DCCF"/>
                      </a:solidFill>
                    </a:lnT>
                  </a:tcPr>
                </a:tc>
              </a:tr>
              <a:tr h="292608">
                <a:tc>
                  <a:txBody>
                    <a:bodyPr wrap="square"/>
                    <a:lstStyle/>
                    <a:p>
                      <a:pPr algn="l"/>
                      <a:r>
                        <a:rPr sz="1050" b="1">
                          <a:solidFill>
                            <a:srgbClr val="16130F"/>
                          </a:solidFill>
                          <a:latin typeface="Corbel"/>
                        </a:rPr>
                        <a:t>ALB</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20.8 pts</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172%</a:t>
                      </a:r>
                    </a:p>
                  </a:txBody>
                  <a:tcPr marL="91440" marR="91440" marT="27432" marB="27432" anchor="ctr">
                    <a:noFill/>
                    <a:lnT w="3175" cap="flat">
                      <a:solidFill>
                        <a:srgbClr val="E2DCCF"/>
                      </a:solidFill>
                    </a:lnT>
                  </a:tcPr>
                </a:tc>
              </a:tr>
              <a:tr h="292608">
                <a:tc>
                  <a:txBody>
                    <a:bodyPr wrap="square"/>
                    <a:lstStyle/>
                    <a:p>
                      <a:pPr algn="l"/>
                      <a:r>
                        <a:rPr sz="1050" b="1">
                          <a:solidFill>
                            <a:srgbClr val="16130F"/>
                          </a:solidFill>
                          <a:latin typeface="Corbel"/>
                        </a:rPr>
                        <a:t>EQIX</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10.5 pts</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105%</a:t>
                      </a:r>
                    </a:p>
                  </a:txBody>
                  <a:tcPr marL="91440" marR="91440" marT="27432" marB="27432" anchor="ctr">
                    <a:noFill/>
                    <a:lnT w="3175" cap="flat">
                      <a:solidFill>
                        <a:srgbClr val="E2DCCF"/>
                      </a:solidFill>
                    </a:lnT>
                  </a:tcPr>
                </a:tc>
              </a:tr>
              <a:tr h="292608">
                <a:tc>
                  <a:txBody>
                    <a:bodyPr wrap="square"/>
                    <a:lstStyle/>
                    <a:p>
                      <a:pPr algn="l"/>
                      <a:r>
                        <a:rPr sz="1050" b="1">
                          <a:solidFill>
                            <a:srgbClr val="16130F"/>
                          </a:solidFill>
                          <a:latin typeface="Corbel"/>
                        </a:rPr>
                        <a:t>AMZN</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10.3 pts</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124%</a:t>
                      </a:r>
                    </a:p>
                  </a:txBody>
                  <a:tcPr marL="91440" marR="91440" marT="27432" marB="27432" anchor="ctr">
                    <a:noFill/>
                    <a:lnT w="3175" cap="flat">
                      <a:solidFill>
                        <a:srgbClr val="E2DCCF"/>
                      </a:solidFill>
                    </a:lnT>
                  </a:tcPr>
                </a:tc>
              </a:tr>
              <a:tr h="292608">
                <a:tc>
                  <a:txBody>
                    <a:bodyPr wrap="square"/>
                    <a:lstStyle/>
                    <a:p>
                      <a:pPr algn="l"/>
                      <a:r>
                        <a:rPr sz="1050" b="1">
                          <a:solidFill>
                            <a:srgbClr val="16130F"/>
                          </a:solidFill>
                          <a:latin typeface="Corbel"/>
                        </a:rPr>
                        <a:t>ILMN</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1.8 pts</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58%</a:t>
                      </a:r>
                    </a:p>
                  </a:txBody>
                  <a:tcPr marL="91440" marR="91440" marT="27432" marB="27432" anchor="ctr">
                    <a:noFill/>
                    <a:lnT w="3175" cap="flat">
                      <a:solidFill>
                        <a:srgbClr val="E2DCCF"/>
                      </a:solidFill>
                    </a:lnT>
                  </a:tcPr>
                </a:tc>
              </a:tr>
            </a:tbl>
          </a:graphicData>
        </a:graphic>
      </p:graphicFrame>
      <p:sp>
        <p:nvSpPr>
          <p:cNvPr id="14" name="TextBox 13"/>
          <p:cNvSpPr txBox="1"/>
          <p:nvPr/>
        </p:nvSpPr>
        <p:spPr>
          <a:xfrm>
            <a:off x="7934701" y="4279392"/>
            <a:ext cx="3708354" cy="1463040"/>
          </a:xfrm>
          <a:prstGeom prst="rect">
            <a:avLst/>
          </a:prstGeom>
          <a:noFill/>
        </p:spPr>
        <p:txBody>
          <a:bodyPr wrap="square" lIns="0" rIns="0" tIns="0" bIns="0" anchor="t">
            <a:spAutoFit/>
          </a:bodyPr>
          <a:lstStyle/>
          <a:p>
            <a:pPr algn="l">
              <a:lnSpc>
                <a:spcPct val="128000"/>
              </a:lnSpc>
            </a:pPr>
            <a:r>
              <a:rPr sz="1150" b="0" i="0">
                <a:solidFill>
                  <a:srgbClr val="4A443C"/>
                </a:solidFill>
                <a:latin typeface="Corbel"/>
              </a:rPr>
              <a:t>Schlumberger is the instructive case. It lost 23.5% over six years, yet contributed a positive 13.2 points — because quarterly rebalancing kept buying it back to its 5% floor at successively lower prices, and it then returned +81% in 2022.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30</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Was it skill?</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WAS IT SKILL?</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94% of the value-add came from stock picking</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Brinson–Fachler attribution against an equal-weight benchmark of the eleven GICS sector ETFs</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31_attribution.png"/>
          <p:cNvPicPr>
            <a:picLocks noChangeAspect="1"/>
          </p:cNvPicPr>
          <p:nvPr/>
        </p:nvPicPr>
        <p:blipFill>
          <a:blip r:embed="rId2"/>
          <a:stretch>
            <a:fillRect/>
          </a:stretch>
        </p:blipFill>
        <p:spPr>
          <a:xfrm>
            <a:off x="1298448" y="2135618"/>
            <a:ext cx="6361933" cy="3153691"/>
          </a:xfrm>
          <a:prstGeom prst="rect">
            <a:avLst/>
          </a:prstGeom>
        </p:spPr>
      </p:pic>
      <p:sp>
        <p:nvSpPr>
          <p:cNvPr id="12" name="TextBox 11"/>
          <p:cNvSpPr txBox="1"/>
          <p:nvPr/>
        </p:nvSpPr>
        <p:spPr>
          <a:xfrm>
            <a:off x="7934701" y="175564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DECOMPOSITION</a:t>
            </a:r>
          </a:p>
        </p:txBody>
      </p:sp>
      <p:sp>
        <p:nvSpPr>
          <p:cNvPr id="13" name="TextBox 12"/>
          <p:cNvSpPr txBox="1"/>
          <p:nvPr/>
        </p:nvSpPr>
        <p:spPr>
          <a:xfrm>
            <a:off x="7934701" y="2066543"/>
            <a:ext cx="3708354" cy="519684"/>
          </a:xfrm>
          <a:prstGeom prst="rect">
            <a:avLst/>
          </a:prstGeom>
          <a:noFill/>
        </p:spPr>
        <p:txBody>
          <a:bodyPr wrap="square" lIns="0" rIns="0" tIns="0" bIns="0">
            <a:spAutoFit/>
          </a:bodyPr>
          <a:lstStyle/>
          <a:p>
            <a:pPr>
              <a:lnSpc>
                <a:spcPct val="122000"/>
              </a:lnSpc>
            </a:pPr>
            <a:r>
              <a:rPr sz="1100" b="1">
                <a:solidFill>
                  <a:srgbClr val="0D3B38"/>
                </a:solidFill>
                <a:latin typeface="Corbel"/>
              </a:rPr>
              <a:t>Allocation +1.8 pts.  </a:t>
            </a:r>
            <a:r>
              <a:rPr sz="1100">
                <a:solidFill>
                  <a:srgbClr val="16130F"/>
                </a:solidFill>
                <a:latin typeface="Corbel"/>
              </a:rPr>
              <a:t>The sector tilts, overweight technology and underweight energy, contributed very little.</a:t>
            </a:r>
          </a:p>
        </p:txBody>
      </p:sp>
      <p:sp>
        <p:nvSpPr>
          <p:cNvPr id="14" name="TextBox 13"/>
          <p:cNvSpPr txBox="1"/>
          <p:nvPr/>
        </p:nvSpPr>
        <p:spPr>
          <a:xfrm>
            <a:off x="7934701" y="2732531"/>
            <a:ext cx="3708354" cy="519684"/>
          </a:xfrm>
          <a:prstGeom prst="rect">
            <a:avLst/>
          </a:prstGeom>
          <a:noFill/>
        </p:spPr>
        <p:txBody>
          <a:bodyPr wrap="square" lIns="0" rIns="0" tIns="0" bIns="0">
            <a:spAutoFit/>
          </a:bodyPr>
          <a:lstStyle/>
          <a:p>
            <a:pPr>
              <a:lnSpc>
                <a:spcPct val="122000"/>
              </a:lnSpc>
            </a:pPr>
            <a:r>
              <a:rPr sz="1100" b="1">
                <a:solidFill>
                  <a:srgbClr val="0D3B38"/>
                </a:solidFill>
                <a:latin typeface="Corbel"/>
              </a:rPr>
              <a:t>Selection +41.4 pts.  </a:t>
            </a:r>
            <a:r>
              <a:rPr sz="1100">
                <a:solidFill>
                  <a:srgbClr val="16130F"/>
                </a:solidFill>
                <a:latin typeface="Corbel"/>
              </a:rPr>
              <a:t>Almost all of the active return came from picking better stocks than the sector average.</a:t>
            </a:r>
          </a:p>
        </p:txBody>
      </p:sp>
      <p:sp>
        <p:nvSpPr>
          <p:cNvPr id="15" name="TextBox 14"/>
          <p:cNvSpPr txBox="1"/>
          <p:nvPr/>
        </p:nvSpPr>
        <p:spPr>
          <a:xfrm>
            <a:off x="7934701" y="3398519"/>
            <a:ext cx="3708354" cy="346456"/>
          </a:xfrm>
          <a:prstGeom prst="rect">
            <a:avLst/>
          </a:prstGeom>
          <a:noFill/>
        </p:spPr>
        <p:txBody>
          <a:bodyPr wrap="square" lIns="0" rIns="0" tIns="0" bIns="0">
            <a:spAutoFit/>
          </a:bodyPr>
          <a:lstStyle/>
          <a:p>
            <a:pPr>
              <a:lnSpc>
                <a:spcPct val="122000"/>
              </a:lnSpc>
            </a:pPr>
            <a:r>
              <a:rPr sz="1100" b="1">
                <a:solidFill>
                  <a:srgbClr val="0D3B38"/>
                </a:solidFill>
                <a:latin typeface="Corbel"/>
              </a:rPr>
              <a:t>Interaction +1.0 pt.  </a:t>
            </a:r>
            <a:r>
              <a:rPr sz="1100">
                <a:solidFill>
                  <a:srgbClr val="16130F"/>
                </a:solidFill>
                <a:latin typeface="Corbel"/>
              </a:rPr>
              <a:t>The residual from being overweight where we also picked well.</a:t>
            </a:r>
          </a:p>
        </p:txBody>
      </p:sp>
      <p:sp>
        <p:nvSpPr>
          <p:cNvPr id="16" name="Rectangle 15"/>
          <p:cNvSpPr/>
          <p:nvPr/>
        </p:nvSpPr>
        <p:spPr>
          <a:xfrm>
            <a:off x="7934701" y="4037583"/>
            <a:ext cx="3708354" cy="1828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34701" y="4202175"/>
            <a:ext cx="3708354" cy="1828800"/>
          </a:xfrm>
          <a:prstGeom prst="rect">
            <a:avLst/>
          </a:prstGeom>
          <a:noFill/>
        </p:spPr>
        <p:txBody>
          <a:bodyPr wrap="square" lIns="0" rIns="0" tIns="0" bIns="0" anchor="t">
            <a:spAutoFit/>
          </a:bodyPr>
          <a:lstStyle/>
          <a:p>
            <a:pPr algn="l">
              <a:lnSpc>
                <a:spcPct val="130000"/>
              </a:lnSpc>
            </a:pPr>
            <a:r>
              <a:rPr sz="1100" b="0" i="0">
                <a:solidFill>
                  <a:srgbClr val="0D3B38"/>
                </a:solidFill>
                <a:latin typeface="Corbel"/>
              </a:rPr>
              <a:t>Why this matters for your decision: allocation skill is a macro call and is hard to repeat. Selection skill is a research process. That 94% of our value-add came from selection is the strongest argument that the result is repeatable.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31</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Was it skill?</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WAS IT SKILL?</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Would an optimiser have done better?</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A mean-variance model given three years of pre-launch data would have added 1.1% a year, by taking concentration risk we were not permitted to take</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27_variants.png"/>
          <p:cNvPicPr>
            <a:picLocks noChangeAspect="1"/>
          </p:cNvPicPr>
          <p:nvPr/>
        </p:nvPicPr>
        <p:blipFill>
          <a:blip r:embed="rId2"/>
          <a:stretch>
            <a:fillRect/>
          </a:stretch>
        </p:blipFill>
        <p:spPr>
          <a:xfrm>
            <a:off x="1298448" y="2195310"/>
            <a:ext cx="6361933" cy="3125747"/>
          </a:xfrm>
          <a:prstGeom prst="rect">
            <a:avLst/>
          </a:prstGeom>
        </p:spPr>
      </p:pic>
      <p:graphicFrame>
        <p:nvGraphicFramePr>
          <p:cNvPr id="12" name="Table 11"/>
          <p:cNvGraphicFramePr>
            <a:graphicFrameLocks noGrp="1"/>
          </p:cNvGraphicFramePr>
          <p:nvPr/>
        </p:nvGraphicFramePr>
        <p:xfrm>
          <a:off x="7934701" y="1755648"/>
          <a:ext cx="3708352" cy="1865376"/>
        </p:xfrm>
        <a:graphic>
          <a:graphicData uri="http://schemas.openxmlformats.org/drawingml/2006/table">
            <a:tbl>
              <a:tblPr>
                <a:tableStyleId>{5C22544A-7EE6-4342-B048-85BDC9FD1C3A}</a:tableStyleId>
              </a:tblPr>
              <a:tblGrid>
                <a:gridCol w="1928344"/>
                <a:gridCol w="890004"/>
                <a:gridCol w="890004"/>
              </a:tblGrid>
              <a:tr h="310896">
                <a:tc>
                  <a:txBody>
                    <a:bodyPr wrap="square"/>
                    <a:lstStyle/>
                    <a:p>
                      <a:pPr algn="l"/>
                      <a:r>
                        <a:rPr sz="900" b="1" spc="130">
                          <a:solidFill>
                            <a:srgbClr val="4A443C"/>
                          </a:solidFill>
                          <a:latin typeface="Corbel"/>
                        </a:rPr>
                        <a:t>CONSTRUCTION RULE</a:t>
                      </a:r>
                    </a:p>
                  </a:txBody>
                  <a:tcPr marL="18288" marR="91440" marT="27432" marB="27432" anchor="ctr">
                    <a:noFill/>
                    <a:lnB w="6350" cap="flat">
                      <a:solidFill>
                        <a:srgbClr val="16130F"/>
                      </a:solidFill>
                    </a:lnB>
                  </a:tcPr>
                </a:tc>
                <a:tc>
                  <a:txBody>
                    <a:bodyPr wrap="square"/>
                    <a:lstStyle/>
                    <a:p>
                      <a:pPr algn="r"/>
                      <a:r>
                        <a:rPr sz="900" b="1" spc="130">
                          <a:solidFill>
                            <a:srgbClr val="4A443C"/>
                          </a:solidFill>
                          <a:latin typeface="Corbel"/>
                        </a:rPr>
                        <a:t>CAGR</a:t>
                      </a:r>
                    </a:p>
                  </a:txBody>
                  <a:tcPr marL="91440" marR="91440" marT="27432" marB="27432" anchor="ctr">
                    <a:noFill/>
                    <a:lnB w="6350" cap="flat">
                      <a:solidFill>
                        <a:srgbClr val="16130F"/>
                      </a:solidFill>
                    </a:lnB>
                  </a:tcPr>
                </a:tc>
                <a:tc>
                  <a:txBody>
                    <a:bodyPr wrap="square"/>
                    <a:lstStyle/>
                    <a:p>
                      <a:pPr algn="r"/>
                      <a:r>
                        <a:rPr sz="900" b="1" spc="130">
                          <a:solidFill>
                            <a:srgbClr val="4A443C"/>
                          </a:solidFill>
                          <a:latin typeface="Corbel"/>
                        </a:rPr>
                        <a:t>SHARPE</a:t>
                      </a:r>
                    </a:p>
                  </a:txBody>
                  <a:tcPr marL="91440" marR="91440" marT="27432" marB="27432" anchor="ctr">
                    <a:noFill/>
                    <a:lnB w="6350" cap="flat">
                      <a:solidFill>
                        <a:srgbClr val="16130F"/>
                      </a:solidFill>
                    </a:lnB>
                  </a:tcPr>
                </a:tc>
              </a:tr>
              <a:tr h="310896">
                <a:tc>
                  <a:txBody>
                    <a:bodyPr wrap="square"/>
                    <a:lstStyle/>
                    <a:p>
                      <a:pPr algn="l"/>
                      <a:r>
                        <a:rPr sz="1050" b="1">
                          <a:solidFill>
                            <a:srgbClr val="16130F"/>
                          </a:solidFill>
                          <a:latin typeface="Corbel"/>
                        </a:rPr>
                        <a:t>NDIF as run</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18.7%</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0.94</a:t>
                      </a:r>
                    </a:p>
                  </a:txBody>
                  <a:tcPr marL="91440" marR="91440" marT="27432" marB="27432" anchor="ctr">
                    <a:noFill/>
                    <a:lnT w="3175" cap="flat">
                      <a:solidFill>
                        <a:srgbClr val="E2DCCF"/>
                      </a:solidFill>
                    </a:lnT>
                  </a:tcPr>
                </a:tc>
              </a:tr>
              <a:tr h="310896">
                <a:tc>
                  <a:txBody>
                    <a:bodyPr wrap="square"/>
                    <a:lstStyle/>
                    <a:p>
                      <a:pPr algn="l"/>
                      <a:r>
                        <a:rPr sz="1050" b="1">
                          <a:solidFill>
                            <a:srgbClr val="16130F"/>
                          </a:solidFill>
                          <a:latin typeface="Corbel"/>
                        </a:rPr>
                        <a:t>Mean–variance (2014–16 inputs)</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19.7%</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1.07</a:t>
                      </a:r>
                    </a:p>
                  </a:txBody>
                  <a:tcPr marL="91440" marR="91440" marT="27432" marB="27432" anchor="ctr">
                    <a:noFill/>
                    <a:lnT w="3175" cap="flat">
                      <a:solidFill>
                        <a:srgbClr val="E2DCCF"/>
                      </a:solidFill>
                    </a:lnT>
                  </a:tcPr>
                </a:tc>
              </a:tr>
              <a:tr h="310896">
                <a:tc>
                  <a:txBody>
                    <a:bodyPr wrap="square"/>
                    <a:lstStyle/>
                    <a:p>
                      <a:pPr algn="l"/>
                      <a:r>
                        <a:rPr sz="1050" b="1">
                          <a:solidFill>
                            <a:srgbClr val="16130F"/>
                          </a:solidFill>
                          <a:latin typeface="Corbel"/>
                        </a:rPr>
                        <a:t>Equal weight (1/N)</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18.0%</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0.90</a:t>
                      </a:r>
                    </a:p>
                  </a:txBody>
                  <a:tcPr marL="91440" marR="91440" marT="27432" marB="27432" anchor="ctr">
                    <a:noFill/>
                    <a:lnT w="3175" cap="flat">
                      <a:solidFill>
                        <a:srgbClr val="E2DCCF"/>
                      </a:solidFill>
                    </a:lnT>
                  </a:tcPr>
                </a:tc>
              </a:tr>
              <a:tr h="310896">
                <a:tc>
                  <a:txBody>
                    <a:bodyPr wrap="square"/>
                    <a:lstStyle/>
                    <a:p>
                      <a:pPr algn="l"/>
                      <a:r>
                        <a:rPr sz="1050" b="1">
                          <a:solidFill>
                            <a:srgbClr val="16130F"/>
                          </a:solidFill>
                          <a:latin typeface="Corbel"/>
                        </a:rPr>
                        <a:t>Buy &amp; hold</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17.3%</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0.88</a:t>
                      </a:r>
                    </a:p>
                  </a:txBody>
                  <a:tcPr marL="91440" marR="91440" marT="27432" marB="27432" anchor="ctr">
                    <a:noFill/>
                    <a:lnT w="3175" cap="flat">
                      <a:solidFill>
                        <a:srgbClr val="E2DCCF"/>
                      </a:solidFill>
                    </a:lnT>
                  </a:tcPr>
                </a:tc>
              </a:tr>
              <a:tr h="310896">
                <a:tc>
                  <a:txBody>
                    <a:bodyPr wrap="square"/>
                    <a:lstStyle/>
                    <a:p>
                      <a:pPr algn="l"/>
                      <a:r>
                        <a:rPr sz="1050" b="1">
                          <a:solidFill>
                            <a:srgbClr val="16130F"/>
                          </a:solidFill>
                          <a:latin typeface="Corbel"/>
                        </a:rPr>
                        <a:t>Perfect-foresight optimum</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22.8%</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1.32</a:t>
                      </a:r>
                    </a:p>
                  </a:txBody>
                  <a:tcPr marL="91440" marR="91440" marT="27432" marB="27432" anchor="ctr">
                    <a:noFill/>
                    <a:lnT w="3175" cap="flat">
                      <a:solidFill>
                        <a:srgbClr val="E2DCCF"/>
                      </a:solidFill>
                    </a:lnT>
                  </a:tcPr>
                </a:tc>
              </a:tr>
            </a:tbl>
          </a:graphicData>
        </a:graphic>
      </p:graphicFrame>
      <p:sp>
        <p:nvSpPr>
          <p:cNvPr id="13" name="TextBox 12"/>
          <p:cNvSpPr txBox="1"/>
          <p:nvPr/>
        </p:nvSpPr>
        <p:spPr>
          <a:xfrm>
            <a:off x="7934701" y="3803904"/>
            <a:ext cx="3708354" cy="2194560"/>
          </a:xfrm>
          <a:prstGeom prst="rect">
            <a:avLst/>
          </a:prstGeom>
          <a:noFill/>
        </p:spPr>
        <p:txBody>
          <a:bodyPr wrap="square" lIns="0" rIns="0" tIns="0" bIns="0" anchor="t">
            <a:spAutoFit/>
          </a:bodyPr>
          <a:lstStyle/>
          <a:p>
            <a:pPr algn="l">
              <a:lnSpc>
                <a:spcPct val="126000"/>
              </a:lnSpc>
            </a:pPr>
            <a:r>
              <a:rPr sz="1050" b="0" i="0">
                <a:solidFill>
                  <a:srgbClr val="4A443C"/>
                </a:solidFill>
                <a:latin typeface="Corbel"/>
              </a:rPr>
              <a:t>The optimiser's solution put 25% in Equinix and 25% in NextEra — breaching our 16% position cap — and zero in Alphabet, Visa, Albemarle and Schlumberger, breaching the 5% sector floor four times over. It bought a better backtest by discarding the mandate.</a:t>
            </a:r>
          </a:p>
          <a:p>
            <a:pPr algn="l">
              <a:lnSpc>
                <a:spcPct val="126000"/>
              </a:lnSpc>
            </a:pPr>
            <a:r>
              <a:rPr sz="1050" b="0" i="0">
                <a:solidFill>
                  <a:srgbClr val="4A443C"/>
                </a:solidFill>
                <a:latin typeface="Corbel"/>
              </a:rPr>
              <a:t/>
            </a:r>
          </a:p>
          <a:p>
            <a:pPr algn="l">
              <a:lnSpc>
                <a:spcPct val="126000"/>
              </a:lnSpc>
            </a:pPr>
            <a:r>
              <a:rPr sz="1050" b="0" i="0">
                <a:solidFill>
                  <a:srgbClr val="4A443C"/>
                </a:solidFill>
                <a:latin typeface="Corbel"/>
              </a:rPr>
              <a:t>Even with perfect foresight, the best achievable was 22.9% a year. We captured 82% of a result nobody could have known in advance.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32</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Was it skill?</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WAS IT SKILL?</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120% of the upside, 97% of the downside</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The asymmetry that produced the result: most of the market's gains, without most of its losses</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19_capture.png"/>
          <p:cNvPicPr>
            <a:picLocks noChangeAspect="1"/>
          </p:cNvPicPr>
          <p:nvPr/>
        </p:nvPicPr>
        <p:blipFill>
          <a:blip r:embed="rId2"/>
          <a:stretch>
            <a:fillRect/>
          </a:stretch>
        </p:blipFill>
        <p:spPr>
          <a:xfrm>
            <a:off x="1298448" y="2237698"/>
            <a:ext cx="6361933" cy="2949531"/>
          </a:xfrm>
          <a:prstGeom prst="rect">
            <a:avLst/>
          </a:prstGeom>
        </p:spPr>
      </p:pic>
      <p:sp>
        <p:nvSpPr>
          <p:cNvPr id="12" name="TextBox 11"/>
          <p:cNvSpPr txBox="1"/>
          <p:nvPr/>
        </p:nvSpPr>
        <p:spPr>
          <a:xfrm>
            <a:off x="7934701" y="175564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THE ASYMMETRY</a:t>
            </a:r>
          </a:p>
        </p:txBody>
      </p:sp>
      <p:sp>
        <p:nvSpPr>
          <p:cNvPr id="13" name="TextBox 12"/>
          <p:cNvSpPr txBox="1"/>
          <p:nvPr/>
        </p:nvSpPr>
        <p:spPr>
          <a:xfrm>
            <a:off x="7934701" y="2066543"/>
            <a:ext cx="3708354" cy="346456"/>
          </a:xfrm>
          <a:prstGeom prst="rect">
            <a:avLst/>
          </a:prstGeom>
          <a:noFill/>
        </p:spPr>
        <p:txBody>
          <a:bodyPr wrap="square" lIns="0" rIns="0" tIns="0" bIns="0">
            <a:spAutoFit/>
          </a:bodyPr>
          <a:lstStyle/>
          <a:p>
            <a:pPr>
              <a:lnSpc>
                <a:spcPct val="122000"/>
              </a:lnSpc>
            </a:pPr>
            <a:r>
              <a:rPr sz="1100" b="1">
                <a:solidFill>
                  <a:srgbClr val="0D3B38"/>
                </a:solidFill>
                <a:latin typeface="Corbel"/>
              </a:rPr>
              <a:t>Upside capture 120%.  </a:t>
            </a:r>
            <a:r>
              <a:rPr sz="1100">
                <a:solidFill>
                  <a:srgbClr val="16130F"/>
                </a:solidFill>
                <a:latin typeface="Corbel"/>
              </a:rPr>
              <a:t>In months the S&amp;P 500 rose, we rose 20% more than it did.</a:t>
            </a:r>
          </a:p>
        </p:txBody>
      </p:sp>
      <p:sp>
        <p:nvSpPr>
          <p:cNvPr id="14" name="TextBox 13"/>
          <p:cNvSpPr txBox="1"/>
          <p:nvPr/>
        </p:nvSpPr>
        <p:spPr>
          <a:xfrm>
            <a:off x="7934701" y="2559303"/>
            <a:ext cx="3708354" cy="346456"/>
          </a:xfrm>
          <a:prstGeom prst="rect">
            <a:avLst/>
          </a:prstGeom>
          <a:noFill/>
        </p:spPr>
        <p:txBody>
          <a:bodyPr wrap="square" lIns="0" rIns="0" tIns="0" bIns="0">
            <a:spAutoFit/>
          </a:bodyPr>
          <a:lstStyle/>
          <a:p>
            <a:pPr>
              <a:lnSpc>
                <a:spcPct val="122000"/>
              </a:lnSpc>
            </a:pPr>
            <a:r>
              <a:rPr sz="1100" b="1">
                <a:solidFill>
                  <a:srgbClr val="0D3B38"/>
                </a:solidFill>
                <a:latin typeface="Corbel"/>
              </a:rPr>
              <a:t>Downside capture 97%.  </a:t>
            </a:r>
            <a:r>
              <a:rPr sz="1100">
                <a:solidFill>
                  <a:srgbClr val="16130F"/>
                </a:solidFill>
                <a:latin typeface="Corbel"/>
              </a:rPr>
              <a:t>In months it fell, we fell slightly less.</a:t>
            </a:r>
          </a:p>
        </p:txBody>
      </p:sp>
      <p:sp>
        <p:nvSpPr>
          <p:cNvPr id="15" name="TextBox 14"/>
          <p:cNvSpPr txBox="1"/>
          <p:nvPr/>
        </p:nvSpPr>
        <p:spPr>
          <a:xfrm>
            <a:off x="7934701" y="3052063"/>
            <a:ext cx="3708354" cy="519684"/>
          </a:xfrm>
          <a:prstGeom prst="rect">
            <a:avLst/>
          </a:prstGeom>
          <a:noFill/>
        </p:spPr>
        <p:txBody>
          <a:bodyPr wrap="square" lIns="0" rIns="0" tIns="0" bIns="0">
            <a:spAutoFit/>
          </a:bodyPr>
          <a:lstStyle/>
          <a:p>
            <a:pPr>
              <a:lnSpc>
                <a:spcPct val="122000"/>
              </a:lnSpc>
            </a:pPr>
            <a:r>
              <a:rPr sz="1100" b="1">
                <a:solidFill>
                  <a:srgbClr val="0D3B38"/>
                </a:solidFill>
                <a:latin typeface="Corbel"/>
              </a:rPr>
              <a:t>The NASDAQ-100, by contrast,  </a:t>
            </a:r>
            <a:r>
              <a:rPr sz="1100">
                <a:solidFill>
                  <a:srgbClr val="16130F"/>
                </a:solidFill>
                <a:latin typeface="Corbel"/>
              </a:rPr>
              <a:t>captured 118% of the upside but 108% of the downside: more of the gains, and more of the losses.</a:t>
            </a:r>
          </a:p>
        </p:txBody>
      </p:sp>
      <p:sp>
        <p:nvSpPr>
          <p:cNvPr id="16" name="TextBox 15"/>
          <p:cNvSpPr txBox="1"/>
          <p:nvPr/>
        </p:nvSpPr>
        <p:spPr>
          <a:xfrm>
            <a:off x="7934701" y="3718051"/>
            <a:ext cx="3708354" cy="346456"/>
          </a:xfrm>
          <a:prstGeom prst="rect">
            <a:avLst/>
          </a:prstGeom>
          <a:noFill/>
        </p:spPr>
        <p:txBody>
          <a:bodyPr wrap="square" lIns="0" rIns="0" tIns="0" bIns="0">
            <a:spAutoFit/>
          </a:bodyPr>
          <a:lstStyle/>
          <a:p>
            <a:pPr>
              <a:lnSpc>
                <a:spcPct val="122000"/>
              </a:lnSpc>
            </a:pPr>
            <a:r>
              <a:rPr sz="1100" b="1">
                <a:solidFill>
                  <a:srgbClr val="0D3B38"/>
                </a:solidFill>
                <a:latin typeface="Corbel"/>
              </a:rPr>
              <a:t>50 positive months of 72.  </a:t>
            </a:r>
            <a:r>
              <a:rPr sz="1100">
                <a:solidFill>
                  <a:srgbClr val="16130F"/>
                </a:solidFill>
                <a:latin typeface="Corbel"/>
              </a:rPr>
              <a:t>A 69.4% hit rate against 65.3% for the NASDAQ-100.</a:t>
            </a:r>
          </a:p>
        </p:txBody>
      </p:sp>
      <p:sp>
        <p:nvSpPr>
          <p:cNvPr id="17" name="Rectangle 16"/>
          <p:cNvSpPr/>
          <p:nvPr/>
        </p:nvSpPr>
        <p:spPr>
          <a:xfrm>
            <a:off x="7934701" y="4357115"/>
            <a:ext cx="3708354" cy="1828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34701" y="4521707"/>
            <a:ext cx="3708354" cy="1463040"/>
          </a:xfrm>
          <a:prstGeom prst="rect">
            <a:avLst/>
          </a:prstGeom>
          <a:noFill/>
        </p:spPr>
        <p:txBody>
          <a:bodyPr wrap="square" lIns="0" rIns="0" tIns="0" bIns="0" anchor="t">
            <a:spAutoFit/>
          </a:bodyPr>
          <a:lstStyle/>
          <a:p>
            <a:pPr algn="l">
              <a:lnSpc>
                <a:spcPct val="130000"/>
              </a:lnSpc>
            </a:pPr>
            <a:r>
              <a:rPr sz="1100" b="1" i="0">
                <a:solidFill>
                  <a:srgbClr val="0D3B38"/>
                </a:solidFill>
                <a:latin typeface="Corbel"/>
              </a:rPr>
              <a:t>Those two numbers, 120 up and 97 down, are the compact statement of what the fund did. Everything else in this deck elaborates on them.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D3B38"/>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371600"/>
            <a:ext cx="3840480" cy="2377440"/>
          </a:xfrm>
          <a:prstGeom prst="rect">
            <a:avLst/>
          </a:prstGeom>
          <a:noFill/>
        </p:spPr>
        <p:txBody>
          <a:bodyPr wrap="square" lIns="0" rIns="0" tIns="0" bIns="0" anchor="t">
            <a:spAutoFit/>
          </a:bodyPr>
          <a:lstStyle/>
          <a:p>
            <a:pPr algn="l">
              <a:lnSpc>
                <a:spcPct val="105000"/>
              </a:lnSpc>
            </a:pPr>
            <a:r>
              <a:rPr sz="13200" b="0" i="0">
                <a:solidFill>
                  <a:srgbClr val="144E4A"/>
                </a:solidFill>
                <a:latin typeface="Georgia"/>
              </a:rPr>
              <a:t>06</a:t>
            </a:r>
          </a:p>
        </p:txBody>
      </p:sp>
      <p:sp>
        <p:nvSpPr>
          <p:cNvPr id="4" name="Rectangle 3"/>
          <p:cNvSpPr/>
          <p:nvPr/>
        </p:nvSpPr>
        <p:spPr>
          <a:xfrm>
            <a:off x="1024128" y="3913632"/>
            <a:ext cx="1371600" cy="2743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4224528"/>
            <a:ext cx="8961120" cy="822960"/>
          </a:xfrm>
          <a:prstGeom prst="rect">
            <a:avLst/>
          </a:prstGeom>
          <a:noFill/>
        </p:spPr>
        <p:txBody>
          <a:bodyPr wrap="square" lIns="0" rIns="0" tIns="0" bIns="0" anchor="t">
            <a:spAutoFit/>
          </a:bodyPr>
          <a:lstStyle/>
          <a:p>
            <a:pPr algn="l">
              <a:lnSpc>
                <a:spcPct val="104000"/>
              </a:lnSpc>
            </a:pPr>
            <a:r>
              <a:rPr sz="3800" b="0" i="0">
                <a:solidFill>
                  <a:srgbClr val="F2ECDE"/>
                </a:solidFill>
                <a:latin typeface="Georgia"/>
              </a:rPr>
              <a:t>The verdict</a:t>
            </a:r>
          </a:p>
        </p:txBody>
      </p:sp>
      <p:sp>
        <p:nvSpPr>
          <p:cNvPr id="6" name="TextBox 5"/>
          <p:cNvSpPr txBox="1"/>
          <p:nvPr/>
        </p:nvSpPr>
        <p:spPr>
          <a:xfrm>
            <a:off x="1005840" y="5138928"/>
            <a:ext cx="7680960" cy="822960"/>
          </a:xfrm>
          <a:prstGeom prst="rect">
            <a:avLst/>
          </a:prstGeom>
          <a:noFill/>
        </p:spPr>
        <p:txBody>
          <a:bodyPr wrap="square" lIns="0" rIns="0" tIns="0" bIns="0" anchor="t">
            <a:spAutoFit/>
          </a:bodyPr>
          <a:lstStyle/>
          <a:p>
            <a:pPr algn="l">
              <a:lnSpc>
                <a:spcPct val="130000"/>
              </a:lnSpc>
            </a:pPr>
            <a:r>
              <a:rPr sz="1300" b="0" i="0">
                <a:solidFill>
                  <a:srgbClr val="A9BEB8"/>
                </a:solidFill>
                <a:latin typeface="Corbel"/>
              </a:rPr>
              <a:t>Marking the fund against the objective we set in 2016, the fees you paid, and our recommendation on what happens next</a:t>
            </a:r>
          </a:p>
        </p:txBody>
      </p:sp>
      <p:sp>
        <p:nvSpPr>
          <p:cNvPr id="7" name="TextBox 6"/>
          <p:cNvSpPr txBox="1"/>
          <p:nvPr/>
        </p:nvSpPr>
        <p:spPr>
          <a:xfrm>
            <a:off x="9174175" y="6053328"/>
            <a:ext cx="2468880" cy="274320"/>
          </a:xfrm>
          <a:prstGeom prst="rect">
            <a:avLst/>
          </a:prstGeom>
          <a:noFill/>
        </p:spPr>
        <p:txBody>
          <a:bodyPr wrap="square" lIns="0" rIns="0" tIns="0" bIns="0" anchor="t">
            <a:spAutoFit/>
          </a:bodyPr>
          <a:lstStyle/>
          <a:p>
            <a:pPr algn="r">
              <a:lnSpc>
                <a:spcPct val="105000"/>
              </a:lnSpc>
            </a:pPr>
            <a:r>
              <a:rPr sz="800" b="0" i="0" spc="220">
                <a:solidFill>
                  <a:srgbClr val="A9BEB8"/>
                </a:solidFill>
                <a:latin typeface="Corbel"/>
              </a:rPr>
              <a:t>NORTHPOINT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34</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The verdict</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THE VERDICT</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Marking ourselves against the 2016 objective</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Every commitment we made when we asked you for the mandate, scored against what we actually delivered</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graphicFrame>
        <p:nvGraphicFramePr>
          <p:cNvPr id="11" name="Table 10"/>
          <p:cNvGraphicFramePr>
            <a:graphicFrameLocks noGrp="1"/>
          </p:cNvGraphicFramePr>
          <p:nvPr/>
        </p:nvGraphicFramePr>
        <p:xfrm>
          <a:off x="1298448" y="1700784"/>
          <a:ext cx="10344605" cy="4224528"/>
        </p:xfrm>
        <a:graphic>
          <a:graphicData uri="http://schemas.openxmlformats.org/drawingml/2006/table">
            <a:tbl>
              <a:tblPr>
                <a:tableStyleId>{5C22544A-7EE6-4342-B048-85BDC9FD1C3A}</a:tableStyleId>
              </a:tblPr>
              <a:tblGrid>
                <a:gridCol w="3930950"/>
                <a:gridCol w="1448244"/>
                <a:gridCol w="3310274"/>
                <a:gridCol w="1655137"/>
              </a:tblGrid>
              <a:tr h="384048">
                <a:tc>
                  <a:txBody>
                    <a:bodyPr wrap="square"/>
                    <a:lstStyle/>
                    <a:p>
                      <a:pPr algn="l"/>
                      <a:r>
                        <a:rPr sz="900" b="1" spc="130">
                          <a:solidFill>
                            <a:srgbClr val="4A443C"/>
                          </a:solidFill>
                          <a:latin typeface="Corbel"/>
                        </a:rPr>
                        <a:t>WHAT WE COMMITTED TO IN JANUARY 2016</a:t>
                      </a:r>
                    </a:p>
                  </a:txBody>
                  <a:tcPr marL="18288" marR="91440" marT="27432" marB="27432" anchor="ctr">
                    <a:noFill/>
                    <a:lnB w="6350" cap="flat">
                      <a:solidFill>
                        <a:srgbClr val="16130F"/>
                      </a:solidFill>
                    </a:lnB>
                  </a:tcPr>
                </a:tc>
                <a:tc>
                  <a:txBody>
                    <a:bodyPr wrap="square"/>
                    <a:lstStyle/>
                    <a:p>
                      <a:pPr algn="ctr"/>
                      <a:r>
                        <a:rPr sz="900" b="1" spc="130">
                          <a:solidFill>
                            <a:srgbClr val="4A443C"/>
                          </a:solidFill>
                          <a:latin typeface="Corbel"/>
                        </a:rPr>
                        <a:t>TARGET</a:t>
                      </a:r>
                    </a:p>
                  </a:txBody>
                  <a:tcPr marL="91440" marR="91440" marT="27432" marB="27432" anchor="ctr">
                    <a:noFill/>
                    <a:lnB w="6350" cap="flat">
                      <a:solidFill>
                        <a:srgbClr val="16130F"/>
                      </a:solidFill>
                    </a:lnB>
                  </a:tcPr>
                </a:tc>
                <a:tc>
                  <a:txBody>
                    <a:bodyPr wrap="square"/>
                    <a:lstStyle/>
                    <a:p>
                      <a:pPr algn="l"/>
                      <a:r>
                        <a:rPr sz="900" b="1" spc="130">
                          <a:solidFill>
                            <a:srgbClr val="4A443C"/>
                          </a:solidFill>
                          <a:latin typeface="Corbel"/>
                        </a:rPr>
                        <a:t>DELIVERED</a:t>
                      </a:r>
                    </a:p>
                  </a:txBody>
                  <a:tcPr marL="91440" marR="91440" marT="27432" marB="27432" anchor="ctr">
                    <a:noFill/>
                    <a:lnB w="6350" cap="flat">
                      <a:solidFill>
                        <a:srgbClr val="16130F"/>
                      </a:solidFill>
                    </a:lnB>
                  </a:tcPr>
                </a:tc>
                <a:tc>
                  <a:txBody>
                    <a:bodyPr wrap="square"/>
                    <a:lstStyle/>
                    <a:p>
                      <a:pPr algn="l"/>
                      <a:r>
                        <a:rPr sz="900" b="1" spc="130">
                          <a:solidFill>
                            <a:srgbClr val="4A443C"/>
                          </a:solidFill>
                          <a:latin typeface="Corbel"/>
                        </a:rPr>
                        <a:t>VERDICT</a:t>
                      </a:r>
                    </a:p>
                  </a:txBody>
                  <a:tcPr marL="91440" marR="91440" marT="27432" marB="27432" anchor="ctr">
                    <a:noFill/>
                    <a:lnB w="6350" cap="flat">
                      <a:solidFill>
                        <a:srgbClr val="16130F"/>
                      </a:solidFill>
                    </a:lnB>
                  </a:tcPr>
                </a:tc>
              </a:tr>
              <a:tr h="384048">
                <a:tc>
                  <a:txBody>
                    <a:bodyPr wrap="square"/>
                    <a:lstStyle/>
                    <a:p>
                      <a:pPr algn="l"/>
                      <a:r>
                        <a:rPr sz="1050" b="1">
                          <a:solidFill>
                            <a:srgbClr val="16130F"/>
                          </a:solidFill>
                          <a:latin typeface="Corbel"/>
                        </a:rPr>
                        <a:t>Net annualised return</a:t>
                      </a:r>
                    </a:p>
                  </a:txBody>
                  <a:tcPr marL="18288" marR="91440" marT="27432" marB="27432" anchor="ctr">
                    <a:noFill/>
                    <a:lnT w="3175" cap="flat">
                      <a:solidFill>
                        <a:srgbClr val="E2DCCF"/>
                      </a:solidFill>
                    </a:lnT>
                  </a:tcPr>
                </a:tc>
                <a:tc>
                  <a:txBody>
                    <a:bodyPr wrap="square"/>
                    <a:lstStyle/>
                    <a:p>
                      <a:pPr algn="ctr"/>
                      <a:r>
                        <a:rPr sz="1050" b="0">
                          <a:solidFill>
                            <a:srgbClr val="16130F"/>
                          </a:solidFill>
                          <a:latin typeface="Corbel"/>
                        </a:rPr>
                        <a:t>8–10% p.a.</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17.5% p.a. net of all fees</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Exceeded</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Cumulative net return over the fund life</a:t>
                      </a:r>
                    </a:p>
                  </a:txBody>
                  <a:tcPr marL="18288" marR="91440" marT="27432" marB="27432" anchor="ctr">
                    <a:noFill/>
                    <a:lnT w="3175" cap="flat">
                      <a:solidFill>
                        <a:srgbClr val="E2DCCF"/>
                      </a:solidFill>
                    </a:lnT>
                  </a:tcPr>
                </a:tc>
                <a:tc>
                  <a:txBody>
                    <a:bodyPr wrap="square"/>
                    <a:lstStyle/>
                    <a:p>
                      <a:pPr algn="ctr"/>
                      <a:r>
                        <a:rPr sz="1050" b="0">
                          <a:solidFill>
                            <a:srgbClr val="16130F"/>
                          </a:solidFill>
                          <a:latin typeface="Corbel"/>
                        </a:rPr>
                        <a:t>55–70%</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163% net</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Exceeded</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Outperform the S&amp;P 500</a:t>
                      </a:r>
                    </a:p>
                  </a:txBody>
                  <a:tcPr marL="18288" marR="91440" marT="27432" marB="27432" anchor="ctr">
                    <a:noFill/>
                    <a:lnT w="3175" cap="flat">
                      <a:solidFill>
                        <a:srgbClr val="E2DCCF"/>
                      </a:solidFill>
                    </a:lnT>
                  </a:tcPr>
                </a:tc>
                <a:tc>
                  <a:txBody>
                    <a:bodyPr wrap="square"/>
                    <a:lstStyle/>
                    <a:p>
                      <a:pPr algn="ctr"/>
                      <a:r>
                        <a:rPr sz="1050" b="0">
                          <a:solidFill>
                            <a:srgbClr val="16130F"/>
                          </a:solidFill>
                          <a:latin typeface="Corbel"/>
                        </a:rPr>
                        <a:t>~2% p.a. net</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+6.2% p.a. net</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Exceeded</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Outperform the NASDAQ-100 (primary benchmark)</a:t>
                      </a:r>
                    </a:p>
                  </a:txBody>
                  <a:tcPr marL="18288" marR="91440" marT="27432" marB="27432" anchor="ctr">
                    <a:noFill/>
                    <a:lnT w="3175" cap="flat">
                      <a:solidFill>
                        <a:srgbClr val="E2DCCF"/>
                      </a:solidFill>
                    </a:lnT>
                  </a:tcPr>
                </a:tc>
                <a:tc>
                  <a:txBody>
                    <a:bodyPr wrap="square"/>
                    <a:lstStyle/>
                    <a:p>
                      <a:pPr algn="ctr"/>
                      <a:r>
                        <a:rPr sz="1050" b="0">
                          <a:solidFill>
                            <a:srgbClr val="16130F"/>
                          </a:solidFill>
                          <a:latin typeface="Corbel"/>
                        </a:rPr>
                        <a:t>Beat it</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+3.4% p.a. gross</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Met</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Maintain all eleven GICS sectors, 5% floor</a:t>
                      </a:r>
                    </a:p>
                  </a:txBody>
                  <a:tcPr marL="18288" marR="91440" marT="27432" marB="27432" anchor="ctr">
                    <a:noFill/>
                    <a:lnT w="3175" cap="flat">
                      <a:solidFill>
                        <a:srgbClr val="E2DCCF"/>
                      </a:solidFill>
                    </a:lnT>
                  </a:tcPr>
                </a:tc>
                <a:tc>
                  <a:txBody>
                    <a:bodyPr wrap="square"/>
                    <a:lstStyle/>
                    <a:p>
                      <a:pPr algn="ctr"/>
                      <a:r>
                        <a:rPr sz="1050" b="0">
                          <a:solidFill>
                            <a:srgbClr val="16130F"/>
                          </a:solidFill>
                          <a:latin typeface="Corbel"/>
                        </a:rPr>
                        <a:t>No sector abandoned</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Held throughout, all 24 quarters</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Met</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Cap the largest position at 16%</a:t>
                      </a:r>
                    </a:p>
                  </a:txBody>
                  <a:tcPr marL="18288" marR="91440" marT="27432" marB="27432" anchor="ctr">
                    <a:noFill/>
                    <a:lnT w="3175" cap="flat">
                      <a:solidFill>
                        <a:srgbClr val="E2DCCF"/>
                      </a:solidFill>
                    </a:lnT>
                  </a:tcPr>
                </a:tc>
                <a:tc>
                  <a:txBody>
                    <a:bodyPr wrap="square"/>
                    <a:lstStyle/>
                    <a:p>
                      <a:pPr algn="ctr"/>
                      <a:r>
                        <a:rPr sz="1050" b="0">
                          <a:solidFill>
                            <a:srgbClr val="16130F"/>
                          </a:solidFill>
                          <a:latin typeface="Corbel"/>
                        </a:rPr>
                        <a:t>16% cap</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Held at every rebalance; MSFT drifted to a peak of 17.6% within a quarter</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Met</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Rebalance quarterly with a 5-point drift rule</a:t>
                      </a:r>
                    </a:p>
                  </a:txBody>
                  <a:tcPr marL="18288" marR="91440" marT="27432" marB="27432" anchor="ctr">
                    <a:noFill/>
                    <a:lnT w="3175" cap="flat">
                      <a:solidFill>
                        <a:srgbClr val="E2DCCF"/>
                      </a:solidFill>
                    </a:lnT>
                  </a:tcPr>
                </a:tc>
                <a:tc>
                  <a:txBody>
                    <a:bodyPr wrap="square"/>
                    <a:lstStyle/>
                    <a:p>
                      <a:pPr algn="ctr"/>
                      <a:r>
                        <a:rPr sz="1050" b="0">
                          <a:solidFill>
                            <a:srgbClr val="16130F"/>
                          </a:solidFill>
                          <a:latin typeface="Corbel"/>
                        </a:rPr>
                        <a:t>24 rebalances</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24 executed; drift never exceeded 2.9 pts, so the rule never fired</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Met</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Deliver a mid-life strategic review at end-2019</a:t>
                      </a:r>
                    </a:p>
                  </a:txBody>
                  <a:tcPr marL="18288" marR="91440" marT="27432" marB="27432" anchor="ctr">
                    <a:noFill/>
                    <a:lnT w="3175" cap="flat">
                      <a:solidFill>
                        <a:srgbClr val="E2DCCF"/>
                      </a:solidFill>
                    </a:lnT>
                  </a:tcPr>
                </a:tc>
                <a:tc>
                  <a:txBody>
                    <a:bodyPr wrap="square"/>
                    <a:lstStyle/>
                    <a:p>
                      <a:pPr algn="ctr"/>
                      <a:r>
                        <a:rPr sz="1050" b="0">
                          <a:solidFill>
                            <a:srgbClr val="16130F"/>
                          </a:solidFill>
                          <a:latin typeface="Corbel"/>
                        </a:rPr>
                        <a:t>Formal review</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Conducted; target weights reconfirmed</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Met</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Keep the drawdown below the theme benchmark's</a:t>
                      </a:r>
                    </a:p>
                  </a:txBody>
                  <a:tcPr marL="18288" marR="91440" marT="27432" marB="27432" anchor="ctr">
                    <a:noFill/>
                    <a:lnT w="3175" cap="flat">
                      <a:solidFill>
                        <a:srgbClr val="E2DCCF"/>
                      </a:solidFill>
                    </a:lnT>
                  </a:tcPr>
                </a:tc>
                <a:tc>
                  <a:txBody>
                    <a:bodyPr wrap="square"/>
                    <a:lstStyle/>
                    <a:p>
                      <a:pPr algn="ctr"/>
                      <a:r>
                        <a:rPr sz="1050" b="0">
                          <a:solidFill>
                            <a:srgbClr val="16130F"/>
                          </a:solidFill>
                          <a:latin typeface="Corbel"/>
                        </a:rPr>
                        <a:t>Beat NASDAQ-100</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−24.9% vs −32.6%</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Met</a:t>
                      </a:r>
                    </a:p>
                  </a:txBody>
                  <a:tcPr marL="91440" marR="91440" marT="27432" marB="27432" anchor="ctr">
                    <a:noFill/>
                    <a:lnT w="3175" cap="flat">
                      <a:solidFill>
                        <a:srgbClr val="E2DCCF"/>
                      </a:solidFill>
                    </a:lnT>
                  </a:tcPr>
                </a:tc>
              </a:tr>
              <a:tr h="384048">
                <a:tc>
                  <a:txBody>
                    <a:bodyPr wrap="square"/>
                    <a:lstStyle/>
                    <a:p>
                      <a:pPr algn="l"/>
                      <a:r>
                        <a:rPr sz="1050" b="1">
                          <a:solidFill>
                            <a:srgbClr val="16130F"/>
                          </a:solidFill>
                          <a:latin typeface="Corbel"/>
                        </a:rPr>
                        <a:t>Generate return the market cannot explain</a:t>
                      </a:r>
                    </a:p>
                  </a:txBody>
                  <a:tcPr marL="18288" marR="91440" marT="27432" marB="27432" anchor="ctr">
                    <a:noFill/>
                    <a:lnT w="3175" cap="flat">
                      <a:solidFill>
                        <a:srgbClr val="E2DCCF"/>
                      </a:solidFill>
                    </a:lnT>
                  </a:tcPr>
                </a:tc>
                <a:tc>
                  <a:txBody>
                    <a:bodyPr wrap="square"/>
                    <a:lstStyle/>
                    <a:p>
                      <a:pPr algn="ctr"/>
                      <a:r>
                        <a:rPr sz="1050" b="0">
                          <a:solidFill>
                            <a:srgbClr val="16130F"/>
                          </a:solidFill>
                          <a:latin typeface="Corbel"/>
                        </a:rPr>
                        <a:t>Positive alpha</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+6.6% p.a., t = 3.06, p = 0.002</a:t>
                      </a:r>
                    </a:p>
                  </a:txBody>
                  <a:tcPr marL="91440" marR="91440" marT="27432" marB="27432" anchor="ctr">
                    <a:noFill/>
                    <a:lnT w="3175" cap="flat">
                      <a:solidFill>
                        <a:srgbClr val="E2DCCF"/>
                      </a:solidFill>
                    </a:lnT>
                  </a:tcPr>
                </a:tc>
                <a:tc>
                  <a:txBody>
                    <a:bodyPr wrap="square"/>
                    <a:lstStyle/>
                    <a:p>
                      <a:pPr algn="l"/>
                      <a:r>
                        <a:rPr sz="1050" b="0">
                          <a:solidFill>
                            <a:srgbClr val="16130F"/>
                          </a:solidFill>
                          <a:latin typeface="Corbel"/>
                        </a:rPr>
                        <a:t>Exceeded</a:t>
                      </a:r>
                    </a:p>
                  </a:txBody>
                  <a:tcPr marL="91440" marR="91440" marT="27432" marB="27432" anchor="ctr">
                    <a:noFill/>
                    <a:lnT w="3175" cap="flat">
                      <a:solidFill>
                        <a:srgbClr val="E2DCCF"/>
                      </a:solidFill>
                    </a:lnT>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35</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The verdict</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THE VERDICT</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Gross to net: what you actually kept</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0.90% management fee plus 10% of the excess over the NASDAQ-100 hurdle, subject to the high-water mark</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33_fees.png"/>
          <p:cNvPicPr>
            <a:picLocks noChangeAspect="1"/>
          </p:cNvPicPr>
          <p:nvPr/>
        </p:nvPicPr>
        <p:blipFill>
          <a:blip r:embed="rId2"/>
          <a:stretch>
            <a:fillRect/>
          </a:stretch>
        </p:blipFill>
        <p:spPr>
          <a:xfrm>
            <a:off x="1298448" y="2201795"/>
            <a:ext cx="6361933" cy="3112778"/>
          </a:xfrm>
          <a:prstGeom prst="rect">
            <a:avLst/>
          </a:prstGeom>
        </p:spPr>
      </p:pic>
      <p:graphicFrame>
        <p:nvGraphicFramePr>
          <p:cNvPr id="12" name="Table 11"/>
          <p:cNvGraphicFramePr>
            <a:graphicFrameLocks noGrp="1"/>
          </p:cNvGraphicFramePr>
          <p:nvPr/>
        </p:nvGraphicFramePr>
        <p:xfrm>
          <a:off x="7934701" y="1755648"/>
          <a:ext cx="3708352" cy="1554480"/>
        </p:xfrm>
        <a:graphic>
          <a:graphicData uri="http://schemas.openxmlformats.org/drawingml/2006/table">
            <a:tbl>
              <a:tblPr>
                <a:tableStyleId>{5C22544A-7EE6-4342-B048-85BDC9FD1C3A}</a:tableStyleId>
              </a:tblPr>
              <a:tblGrid>
                <a:gridCol w="1705842"/>
                <a:gridCol w="1001255"/>
                <a:gridCol w="1001255"/>
              </a:tblGrid>
              <a:tr h="310896">
                <a:tc>
                  <a:txBody>
                    <a:bodyPr wrap="square"/>
                    <a:lstStyle/>
                    <a:p>
                      <a:pPr algn="l"/>
                      <a:r>
                        <a:rPr sz="950" b="1" spc="130">
                          <a:solidFill>
                            <a:srgbClr val="4A443C"/>
                          </a:solidFill>
                          <a:latin typeface="Corbel"/>
                        </a:rPr>
                        <a:t/>
                      </a:r>
                    </a:p>
                  </a:txBody>
                  <a:tcPr marL="18288" marR="91440" marT="27432" marB="27432" anchor="ctr">
                    <a:noFill/>
                    <a:lnB w="6350" cap="flat">
                      <a:solidFill>
                        <a:srgbClr val="16130F"/>
                      </a:solidFill>
                    </a:lnB>
                  </a:tcPr>
                </a:tc>
                <a:tc>
                  <a:txBody>
                    <a:bodyPr wrap="square"/>
                    <a:lstStyle/>
                    <a:p>
                      <a:pPr algn="r"/>
                      <a:r>
                        <a:rPr sz="950" b="1" spc="130">
                          <a:solidFill>
                            <a:srgbClr val="4A443C"/>
                          </a:solidFill>
                          <a:latin typeface="Corbel"/>
                        </a:rPr>
                        <a:t>P.A.</a:t>
                      </a:r>
                    </a:p>
                  </a:txBody>
                  <a:tcPr marL="91440" marR="91440" marT="27432" marB="27432" anchor="ctr">
                    <a:noFill/>
                    <a:lnB w="6350" cap="flat">
                      <a:solidFill>
                        <a:srgbClr val="16130F"/>
                      </a:solidFill>
                    </a:lnB>
                  </a:tcPr>
                </a:tc>
                <a:tc>
                  <a:txBody>
                    <a:bodyPr wrap="square"/>
                    <a:lstStyle/>
                    <a:p>
                      <a:pPr algn="r"/>
                      <a:r>
                        <a:rPr sz="950" b="1" spc="130">
                          <a:solidFill>
                            <a:srgbClr val="4A443C"/>
                          </a:solidFill>
                          <a:latin typeface="Corbel"/>
                        </a:rPr>
                        <a:t>OVER SIX YEARS</a:t>
                      </a:r>
                    </a:p>
                  </a:txBody>
                  <a:tcPr marL="91440" marR="91440" marT="27432" marB="27432" anchor="ctr">
                    <a:noFill/>
                    <a:lnB w="6350" cap="flat">
                      <a:solidFill>
                        <a:srgbClr val="16130F"/>
                      </a:solidFill>
                    </a:lnB>
                  </a:tcPr>
                </a:tc>
              </a:tr>
              <a:tr h="310896">
                <a:tc>
                  <a:txBody>
                    <a:bodyPr wrap="square"/>
                    <a:lstStyle/>
                    <a:p>
                      <a:pPr algn="l"/>
                      <a:r>
                        <a:rPr sz="1100" b="1">
                          <a:solidFill>
                            <a:srgbClr val="16130F"/>
                          </a:solidFill>
                          <a:latin typeface="Corbel"/>
                        </a:rPr>
                        <a:t>Gross return</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18.7%</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179%</a:t>
                      </a:r>
                    </a:p>
                  </a:txBody>
                  <a:tcPr marL="91440" marR="91440" marT="27432" marB="27432" anchor="ctr">
                    <a:noFill/>
                    <a:lnT w="3175" cap="flat">
                      <a:solidFill>
                        <a:srgbClr val="E2DCCF"/>
                      </a:solidFill>
                    </a:lnT>
                  </a:tcPr>
                </a:tc>
              </a:tr>
              <a:tr h="310896">
                <a:tc>
                  <a:txBody>
                    <a:bodyPr wrap="square"/>
                    <a:lstStyle/>
                    <a:p>
                      <a:pPr algn="l"/>
                      <a:r>
                        <a:rPr sz="1100" b="1">
                          <a:solidFill>
                            <a:srgbClr val="16130F"/>
                          </a:solidFill>
                          <a:latin typeface="Corbel"/>
                        </a:rPr>
                        <a:t>Management fee</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−0.90%</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−5.3%</a:t>
                      </a:r>
                    </a:p>
                  </a:txBody>
                  <a:tcPr marL="91440" marR="91440" marT="27432" marB="27432" anchor="ctr">
                    <a:noFill/>
                    <a:lnT w="3175" cap="flat">
                      <a:solidFill>
                        <a:srgbClr val="E2DCCF"/>
                      </a:solidFill>
                    </a:lnT>
                  </a:tcPr>
                </a:tc>
              </a:tr>
              <a:tr h="310896">
                <a:tc>
                  <a:txBody>
                    <a:bodyPr wrap="square"/>
                    <a:lstStyle/>
                    <a:p>
                      <a:pPr algn="l"/>
                      <a:r>
                        <a:rPr sz="1100" b="1">
                          <a:solidFill>
                            <a:srgbClr val="16130F"/>
                          </a:solidFill>
                          <a:latin typeface="Corbel"/>
                        </a:rPr>
                        <a:t>Performance fee</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−0.25%</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−1.5%</a:t>
                      </a:r>
                    </a:p>
                  </a:txBody>
                  <a:tcPr marL="91440" marR="91440" marT="27432" marB="27432" anchor="ctr">
                    <a:noFill/>
                    <a:lnT w="3175" cap="flat">
                      <a:solidFill>
                        <a:srgbClr val="E2DCCF"/>
                      </a:solidFill>
                    </a:lnT>
                  </a:tcPr>
                </a:tc>
              </a:tr>
              <a:tr h="310896">
                <a:tc>
                  <a:txBody>
                    <a:bodyPr wrap="square"/>
                    <a:lstStyle/>
                    <a:p>
                      <a:pPr algn="l"/>
                      <a:r>
                        <a:rPr sz="1100" b="1">
                          <a:solidFill>
                            <a:srgbClr val="16130F"/>
                          </a:solidFill>
                          <a:latin typeface="Corbel"/>
                        </a:rPr>
                        <a:t>Net to investors</a:t>
                      </a:r>
                    </a:p>
                  </a:txBody>
                  <a:tcPr marL="18288" marR="91440" marT="27432" marB="27432" anchor="ctr">
                    <a:noFill/>
                    <a:lnT w="3175" cap="flat">
                      <a:solidFill>
                        <a:srgbClr val="E2DCCF"/>
                      </a:solidFill>
                    </a:lnT>
                  </a:tcPr>
                </a:tc>
                <a:tc>
                  <a:txBody>
                    <a:bodyPr wrap="square"/>
                    <a:lstStyle/>
                    <a:p>
                      <a:pPr algn="r"/>
                      <a:r>
                        <a:rPr sz="1100" b="0">
                          <a:solidFill>
                            <a:srgbClr val="16130F"/>
                          </a:solidFill>
                          <a:latin typeface="Corbel"/>
                        </a:rPr>
                        <a:t>17.51%</a:t>
                      </a:r>
                    </a:p>
                  </a:txBody>
                  <a:tcPr marL="91440" marR="91440" marT="27432" marB="27432" anchor="ctr">
                    <a:noFill/>
                    <a:lnT w="3175" cap="flat">
                      <a:solidFill>
                        <a:srgbClr val="E2DCCF"/>
                      </a:solidFill>
                    </a:lnT>
                  </a:tcPr>
                </a:tc>
                <a:tc>
                  <a:txBody>
                    <a:bodyPr wrap="square"/>
                    <a:lstStyle/>
                    <a:p>
                      <a:pPr algn="r"/>
                      <a:r>
                        <a:rPr sz="1100" b="0">
                          <a:solidFill>
                            <a:srgbClr val="16130F"/>
                          </a:solidFill>
                          <a:latin typeface="Corbel"/>
                        </a:rPr>
                        <a:t>163%</a:t>
                      </a:r>
                    </a:p>
                  </a:txBody>
                  <a:tcPr marL="91440" marR="91440" marT="27432" marB="27432" anchor="ctr">
                    <a:noFill/>
                    <a:lnT w="3175" cap="flat">
                      <a:solidFill>
                        <a:srgbClr val="E2DCCF"/>
                      </a:solidFill>
                    </a:lnT>
                  </a:tcPr>
                </a:tc>
              </a:tr>
            </a:tbl>
          </a:graphicData>
        </a:graphic>
      </p:graphicFrame>
      <p:sp>
        <p:nvSpPr>
          <p:cNvPr id="13" name="TextBox 12"/>
          <p:cNvSpPr txBox="1"/>
          <p:nvPr/>
        </p:nvSpPr>
        <p:spPr>
          <a:xfrm>
            <a:off x="7934701" y="3474720"/>
            <a:ext cx="3708354" cy="2468880"/>
          </a:xfrm>
          <a:prstGeom prst="rect">
            <a:avLst/>
          </a:prstGeom>
          <a:noFill/>
        </p:spPr>
        <p:txBody>
          <a:bodyPr wrap="square" lIns="0" rIns="0" tIns="0" bIns="0" anchor="t">
            <a:spAutoFit/>
          </a:bodyPr>
          <a:lstStyle/>
          <a:p>
            <a:pPr algn="l">
              <a:lnSpc>
                <a:spcPct val="128000"/>
              </a:lnSpc>
            </a:pPr>
            <a:r>
              <a:rPr sz="1100" b="0" i="0">
                <a:solidFill>
                  <a:srgbClr val="4A443C"/>
                </a:solidFill>
                <a:latin typeface="Corbel"/>
              </a:rPr>
              <a:t>Total fee load was 1.15% a year — 0.90% base plus 0.25% of performance fee, because the hurdle is the NASDAQ-100 rather than zero and we only cleared it by 2.5 points a year.</a:t>
            </a:r>
          </a:p>
          <a:p>
            <a:pPr algn="l">
              <a:lnSpc>
                <a:spcPct val="128000"/>
              </a:lnSpc>
            </a:pPr>
            <a:r>
              <a:rPr sz="1100" b="0" i="0">
                <a:solidFill>
                  <a:srgbClr val="4A443C"/>
                </a:solidFill>
                <a:latin typeface="Corbel"/>
              </a:rPr>
              <a:t/>
            </a:r>
          </a:p>
          <a:p>
            <a:pPr algn="l">
              <a:lnSpc>
                <a:spcPct val="128000"/>
              </a:lnSpc>
            </a:pPr>
            <a:r>
              <a:rPr sz="1100" b="0" i="0">
                <a:solidFill>
                  <a:srgbClr val="4A443C"/>
                </a:solidFill>
                <a:latin typeface="Corbel"/>
              </a:rPr>
              <a:t>A passive NASDAQ-100 ETF at 0.20% would have cost $5.7m less over the six years and returned $235m. We returned $279m, so investors kept $38.7m after paying for active management.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36</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The verdict</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THE VERDICT</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Our recommendation: the fund should continue</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With three changes to the mandate, which we would want your agreement on before raising the successor vehicle</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sp>
        <p:nvSpPr>
          <p:cNvPr id="11" name="Rectangle 10"/>
          <p:cNvSpPr/>
          <p:nvPr/>
        </p:nvSpPr>
        <p:spPr>
          <a:xfrm>
            <a:off x="1298448" y="1682496"/>
            <a:ext cx="5224026" cy="20116"/>
          </a:xfrm>
          <a:prstGeom prst="rect">
            <a:avLst/>
          </a:prstGeom>
          <a:solidFill>
            <a:srgbClr val="007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98448" y="1828800"/>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THE CASE FOR CONTINUING</a:t>
            </a:r>
          </a:p>
        </p:txBody>
      </p:sp>
      <p:sp>
        <p:nvSpPr>
          <p:cNvPr id="13" name="TextBox 12"/>
          <p:cNvSpPr txBox="1"/>
          <p:nvPr/>
        </p:nvSpPr>
        <p:spPr>
          <a:xfrm>
            <a:off x="1298448" y="2212848"/>
            <a:ext cx="5004570" cy="566928"/>
          </a:xfrm>
          <a:prstGeom prst="rect">
            <a:avLst/>
          </a:prstGeom>
          <a:noFill/>
        </p:spPr>
        <p:txBody>
          <a:bodyPr wrap="square" lIns="0" rIns="0" tIns="0" bIns="0">
            <a:spAutoFit/>
          </a:bodyPr>
          <a:lstStyle/>
          <a:p>
            <a:pPr>
              <a:lnSpc>
                <a:spcPct val="122000"/>
              </a:lnSpc>
            </a:pPr>
            <a:r>
              <a:rPr sz="1200" b="1">
                <a:solidFill>
                  <a:srgbClr val="0D3B38"/>
                </a:solidFill>
                <a:latin typeface="Corbel"/>
              </a:rPr>
              <a:t>The alpha is real and it is repeatable.  </a:t>
            </a:r>
            <a:r>
              <a:rPr sz="1200">
                <a:solidFill>
                  <a:srgbClr val="16130F"/>
                </a:solidFill>
                <a:latin typeface="Corbel"/>
              </a:rPr>
              <a:t>6.6% a year that five risk factors cannot explain, with 94% of it from security selection rather than sector timing.</a:t>
            </a:r>
          </a:p>
        </p:txBody>
      </p:sp>
      <p:sp>
        <p:nvSpPr>
          <p:cNvPr id="14" name="TextBox 13"/>
          <p:cNvSpPr txBox="1"/>
          <p:nvPr/>
        </p:nvSpPr>
        <p:spPr>
          <a:xfrm>
            <a:off x="1298448" y="2980944"/>
            <a:ext cx="5004570" cy="755904"/>
          </a:xfrm>
          <a:prstGeom prst="rect">
            <a:avLst/>
          </a:prstGeom>
          <a:noFill/>
        </p:spPr>
        <p:txBody>
          <a:bodyPr wrap="square" lIns="0" rIns="0" tIns="0" bIns="0">
            <a:spAutoFit/>
          </a:bodyPr>
          <a:lstStyle/>
          <a:p>
            <a:pPr>
              <a:lnSpc>
                <a:spcPct val="122000"/>
              </a:lnSpc>
            </a:pPr>
            <a:r>
              <a:rPr sz="1200" b="1">
                <a:solidFill>
                  <a:srgbClr val="0D3B38"/>
                </a:solidFill>
                <a:latin typeface="Corbel"/>
              </a:rPr>
              <a:t>The thesis is not exhausted.  </a:t>
            </a:r>
            <a:r>
              <a:rPr sz="1200">
                <a:solidFill>
                  <a:srgbClr val="16130F"/>
                </a:solidFill>
                <a:latin typeface="Corbel"/>
              </a:rPr>
              <a:t>Cloud is still a minority of enterprise IT spend; electrification and genomics are earlier still. The 2022 de-rating repriced the multiple, not the demand.</a:t>
            </a:r>
          </a:p>
        </p:txBody>
      </p:sp>
      <p:sp>
        <p:nvSpPr>
          <p:cNvPr id="15" name="TextBox 14"/>
          <p:cNvSpPr txBox="1"/>
          <p:nvPr/>
        </p:nvSpPr>
        <p:spPr>
          <a:xfrm>
            <a:off x="1298448" y="3938016"/>
            <a:ext cx="5004570" cy="566928"/>
          </a:xfrm>
          <a:prstGeom prst="rect">
            <a:avLst/>
          </a:prstGeom>
          <a:noFill/>
        </p:spPr>
        <p:txBody>
          <a:bodyPr wrap="square" lIns="0" rIns="0" tIns="0" bIns="0">
            <a:spAutoFit/>
          </a:bodyPr>
          <a:lstStyle/>
          <a:p>
            <a:pPr>
              <a:lnSpc>
                <a:spcPct val="122000"/>
              </a:lnSpc>
            </a:pPr>
            <a:r>
              <a:rPr sz="1200" b="1">
                <a:solidFill>
                  <a:srgbClr val="0D3B38"/>
                </a:solidFill>
                <a:latin typeface="Corbel"/>
              </a:rPr>
              <a:t>The construction discipline was tested and held.  </a:t>
            </a:r>
            <a:r>
              <a:rPr sz="1200">
                <a:solidFill>
                  <a:srgbClr val="16130F"/>
                </a:solidFill>
                <a:latin typeface="Corbel"/>
              </a:rPr>
              <a:t>Sector floors, the position cap and quarterly rebalancing were all worth measurable money — most visibly in 2022.</a:t>
            </a:r>
          </a:p>
        </p:txBody>
      </p:sp>
      <p:sp>
        <p:nvSpPr>
          <p:cNvPr id="16" name="Rectangle 15"/>
          <p:cNvSpPr/>
          <p:nvPr/>
        </p:nvSpPr>
        <p:spPr>
          <a:xfrm>
            <a:off x="6796794" y="1682496"/>
            <a:ext cx="4846261" cy="20116"/>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96794" y="1828800"/>
            <a:ext cx="8229600" cy="219456"/>
          </a:xfrm>
          <a:prstGeom prst="rect">
            <a:avLst/>
          </a:prstGeom>
          <a:noFill/>
        </p:spPr>
        <p:txBody>
          <a:bodyPr wrap="square" lIns="0" rIns="0" tIns="0" bIns="0" anchor="t">
            <a:spAutoFit/>
          </a:bodyPr>
          <a:lstStyle/>
          <a:p>
            <a:pPr algn="l">
              <a:lnSpc>
                <a:spcPct val="105000"/>
              </a:lnSpc>
            </a:pPr>
            <a:r>
              <a:rPr sz="950" b="1" i="0" spc="160">
                <a:solidFill>
                  <a:srgbClr val="C4551A"/>
                </a:solidFill>
                <a:latin typeface="Corbel"/>
              </a:rPr>
              <a:t>WHAT WE WOULD CHANGE</a:t>
            </a:r>
          </a:p>
        </p:txBody>
      </p:sp>
      <p:sp>
        <p:nvSpPr>
          <p:cNvPr id="18" name="TextBox 17"/>
          <p:cNvSpPr txBox="1"/>
          <p:nvPr/>
        </p:nvSpPr>
        <p:spPr>
          <a:xfrm>
            <a:off x="6796794" y="2212848"/>
            <a:ext cx="4626805" cy="755904"/>
          </a:xfrm>
          <a:prstGeom prst="rect">
            <a:avLst/>
          </a:prstGeom>
          <a:noFill/>
        </p:spPr>
        <p:txBody>
          <a:bodyPr wrap="square" lIns="0" rIns="0" tIns="0" bIns="0">
            <a:spAutoFit/>
          </a:bodyPr>
          <a:lstStyle/>
          <a:p>
            <a:pPr>
              <a:lnSpc>
                <a:spcPct val="122000"/>
              </a:lnSpc>
            </a:pPr>
            <a:r>
              <a:rPr sz="1200" b="1">
                <a:solidFill>
                  <a:srgbClr val="0D3B38"/>
                </a:solidFill>
                <a:latin typeface="Corbel"/>
              </a:rPr>
              <a:t>Widen the tail-scenario assumptions.  </a:t>
            </a:r>
            <a:r>
              <a:rPr sz="1200">
                <a:solidFill>
                  <a:srgbClr val="16130F"/>
                </a:solidFill>
                <a:latin typeface="Corbel"/>
              </a:rPr>
              <a:t>Our Scenario C assumed a 4% loss. The real one cost 22.5%. The framework identified the regime correctly and sized it badly.</a:t>
            </a:r>
          </a:p>
        </p:txBody>
      </p:sp>
      <p:sp>
        <p:nvSpPr>
          <p:cNvPr id="19" name="TextBox 18"/>
          <p:cNvSpPr txBox="1"/>
          <p:nvPr/>
        </p:nvSpPr>
        <p:spPr>
          <a:xfrm>
            <a:off x="6796794" y="3169920"/>
            <a:ext cx="4626805" cy="566928"/>
          </a:xfrm>
          <a:prstGeom prst="rect">
            <a:avLst/>
          </a:prstGeom>
          <a:noFill/>
        </p:spPr>
        <p:txBody>
          <a:bodyPr wrap="square" lIns="0" rIns="0" tIns="0" bIns="0">
            <a:spAutoFit/>
          </a:bodyPr>
          <a:lstStyle/>
          <a:p>
            <a:pPr>
              <a:lnSpc>
                <a:spcPct val="122000"/>
              </a:lnSpc>
            </a:pPr>
            <a:r>
              <a:rPr sz="1200" b="1">
                <a:solidFill>
                  <a:srgbClr val="0D3B38"/>
                </a:solidFill>
                <a:latin typeface="Corbel"/>
              </a:rPr>
              <a:t>Add a valuation discipline to the entry rule.  </a:t>
            </a:r>
            <a:r>
              <a:rPr sz="1200">
                <a:solidFill>
                  <a:srgbClr val="16130F"/>
                </a:solidFill>
                <a:latin typeface="Corbel"/>
              </a:rPr>
              <a:t>Illumina, our worst selection decision, was a correct thesis bought without a price constraint.</a:t>
            </a:r>
          </a:p>
        </p:txBody>
      </p:sp>
      <p:sp>
        <p:nvSpPr>
          <p:cNvPr id="20" name="TextBox 19"/>
          <p:cNvSpPr txBox="1"/>
          <p:nvPr/>
        </p:nvSpPr>
        <p:spPr>
          <a:xfrm>
            <a:off x="6796794" y="3938016"/>
            <a:ext cx="4626805" cy="755904"/>
          </a:xfrm>
          <a:prstGeom prst="rect">
            <a:avLst/>
          </a:prstGeom>
          <a:noFill/>
        </p:spPr>
        <p:txBody>
          <a:bodyPr wrap="square" lIns="0" rIns="0" tIns="0" bIns="0">
            <a:spAutoFit/>
          </a:bodyPr>
          <a:lstStyle/>
          <a:p>
            <a:pPr>
              <a:lnSpc>
                <a:spcPct val="122000"/>
              </a:lnSpc>
            </a:pPr>
            <a:r>
              <a:rPr sz="1200" b="1">
                <a:solidFill>
                  <a:srgbClr val="0D3B38"/>
                </a:solidFill>
                <a:latin typeface="Corbel"/>
              </a:rPr>
              <a:t>Review the position cap upward, carefully.  </a:t>
            </a:r>
            <a:r>
              <a:rPr sz="1200">
                <a:solidFill>
                  <a:srgbClr val="16130F"/>
                </a:solidFill>
                <a:latin typeface="Corbel"/>
              </a:rPr>
              <a:t>The 16% cap forced us to trim Microsoft, our single best decision, at 19 of the 24 rebalances. We would seek 20%, with the sector floors untouched.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D3B38"/>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1700784"/>
            <a:ext cx="6766560" cy="365760"/>
          </a:xfrm>
          <a:prstGeom prst="rect">
            <a:avLst/>
          </a:prstGeom>
          <a:noFill/>
        </p:spPr>
        <p:txBody>
          <a:bodyPr wrap="square" lIns="0" rIns="0" tIns="0" bIns="0" anchor="t">
            <a:spAutoFit/>
          </a:bodyPr>
          <a:lstStyle/>
          <a:p>
            <a:pPr algn="l">
              <a:lnSpc>
                <a:spcPct val="105000"/>
              </a:lnSpc>
            </a:pPr>
            <a:r>
              <a:rPr sz="1100" b="0" i="0" spc="300">
                <a:solidFill>
                  <a:srgbClr val="C4551A"/>
                </a:solidFill>
                <a:latin typeface="Corbel"/>
              </a:rPr>
              <a:t>NORTHPOINT</a:t>
            </a:r>
          </a:p>
        </p:txBody>
      </p:sp>
      <p:sp>
        <p:nvSpPr>
          <p:cNvPr id="4" name="TextBox 3"/>
          <p:cNvSpPr txBox="1"/>
          <p:nvPr/>
        </p:nvSpPr>
        <p:spPr>
          <a:xfrm>
            <a:off x="960120" y="2157984"/>
            <a:ext cx="8778240" cy="1005840"/>
          </a:xfrm>
          <a:prstGeom prst="rect">
            <a:avLst/>
          </a:prstGeom>
          <a:noFill/>
        </p:spPr>
        <p:txBody>
          <a:bodyPr wrap="square" lIns="0" rIns="0" tIns="0" bIns="0" anchor="t">
            <a:spAutoFit/>
          </a:bodyPr>
          <a:lstStyle/>
          <a:p>
            <a:pPr algn="l">
              <a:lnSpc>
                <a:spcPct val="105000"/>
              </a:lnSpc>
            </a:pPr>
            <a:r>
              <a:rPr sz="5200" b="0" i="0">
                <a:solidFill>
                  <a:srgbClr val="F2ECDE"/>
                </a:solidFill>
                <a:latin typeface="Georgia"/>
              </a:rPr>
              <a:t>Thank you.</a:t>
            </a:r>
          </a:p>
        </p:txBody>
      </p:sp>
      <p:sp>
        <p:nvSpPr>
          <p:cNvPr id="5" name="Rectangle 4"/>
          <p:cNvSpPr/>
          <p:nvPr/>
        </p:nvSpPr>
        <p:spPr>
          <a:xfrm>
            <a:off x="1024128" y="3310128"/>
            <a:ext cx="1371600" cy="2743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3639312"/>
            <a:ext cx="8778240" cy="1280160"/>
          </a:xfrm>
          <a:prstGeom prst="rect">
            <a:avLst/>
          </a:prstGeom>
          <a:noFill/>
        </p:spPr>
        <p:txBody>
          <a:bodyPr wrap="square" lIns="0" rIns="0" tIns="0" bIns="0" anchor="t">
            <a:spAutoFit/>
          </a:bodyPr>
          <a:lstStyle/>
          <a:p>
            <a:pPr algn="l">
              <a:lnSpc>
                <a:spcPct val="136000"/>
              </a:lnSpc>
            </a:pPr>
            <a:r>
              <a:rPr sz="1450" b="0" i="0">
                <a:solidFill>
                  <a:srgbClr val="A9BEB8"/>
                </a:solidFill>
                <a:latin typeface="Corbel"/>
              </a:rPr>
              <a:t>I am happy to take questions on any part of this review.</a:t>
            </a:r>
          </a:p>
          <a:p>
            <a:pPr algn="l">
              <a:lnSpc>
                <a:spcPct val="136000"/>
              </a:lnSpc>
            </a:pPr>
            <a:r>
              <a:rPr sz="1450" b="0" i="0">
                <a:solidFill>
                  <a:srgbClr val="A9BEB8"/>
                </a:solidFill>
                <a:latin typeface="Corbel"/>
              </a:rPr>
              <a:t>An appendix follows with the full methodology, the complete metric tables, the per-holding statistics, and the full factor-model output.</a:t>
            </a:r>
          </a:p>
        </p:txBody>
      </p:sp>
      <p:sp>
        <p:nvSpPr>
          <p:cNvPr id="7" name="TextBox 6"/>
          <p:cNvSpPr txBox="1"/>
          <p:nvPr/>
        </p:nvSpPr>
        <p:spPr>
          <a:xfrm>
            <a:off x="987552" y="5138928"/>
            <a:ext cx="8778240" cy="731520"/>
          </a:xfrm>
          <a:prstGeom prst="rect">
            <a:avLst/>
          </a:prstGeom>
          <a:noFill/>
        </p:spPr>
        <p:txBody>
          <a:bodyPr wrap="square" lIns="0" rIns="0" tIns="0" bIns="0" anchor="t">
            <a:spAutoFit/>
          </a:bodyPr>
          <a:lstStyle/>
          <a:p>
            <a:pPr algn="l">
              <a:lnSpc>
                <a:spcPct val="136000"/>
              </a:lnSpc>
            </a:pPr>
            <a:r>
              <a:rPr sz="1150" b="0" i="0">
                <a:solidFill>
                  <a:srgbClr val="7E9994"/>
                </a:solidFill>
                <a:latin typeface="Corbel"/>
              </a:rPr>
              <a:t>Callum O'Connor  ·  Portfolio Manager  ·  Northpoint Capital Partners</a:t>
            </a:r>
          </a:p>
          <a:p>
            <a:pPr algn="l">
              <a:lnSpc>
                <a:spcPct val="136000"/>
              </a:lnSpc>
            </a:pPr>
            <a:r>
              <a:rPr sz="1150" b="0" i="0">
                <a:solidFill>
                  <a:srgbClr val="7E9994"/>
                </a:solidFill>
                <a:latin typeface="Corbel"/>
              </a:rPr>
              <a:t>FINC13-303 Portfolio Analysis and Investments  ·  Student ID 14053836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D3B38"/>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371600"/>
            <a:ext cx="3840480" cy="2377440"/>
          </a:xfrm>
          <a:prstGeom prst="rect">
            <a:avLst/>
          </a:prstGeom>
          <a:noFill/>
        </p:spPr>
        <p:txBody>
          <a:bodyPr wrap="square" lIns="0" rIns="0" tIns="0" bIns="0" anchor="t">
            <a:spAutoFit/>
          </a:bodyPr>
          <a:lstStyle/>
          <a:p>
            <a:pPr algn="l">
              <a:lnSpc>
                <a:spcPct val="105000"/>
              </a:lnSpc>
            </a:pPr>
            <a:r>
              <a:rPr sz="13200" b="0" i="0">
                <a:solidFill>
                  <a:srgbClr val="144E4A"/>
                </a:solidFill>
                <a:latin typeface="Georgia"/>
              </a:rPr>
              <a:t>A</a:t>
            </a:r>
          </a:p>
        </p:txBody>
      </p:sp>
      <p:sp>
        <p:nvSpPr>
          <p:cNvPr id="4" name="Rectangle 3"/>
          <p:cNvSpPr/>
          <p:nvPr/>
        </p:nvSpPr>
        <p:spPr>
          <a:xfrm>
            <a:off x="1024128" y="3913632"/>
            <a:ext cx="1371600" cy="27432"/>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4224528"/>
            <a:ext cx="8961120" cy="822960"/>
          </a:xfrm>
          <a:prstGeom prst="rect">
            <a:avLst/>
          </a:prstGeom>
          <a:noFill/>
        </p:spPr>
        <p:txBody>
          <a:bodyPr wrap="square" lIns="0" rIns="0" tIns="0" bIns="0" anchor="t">
            <a:spAutoFit/>
          </a:bodyPr>
          <a:lstStyle/>
          <a:p>
            <a:pPr algn="l">
              <a:lnSpc>
                <a:spcPct val="104000"/>
              </a:lnSpc>
            </a:pPr>
            <a:r>
              <a:rPr sz="3800" b="0" i="0">
                <a:solidFill>
                  <a:srgbClr val="F2ECDE"/>
                </a:solidFill>
                <a:latin typeface="Georgia"/>
              </a:rPr>
              <a:t>Appendix</a:t>
            </a:r>
          </a:p>
        </p:txBody>
      </p:sp>
      <p:sp>
        <p:nvSpPr>
          <p:cNvPr id="6" name="TextBox 5"/>
          <p:cNvSpPr txBox="1"/>
          <p:nvPr/>
        </p:nvSpPr>
        <p:spPr>
          <a:xfrm>
            <a:off x="1005840" y="5138928"/>
            <a:ext cx="7680960" cy="822960"/>
          </a:xfrm>
          <a:prstGeom prst="rect">
            <a:avLst/>
          </a:prstGeom>
          <a:noFill/>
        </p:spPr>
        <p:txBody>
          <a:bodyPr wrap="square" lIns="0" rIns="0" tIns="0" bIns="0" anchor="t">
            <a:spAutoFit/>
          </a:bodyPr>
          <a:lstStyle/>
          <a:p>
            <a:pPr algn="l">
              <a:lnSpc>
                <a:spcPct val="130000"/>
              </a:lnSpc>
            </a:pPr>
            <a:r>
              <a:rPr sz="1300" b="0" i="0">
                <a:solidFill>
                  <a:srgbClr val="A9BEB8"/>
                </a:solidFill>
                <a:latin typeface="Corbel"/>
              </a:rPr>
              <a:t>Methodology and data sources, full metric tables, per-holding statistics, complete factor-model output, and supporting exhibits</a:t>
            </a:r>
          </a:p>
        </p:txBody>
      </p:sp>
      <p:sp>
        <p:nvSpPr>
          <p:cNvPr id="7" name="TextBox 6"/>
          <p:cNvSpPr txBox="1"/>
          <p:nvPr/>
        </p:nvSpPr>
        <p:spPr>
          <a:xfrm>
            <a:off x="9174175" y="6053328"/>
            <a:ext cx="2468880" cy="274320"/>
          </a:xfrm>
          <a:prstGeom prst="rect">
            <a:avLst/>
          </a:prstGeom>
          <a:noFill/>
        </p:spPr>
        <p:txBody>
          <a:bodyPr wrap="square" lIns="0" rIns="0" tIns="0" bIns="0" anchor="t">
            <a:spAutoFit/>
          </a:bodyPr>
          <a:lstStyle/>
          <a:p>
            <a:pPr algn="r">
              <a:lnSpc>
                <a:spcPct val="105000"/>
              </a:lnSpc>
            </a:pPr>
            <a:r>
              <a:rPr sz="800" b="0" i="0" spc="220">
                <a:solidFill>
                  <a:srgbClr val="A9BEB8"/>
                </a:solidFill>
                <a:latin typeface="Corbel"/>
              </a:rPr>
              <a:t>NORTHPOINT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39</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Appendix</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APPENDIX</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A1 · Methodology, data and assumptions</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Everything in this deck is reproducible from the accompanying Python analysis and Excel workbook</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graphicFrame>
        <p:nvGraphicFramePr>
          <p:cNvPr id="11" name="Table 10"/>
          <p:cNvGraphicFramePr>
            <a:graphicFrameLocks noGrp="1"/>
          </p:cNvGraphicFramePr>
          <p:nvPr/>
        </p:nvGraphicFramePr>
        <p:xfrm>
          <a:off x="1298448" y="1664208"/>
          <a:ext cx="10344606" cy="4279392"/>
        </p:xfrm>
        <a:graphic>
          <a:graphicData uri="http://schemas.openxmlformats.org/drawingml/2006/table">
            <a:tbl>
              <a:tblPr>
                <a:tableStyleId>{5C22544A-7EE6-4342-B048-85BDC9FD1C3A}</a:tableStyleId>
              </a:tblPr>
              <a:tblGrid>
                <a:gridCol w="2379259"/>
                <a:gridCol w="7965347"/>
              </a:tblGrid>
              <a:tr h="329184">
                <a:tc>
                  <a:txBody>
                    <a:bodyPr wrap="square"/>
                    <a:lstStyle/>
                    <a:p>
                      <a:pPr algn="l"/>
                      <a:r>
                        <a:rPr sz="850" b="1" spc="130">
                          <a:solidFill>
                            <a:srgbClr val="4A443C"/>
                          </a:solidFill>
                          <a:latin typeface="Corbel"/>
                        </a:rPr>
                        <a:t>ITEM</a:t>
                      </a:r>
                    </a:p>
                  </a:txBody>
                  <a:tcPr marL="18288" marR="91440" marT="27432" marB="27432" anchor="ctr">
                    <a:noFill/>
                    <a:lnB w="6350" cap="flat">
                      <a:solidFill>
                        <a:srgbClr val="16130F"/>
                      </a:solidFill>
                    </a:lnB>
                  </a:tcPr>
                </a:tc>
                <a:tc>
                  <a:txBody>
                    <a:bodyPr wrap="square"/>
                    <a:lstStyle/>
                    <a:p>
                      <a:pPr algn="l"/>
                      <a:r>
                        <a:rPr sz="850" b="1" spc="130">
                          <a:solidFill>
                            <a:srgbClr val="4A443C"/>
                          </a:solidFill>
                          <a:latin typeface="Corbel"/>
                        </a:rPr>
                        <a:t>TREATMENT</a:t>
                      </a:r>
                    </a:p>
                  </a:txBody>
                  <a:tcPr marL="91440" marR="91440" marT="27432" marB="27432" anchor="ctr">
                    <a:noFill/>
                    <a:lnB w="6350" cap="flat">
                      <a:solidFill>
                        <a:srgbClr val="16130F"/>
                      </a:solidFill>
                    </a:lnB>
                  </a:tcPr>
                </a:tc>
              </a:tr>
              <a:tr h="329184">
                <a:tc>
                  <a:txBody>
                    <a:bodyPr wrap="square"/>
                    <a:lstStyle/>
                    <a:p>
                      <a:pPr algn="l"/>
                      <a:r>
                        <a:rPr sz="1000" b="0">
                          <a:solidFill>
                            <a:srgbClr val="16130F"/>
                          </a:solidFill>
                          <a:latin typeface="Corbel"/>
                        </a:rPr>
                        <a:t>Return data</a:t>
                      </a:r>
                    </a:p>
                  </a:txBody>
                  <a:tcPr marL="18288" marR="91440" marT="27432" marB="27432" anchor="ctr">
                    <a:noFill/>
                    <a:lnT w="3175" cap="flat">
                      <a:solidFill>
                        <a:srgbClr val="E2DCCF"/>
                      </a:solidFill>
                    </a:lnT>
                  </a:tcPr>
                </a:tc>
                <a:tc>
                  <a:txBody>
                    <a:bodyPr wrap="square"/>
                    <a:lstStyle/>
                    <a:p>
                      <a:pPr algn="l"/>
                      <a:r>
                        <a:rPr sz="1000" b="0">
                          <a:solidFill>
                            <a:srgbClr val="16130F"/>
                          </a:solidFill>
                          <a:latin typeface="Corbel"/>
                        </a:rPr>
                        <a:t>Monthly total returns from dividend- and split-adjusted closing prices, Jan 2017 – Dec 2022 (72 observations per series)</a:t>
                      </a:r>
                    </a:p>
                  </a:txBody>
                  <a:tcPr marL="91440" marR="91440" marT="27432" marB="27432" anchor="ctr">
                    <a:noFill/>
                    <a:lnT w="3175" cap="flat">
                      <a:solidFill>
                        <a:srgbClr val="E2DCCF"/>
                      </a:solidFill>
                    </a:lnT>
                  </a:tcPr>
                </a:tc>
              </a:tr>
              <a:tr h="329184">
                <a:tc>
                  <a:txBody>
                    <a:bodyPr wrap="square"/>
                    <a:lstStyle/>
                    <a:p>
                      <a:pPr algn="l"/>
                      <a:r>
                        <a:rPr sz="1000" b="0">
                          <a:solidFill>
                            <a:srgbClr val="16130F"/>
                          </a:solidFill>
                          <a:latin typeface="Corbel"/>
                        </a:rPr>
                        <a:t>Portfolio construction</a:t>
                      </a:r>
                    </a:p>
                  </a:txBody>
                  <a:tcPr marL="18288" marR="91440" marT="27432" marB="27432" anchor="ctr">
                    <a:noFill/>
                    <a:lnT w="3175" cap="flat">
                      <a:solidFill>
                        <a:srgbClr val="E2DCCF"/>
                      </a:solidFill>
                    </a:lnT>
                  </a:tcPr>
                </a:tc>
                <a:tc>
                  <a:txBody>
                    <a:bodyPr wrap="square"/>
                    <a:lstStyle/>
                    <a:p>
                      <a:pPr algn="l"/>
                      <a:r>
                        <a:rPr sz="1000" b="0">
                          <a:solidFill>
                            <a:srgbClr val="16130F"/>
                          </a:solidFill>
                          <a:latin typeface="Corbel"/>
                        </a:rPr>
                        <a:t>Target weights per the January-2016 mandate; drift within the quarter, restored to target at each calendar quarter-end (24 rebalances)</a:t>
                      </a:r>
                    </a:p>
                  </a:txBody>
                  <a:tcPr marL="91440" marR="91440" marT="27432" marB="27432" anchor="ctr">
                    <a:noFill/>
                    <a:lnT w="3175" cap="flat">
                      <a:solidFill>
                        <a:srgbClr val="E2DCCF"/>
                      </a:solidFill>
                    </a:lnT>
                  </a:tcPr>
                </a:tc>
              </a:tr>
              <a:tr h="329184">
                <a:tc>
                  <a:txBody>
                    <a:bodyPr wrap="square"/>
                    <a:lstStyle/>
                    <a:p>
                      <a:pPr algn="l"/>
                      <a:r>
                        <a:rPr sz="1000" b="0">
                          <a:solidFill>
                            <a:srgbClr val="16130F"/>
                          </a:solidFill>
                          <a:latin typeface="Corbel"/>
                        </a:rPr>
                        <a:t>Primary benchmark</a:t>
                      </a:r>
                    </a:p>
                  </a:txBody>
                  <a:tcPr marL="18288" marR="91440" marT="27432" marB="27432" anchor="ctr">
                    <a:noFill/>
                    <a:lnT w="3175" cap="flat">
                      <a:solidFill>
                        <a:srgbClr val="E2DCCF"/>
                      </a:solidFill>
                    </a:lnT>
                  </a:tcPr>
                </a:tc>
                <a:tc>
                  <a:txBody>
                    <a:bodyPr wrap="square"/>
                    <a:lstStyle/>
                    <a:p>
                      <a:pPr algn="l"/>
                      <a:r>
                        <a:rPr sz="1000" b="0">
                          <a:solidFill>
                            <a:srgbClr val="16130F"/>
                          </a:solidFill>
                          <a:latin typeface="Corbel"/>
                        </a:rPr>
                        <a:t>NASDAQ-100 total return, proxied by the QQQ ETF so that dividends are included (the ^NDX index itself is price-only)</a:t>
                      </a:r>
                    </a:p>
                  </a:txBody>
                  <a:tcPr marL="91440" marR="91440" marT="27432" marB="27432" anchor="ctr">
                    <a:noFill/>
                    <a:lnT w="3175" cap="flat">
                      <a:solidFill>
                        <a:srgbClr val="E2DCCF"/>
                      </a:solidFill>
                    </a:lnT>
                  </a:tcPr>
                </a:tc>
              </a:tr>
              <a:tr h="329184">
                <a:tc>
                  <a:txBody>
                    <a:bodyPr wrap="square"/>
                    <a:lstStyle/>
                    <a:p>
                      <a:pPr algn="l"/>
                      <a:r>
                        <a:rPr sz="1000" b="0">
                          <a:solidFill>
                            <a:srgbClr val="16130F"/>
                          </a:solidFill>
                          <a:latin typeface="Corbel"/>
                        </a:rPr>
                        <a:t>Secondary benchmark</a:t>
                      </a:r>
                    </a:p>
                  </a:txBody>
                  <a:tcPr marL="18288" marR="91440" marT="27432" marB="27432" anchor="ctr">
                    <a:noFill/>
                    <a:lnT w="3175" cap="flat">
                      <a:solidFill>
                        <a:srgbClr val="E2DCCF"/>
                      </a:solidFill>
                    </a:lnT>
                  </a:tcPr>
                </a:tc>
                <a:tc>
                  <a:txBody>
                    <a:bodyPr wrap="square"/>
                    <a:lstStyle/>
                    <a:p>
                      <a:pPr algn="l"/>
                      <a:r>
                        <a:rPr sz="1000" b="0">
                          <a:solidFill>
                            <a:srgbClr val="16130F"/>
                          </a:solidFill>
                          <a:latin typeface="Corbel"/>
                        </a:rPr>
                        <a:t>S&amp;P 500 total return, proxied by the SPY ETF on the same basis</a:t>
                      </a:r>
                    </a:p>
                  </a:txBody>
                  <a:tcPr marL="91440" marR="91440" marT="27432" marB="27432" anchor="ctr">
                    <a:noFill/>
                    <a:lnT w="3175" cap="flat">
                      <a:solidFill>
                        <a:srgbClr val="E2DCCF"/>
                      </a:solidFill>
                    </a:lnT>
                  </a:tcPr>
                </a:tc>
              </a:tr>
              <a:tr h="329184">
                <a:tc>
                  <a:txBody>
                    <a:bodyPr wrap="square"/>
                    <a:lstStyle/>
                    <a:p>
                      <a:pPr algn="l"/>
                      <a:r>
                        <a:rPr sz="1000" b="0">
                          <a:solidFill>
                            <a:srgbClr val="16130F"/>
                          </a:solidFill>
                          <a:latin typeface="Corbel"/>
                        </a:rPr>
                        <a:t>Sector benchmarks</a:t>
                      </a:r>
                    </a:p>
                  </a:txBody>
                  <a:tcPr marL="18288" marR="91440" marT="27432" marB="27432" anchor="ctr">
                    <a:noFill/>
                    <a:lnT w="3175" cap="flat">
                      <a:solidFill>
                        <a:srgbClr val="E2DCCF"/>
                      </a:solidFill>
                    </a:lnT>
                  </a:tcPr>
                </a:tc>
                <a:tc>
                  <a:txBody>
                    <a:bodyPr wrap="square"/>
                    <a:lstStyle/>
                    <a:p>
                      <a:pPr algn="l"/>
                      <a:r>
                        <a:rPr sz="1000" b="0">
                          <a:solidFill>
                            <a:srgbClr val="16130F"/>
                          </a:solidFill>
                          <a:latin typeface="Corbel"/>
                        </a:rPr>
                        <a:t>The eleven SPDR GICS sector ETFs. XLC launched Jun-2018, so XLK is used for the Communication Services sleeve before that date</a:t>
                      </a:r>
                    </a:p>
                  </a:txBody>
                  <a:tcPr marL="91440" marR="91440" marT="27432" marB="27432" anchor="ctr">
                    <a:noFill/>
                    <a:lnT w="3175" cap="flat">
                      <a:solidFill>
                        <a:srgbClr val="E2DCCF"/>
                      </a:solidFill>
                    </a:lnT>
                  </a:tcPr>
                </a:tc>
              </a:tr>
              <a:tr h="329184">
                <a:tc>
                  <a:txBody>
                    <a:bodyPr wrap="square"/>
                    <a:lstStyle/>
                    <a:p>
                      <a:pPr algn="l"/>
                      <a:r>
                        <a:rPr sz="1000" b="0">
                          <a:solidFill>
                            <a:srgbClr val="16130F"/>
                          </a:solidFill>
                          <a:latin typeface="Corbel"/>
                        </a:rPr>
                        <a:t>Risk-free rate</a:t>
                      </a:r>
                    </a:p>
                  </a:txBody>
                  <a:tcPr marL="18288" marR="91440" marT="27432" marB="27432" anchor="ctr">
                    <a:noFill/>
                    <a:lnT w="3175" cap="flat">
                      <a:solidFill>
                        <a:srgbClr val="E2DCCF"/>
                      </a:solidFill>
                    </a:lnT>
                  </a:tcPr>
                </a:tc>
                <a:tc>
                  <a:txBody>
                    <a:bodyPr wrap="square"/>
                    <a:lstStyle/>
                    <a:p>
                      <a:pPr algn="l"/>
                      <a:r>
                        <a:rPr sz="1000" b="0">
                          <a:solidFill>
                            <a:srgbClr val="16130F"/>
                          </a:solidFill>
                          <a:latin typeface="Corbel"/>
                        </a:rPr>
                        <a:t>Fama–French one-month Treasury bill series; mean 1.25% p.a. over the sample</a:t>
                      </a:r>
                    </a:p>
                  </a:txBody>
                  <a:tcPr marL="91440" marR="91440" marT="27432" marB="27432" anchor="ctr">
                    <a:noFill/>
                    <a:lnT w="3175" cap="flat">
                      <a:solidFill>
                        <a:srgbClr val="E2DCCF"/>
                      </a:solidFill>
                    </a:lnT>
                  </a:tcPr>
                </a:tc>
              </a:tr>
              <a:tr h="329184">
                <a:tc>
                  <a:txBody>
                    <a:bodyPr wrap="square"/>
                    <a:lstStyle/>
                    <a:p>
                      <a:pPr algn="l"/>
                      <a:r>
                        <a:rPr sz="1000" b="0">
                          <a:solidFill>
                            <a:srgbClr val="16130F"/>
                          </a:solidFill>
                          <a:latin typeface="Corbel"/>
                        </a:rPr>
                        <a:t>Risk factors</a:t>
                      </a:r>
                    </a:p>
                  </a:txBody>
                  <a:tcPr marL="18288" marR="91440" marT="27432" marB="27432" anchor="ctr">
                    <a:noFill/>
                    <a:lnT w="3175" cap="flat">
                      <a:solidFill>
                        <a:srgbClr val="E2DCCF"/>
                      </a:solidFill>
                    </a:lnT>
                  </a:tcPr>
                </a:tc>
                <a:tc>
                  <a:txBody>
                    <a:bodyPr wrap="square"/>
                    <a:lstStyle/>
                    <a:p>
                      <a:pPr algn="l"/>
                      <a:r>
                        <a:rPr sz="1000" b="0">
                          <a:solidFill>
                            <a:srgbClr val="16130F"/>
                          </a:solidFill>
                          <a:latin typeface="Corbel"/>
                        </a:rPr>
                        <a:t>Kenneth R. French Data Library: Mkt-RF, SMB, HML, RMW, CMA and the momentum factor, monthly, US research series</a:t>
                      </a:r>
                    </a:p>
                  </a:txBody>
                  <a:tcPr marL="91440" marR="91440" marT="27432" marB="27432" anchor="ctr">
                    <a:noFill/>
                    <a:lnT w="3175" cap="flat">
                      <a:solidFill>
                        <a:srgbClr val="E2DCCF"/>
                      </a:solidFill>
                    </a:lnT>
                  </a:tcPr>
                </a:tc>
              </a:tr>
              <a:tr h="329184">
                <a:tc>
                  <a:txBody>
                    <a:bodyPr wrap="square"/>
                    <a:lstStyle/>
                    <a:p>
                      <a:pPr algn="l"/>
                      <a:r>
                        <a:rPr sz="1000" b="0">
                          <a:solidFill>
                            <a:srgbClr val="16130F"/>
                          </a:solidFill>
                          <a:latin typeface="Corbel"/>
                        </a:rPr>
                        <a:t>Regressions</a:t>
                      </a:r>
                    </a:p>
                  </a:txBody>
                  <a:tcPr marL="18288" marR="91440" marT="27432" marB="27432" anchor="ctr">
                    <a:noFill/>
                    <a:lnT w="3175" cap="flat">
                      <a:solidFill>
                        <a:srgbClr val="E2DCCF"/>
                      </a:solidFill>
                    </a:lnT>
                  </a:tcPr>
                </a:tc>
                <a:tc>
                  <a:txBody>
                    <a:bodyPr wrap="square"/>
                    <a:lstStyle/>
                    <a:p>
                      <a:pPr algn="l"/>
                      <a:r>
                        <a:rPr sz="1000" b="0">
                          <a:solidFill>
                            <a:srgbClr val="16130F"/>
                          </a:solidFill>
                          <a:latin typeface="Corbel"/>
                        </a:rPr>
                        <a:t>OLS with Newey–West (HAC) standard errors, four lags, to correct for autocorrelation and heteroskedasticity in monthly returns</a:t>
                      </a:r>
                    </a:p>
                  </a:txBody>
                  <a:tcPr marL="91440" marR="91440" marT="27432" marB="27432" anchor="ctr">
                    <a:noFill/>
                    <a:lnT w="3175" cap="flat">
                      <a:solidFill>
                        <a:srgbClr val="E2DCCF"/>
                      </a:solidFill>
                    </a:lnT>
                  </a:tcPr>
                </a:tc>
              </a:tr>
              <a:tr h="329184">
                <a:tc>
                  <a:txBody>
                    <a:bodyPr wrap="square"/>
                    <a:lstStyle/>
                    <a:p>
                      <a:pPr algn="l"/>
                      <a:r>
                        <a:rPr sz="1000" b="0">
                          <a:solidFill>
                            <a:srgbClr val="16130F"/>
                          </a:solidFill>
                          <a:latin typeface="Corbel"/>
                        </a:rPr>
                        <a:t>Annualisation</a:t>
                      </a:r>
                    </a:p>
                  </a:txBody>
                  <a:tcPr marL="18288" marR="91440" marT="27432" marB="27432" anchor="ctr">
                    <a:noFill/>
                    <a:lnT w="3175" cap="flat">
                      <a:solidFill>
                        <a:srgbClr val="E2DCCF"/>
                      </a:solidFill>
                    </a:lnT>
                  </a:tcPr>
                </a:tc>
                <a:tc>
                  <a:txBody>
                    <a:bodyPr wrap="square"/>
                    <a:lstStyle/>
                    <a:p>
                      <a:pPr algn="l"/>
                      <a:r>
                        <a:rPr sz="1000" b="0">
                          <a:solidFill>
                            <a:srgbClr val="16130F"/>
                          </a:solidFill>
                          <a:latin typeface="Corbel"/>
                        </a:rPr>
                        <a:t>Returns compounded geometrically; volatility scaled by √12; ratios computed on monthly data then annualised</a:t>
                      </a:r>
                    </a:p>
                  </a:txBody>
                  <a:tcPr marL="91440" marR="91440" marT="27432" marB="27432" anchor="ctr">
                    <a:noFill/>
                    <a:lnT w="3175" cap="flat">
                      <a:solidFill>
                        <a:srgbClr val="E2DCCF"/>
                      </a:solidFill>
                    </a:lnT>
                  </a:tcPr>
                </a:tc>
              </a:tr>
              <a:tr h="329184">
                <a:tc>
                  <a:txBody>
                    <a:bodyPr wrap="square"/>
                    <a:lstStyle/>
                    <a:p>
                      <a:pPr algn="l"/>
                      <a:r>
                        <a:rPr sz="1000" b="0">
                          <a:solidFill>
                            <a:srgbClr val="16130F"/>
                          </a:solidFill>
                          <a:latin typeface="Corbel"/>
                        </a:rPr>
                        <a:t>Attribution</a:t>
                      </a:r>
                    </a:p>
                  </a:txBody>
                  <a:tcPr marL="18288" marR="91440" marT="27432" marB="27432" anchor="ctr">
                    <a:noFill/>
                    <a:lnT w="3175" cap="flat">
                      <a:solidFill>
                        <a:srgbClr val="E2DCCF"/>
                      </a:solidFill>
                    </a:lnT>
                  </a:tcPr>
                </a:tc>
                <a:tc>
                  <a:txBody>
                    <a:bodyPr wrap="square"/>
                    <a:lstStyle/>
                    <a:p>
                      <a:pPr algn="l"/>
                      <a:r>
                        <a:rPr sz="1000" b="0">
                          <a:solidFill>
                            <a:srgbClr val="16130F"/>
                          </a:solidFill>
                          <a:latin typeface="Corbel"/>
                        </a:rPr>
                        <a:t>Brinson–Fachler, summed arithmetically across 72 months against an equal-weight benchmark of the eleven sector ETFs</a:t>
                      </a:r>
                    </a:p>
                  </a:txBody>
                  <a:tcPr marL="91440" marR="91440" marT="27432" marB="27432" anchor="ctr">
                    <a:noFill/>
                    <a:lnT w="3175" cap="flat">
                      <a:solidFill>
                        <a:srgbClr val="E2DCCF"/>
                      </a:solidFill>
                    </a:lnT>
                  </a:tcPr>
                </a:tc>
              </a:tr>
              <a:tr h="329184">
                <a:tc>
                  <a:txBody>
                    <a:bodyPr wrap="square"/>
                    <a:lstStyle/>
                    <a:p>
                      <a:pPr algn="l"/>
                      <a:r>
                        <a:rPr sz="1000" b="0">
                          <a:solidFill>
                            <a:srgbClr val="16130F"/>
                          </a:solidFill>
                          <a:latin typeface="Corbel"/>
                        </a:rPr>
                        <a:t>Mean–variance optimisation</a:t>
                      </a:r>
                    </a:p>
                  </a:txBody>
                  <a:tcPr marL="18288" marR="91440" marT="27432" marB="27432" anchor="ctr">
                    <a:noFill/>
                    <a:lnT w="3175" cap="flat">
                      <a:solidFill>
                        <a:srgbClr val="E2DCCF"/>
                      </a:solidFill>
                    </a:lnT>
                  </a:tcPr>
                </a:tc>
                <a:tc>
                  <a:txBody>
                    <a:bodyPr wrap="square"/>
                    <a:lstStyle/>
                    <a:p>
                      <a:pPr algn="l"/>
                      <a:r>
                        <a:rPr sz="1000" b="0">
                          <a:solidFill>
                            <a:srgbClr val="16130F"/>
                          </a:solidFill>
                          <a:latin typeface="Corbel"/>
                        </a:rPr>
                        <a:t>SLSQP, long-only, maximum Sharpe, 25% position bound; in-sample window Jan 2014 – Dec 2016 for the ex-ante case</a:t>
                      </a:r>
                    </a:p>
                  </a:txBody>
                  <a:tcPr marL="91440" marR="91440" marT="27432" marB="27432" anchor="ctr">
                    <a:noFill/>
                    <a:lnT w="3175" cap="flat">
                      <a:solidFill>
                        <a:srgbClr val="E2DCCF"/>
                      </a:solidFill>
                    </a:lnT>
                  </a:tcPr>
                </a:tc>
              </a:tr>
              <a:tr h="329184">
                <a:tc>
                  <a:txBody>
                    <a:bodyPr wrap="square"/>
                    <a:lstStyle/>
                    <a:p>
                      <a:pPr algn="l"/>
                      <a:r>
                        <a:rPr sz="1000" b="0">
                          <a:solidFill>
                            <a:srgbClr val="16130F"/>
                          </a:solidFill>
                          <a:latin typeface="Corbel"/>
                        </a:rPr>
                        <a:t>Excluded</a:t>
                      </a:r>
                    </a:p>
                  </a:txBody>
                  <a:tcPr marL="18288" marR="91440" marT="27432" marB="27432" anchor="ctr">
                    <a:noFill/>
                    <a:lnT w="3175" cap="flat">
                      <a:solidFill>
                        <a:srgbClr val="E2DCCF"/>
                      </a:solidFill>
                    </a:lnT>
                  </a:tcPr>
                </a:tc>
                <a:tc>
                  <a:txBody>
                    <a:bodyPr wrap="square"/>
                    <a:lstStyle/>
                    <a:p>
                      <a:pPr algn="l"/>
                      <a:r>
                        <a:rPr sz="1000" b="0">
                          <a:solidFill>
                            <a:srgbClr val="16130F"/>
                          </a:solidFill>
                          <a:latin typeface="Corbel"/>
                        </a:rPr>
                        <a:t>Transaction costs, market impact, taxes and cash drag. All returns are gross of these unless a slide states otherwise</a:t>
                      </a:r>
                    </a:p>
                  </a:txBody>
                  <a:tcPr marL="91440" marR="91440" marT="27432" marB="27432" anchor="ctr">
                    <a:noFill/>
                    <a:lnT w="3175" cap="flat">
                      <a:solidFill>
                        <a:srgbClr val="E2DCCF"/>
                      </a:solidFill>
                    </a:lnT>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40</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Appendix</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APPENDIX</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A2 · Full performance and risk metrics</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All strategies and benchmarks, 72 monthly observations, January 2017 – December 2022</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graphicFrame>
        <p:nvGraphicFramePr>
          <p:cNvPr id="11" name="Table 10"/>
          <p:cNvGraphicFramePr>
            <a:graphicFrameLocks noGrp="1"/>
          </p:cNvGraphicFramePr>
          <p:nvPr/>
        </p:nvGraphicFramePr>
        <p:xfrm>
          <a:off x="1298448" y="1645920"/>
          <a:ext cx="10344603" cy="4458596"/>
        </p:xfrm>
        <a:graphic>
          <a:graphicData uri="http://schemas.openxmlformats.org/drawingml/2006/table">
            <a:tbl>
              <a:tblPr>
                <a:tableStyleId>{5C22544A-7EE6-4342-B048-85BDC9FD1C3A}</a:tableStyleId>
              </a:tblPr>
              <a:tblGrid>
                <a:gridCol w="2694987"/>
                <a:gridCol w="1274936"/>
                <a:gridCol w="1274936"/>
                <a:gridCol w="1274936"/>
                <a:gridCol w="1274936"/>
                <a:gridCol w="1274936"/>
                <a:gridCol w="1274936"/>
              </a:tblGrid>
              <a:tr h="193852">
                <a:tc>
                  <a:txBody>
                    <a:bodyPr wrap="square"/>
                    <a:lstStyle/>
                    <a:p>
                      <a:pPr algn="l"/>
                      <a:r>
                        <a:rPr sz="700" b="1" spc="130">
                          <a:solidFill>
                            <a:srgbClr val="4A443C"/>
                          </a:solidFill>
                          <a:latin typeface="Corbel"/>
                        </a:rPr>
                        <a:t>METRIC</a:t>
                      </a:r>
                    </a:p>
                  </a:txBody>
                  <a:tcPr marL="18288" marR="91440" marT="27432" marB="27432" anchor="ctr">
                    <a:noFill/>
                    <a:lnB w="6350" cap="flat">
                      <a:solidFill>
                        <a:srgbClr val="16130F"/>
                      </a:solidFill>
                    </a:lnB>
                  </a:tcPr>
                </a:tc>
                <a:tc>
                  <a:txBody>
                    <a:bodyPr wrap="square"/>
                    <a:lstStyle/>
                    <a:p>
                      <a:pPr algn="r"/>
                      <a:r>
                        <a:rPr sz="700" b="1" spc="130">
                          <a:solidFill>
                            <a:srgbClr val="4A443C"/>
                          </a:solidFill>
                          <a:latin typeface="Corbel"/>
                        </a:rPr>
                        <a:t>NDIF</a:t>
                      </a:r>
                    </a:p>
                  </a:txBody>
                  <a:tcPr marL="91440" marR="91440" marT="27432" marB="27432" anchor="ctr">
                    <a:noFill/>
                    <a:lnB w="6350" cap="flat">
                      <a:solidFill>
                        <a:srgbClr val="16130F"/>
                      </a:solidFill>
                    </a:lnB>
                  </a:tcPr>
                </a:tc>
                <a:tc>
                  <a:txBody>
                    <a:bodyPr wrap="square"/>
                    <a:lstStyle/>
                    <a:p>
                      <a:pPr algn="r"/>
                      <a:r>
                        <a:rPr sz="700" b="1" spc="130">
                          <a:solidFill>
                            <a:srgbClr val="4A443C"/>
                          </a:solidFill>
                          <a:latin typeface="Corbel"/>
                        </a:rPr>
                        <a:t>EQUAL WEIGHT</a:t>
                      </a:r>
                    </a:p>
                  </a:txBody>
                  <a:tcPr marL="91440" marR="91440" marT="27432" marB="27432" anchor="ctr">
                    <a:noFill/>
                    <a:lnB w="6350" cap="flat">
                      <a:solidFill>
                        <a:srgbClr val="16130F"/>
                      </a:solidFill>
                    </a:lnB>
                  </a:tcPr>
                </a:tc>
                <a:tc>
                  <a:txBody>
                    <a:bodyPr wrap="square"/>
                    <a:lstStyle/>
                    <a:p>
                      <a:pPr algn="r"/>
                      <a:r>
                        <a:rPr sz="700" b="1" spc="130">
                          <a:solidFill>
                            <a:srgbClr val="4A443C"/>
                          </a:solidFill>
                          <a:latin typeface="Corbel"/>
                        </a:rPr>
                        <a:t>MEAN–VARIANCE</a:t>
                      </a:r>
                    </a:p>
                  </a:txBody>
                  <a:tcPr marL="91440" marR="91440" marT="27432" marB="27432" anchor="ctr">
                    <a:noFill/>
                    <a:lnB w="6350" cap="flat">
                      <a:solidFill>
                        <a:srgbClr val="16130F"/>
                      </a:solidFill>
                    </a:lnB>
                  </a:tcPr>
                </a:tc>
                <a:tc>
                  <a:txBody>
                    <a:bodyPr wrap="square"/>
                    <a:lstStyle/>
                    <a:p>
                      <a:pPr algn="r"/>
                      <a:r>
                        <a:rPr sz="700" b="1" spc="130">
                          <a:solidFill>
                            <a:srgbClr val="4A443C"/>
                          </a:solidFill>
                          <a:latin typeface="Corbel"/>
                        </a:rPr>
                        <a:t>NASDAQ-100</a:t>
                      </a:r>
                    </a:p>
                  </a:txBody>
                  <a:tcPr marL="91440" marR="91440" marT="27432" marB="27432" anchor="ctr">
                    <a:noFill/>
                    <a:lnB w="6350" cap="flat">
                      <a:solidFill>
                        <a:srgbClr val="16130F"/>
                      </a:solidFill>
                    </a:lnB>
                  </a:tcPr>
                </a:tc>
                <a:tc>
                  <a:txBody>
                    <a:bodyPr wrap="square"/>
                    <a:lstStyle/>
                    <a:p>
                      <a:pPr algn="r"/>
                      <a:r>
                        <a:rPr sz="700" b="1" spc="130">
                          <a:solidFill>
                            <a:srgbClr val="4A443C"/>
                          </a:solidFill>
                          <a:latin typeface="Corbel"/>
                        </a:rPr>
                        <a:t>S&amp;P 500</a:t>
                      </a:r>
                    </a:p>
                  </a:txBody>
                  <a:tcPr marL="91440" marR="91440" marT="27432" marB="27432" anchor="ctr">
                    <a:noFill/>
                    <a:lnB w="6350" cap="flat">
                      <a:solidFill>
                        <a:srgbClr val="16130F"/>
                      </a:solidFill>
                    </a:lnB>
                  </a:tcPr>
                </a:tc>
                <a:tc>
                  <a:txBody>
                    <a:bodyPr wrap="square"/>
                    <a:lstStyle/>
                    <a:p>
                      <a:pPr algn="r"/>
                      <a:r>
                        <a:rPr sz="700" b="1" spc="130">
                          <a:solidFill>
                            <a:srgbClr val="4A443C"/>
                          </a:solidFill>
                          <a:latin typeface="Corbel"/>
                        </a:rPr>
                        <a:t>60/40</a:t>
                      </a:r>
                    </a:p>
                  </a:txBody>
                  <a:tcPr marL="91440" marR="91440" marT="27432" marB="27432" anchor="ctr">
                    <a:noFill/>
                    <a:lnB w="6350" cap="flat">
                      <a:solidFill>
                        <a:srgbClr val="16130F"/>
                      </a:solidFill>
                    </a:lnB>
                  </a:tcPr>
                </a:tc>
              </a:tr>
              <a:tr h="193852">
                <a:tc>
                  <a:txBody>
                    <a:bodyPr wrap="square"/>
                    <a:lstStyle/>
                    <a:p>
                      <a:pPr algn="l"/>
                      <a:r>
                        <a:rPr sz="850" b="1">
                          <a:solidFill>
                            <a:srgbClr val="16130F"/>
                          </a:solidFill>
                          <a:latin typeface="Corbel"/>
                        </a:rPr>
                        <a:t>Cumulative return</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179%</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170%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194%</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135%</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90%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52%</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Annualised return</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18.7%</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18.0%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19.7%</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15.3%</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11.3%</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7.2%</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Annualised volatility</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19.1%</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19.4%</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17.4%</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20.2%</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17.1%</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11.1%</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Mean monthly return</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1.59%</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1.54%</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1.64%</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1.36%</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1.02%</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0.63%</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Median monthly return</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2.73%</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2.26%</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2.69%</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2.20%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1.83%</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1.13%</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Skewness</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-0.47</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-0.38</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-0.74</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-0.39</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-0.48</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-0.50</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Excess kurtosis</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0.07</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0.10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0.62</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-0.04</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0.35</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0.56</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Best month</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14.5%</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14.0%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12.4%</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15.0%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12.7%</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8.3%</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Worst month</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-12.1%</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-11.4%</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-13.2%</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-13.6%</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-12.5%</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-7.7%</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Sharpe ratio</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0.94</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0.90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1.07</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0.75</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0.65</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0.59</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Sortino ratio</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1.51</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1.45</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1.69</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1.18</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0.98</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0.88</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Treynor ratio</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0.173</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0.163</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0.238</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0.139</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0.111</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0.102</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Calmar ratio</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0.75</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0.85</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0.78</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0.47</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0.47</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0.36</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Maximum drawdown</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-24.9%</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-21.3%</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-25.2%</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-32.6%</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-23.9%</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-20.0%</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Downside deviation</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11.9%</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12.0%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11.0%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12.9%</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11.3%</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7.4%</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VaR 95% (monthly)</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-8.8%</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-9.3%</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-7.5%</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-8.8%</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-8.5%</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-5.0%</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CVaR 95% (monthly)</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-10.2%</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-10.3%</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-10.5%</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-10.5%</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-9.8%</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-6.8%</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Beta vs S&amp;P 500</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1.04</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1.07</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0.78</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1.10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1.00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0.64</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Tracking error vs S&amp;P 500</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7.0%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6.6%</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11.8%</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7.6%</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0.0%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6.4%</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Upside capture</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120%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120%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101%</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118%</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100%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63%</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Downside capture</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97%</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99%</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63%</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108%</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100%</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63%</a:t>
                      </a:r>
                    </a:p>
                  </a:txBody>
                  <a:tcPr marL="91440" marR="91440" marT="27432" marB="27432" anchor="ctr">
                    <a:noFill/>
                    <a:lnT w="3175" cap="flat">
                      <a:solidFill>
                        <a:srgbClr val="E2DCCF"/>
                      </a:solidFill>
                    </a:lnT>
                  </a:tcPr>
                </a:tc>
              </a:tr>
              <a:tr h="193852">
                <a:tc>
                  <a:txBody>
                    <a:bodyPr wrap="square"/>
                    <a:lstStyle/>
                    <a:p>
                      <a:pPr algn="l"/>
                      <a:r>
                        <a:rPr sz="850" b="1">
                          <a:solidFill>
                            <a:srgbClr val="16130F"/>
                          </a:solidFill>
                          <a:latin typeface="Corbel"/>
                        </a:rPr>
                        <a:t>Terminal value on $100m</a:t>
                      </a:r>
                    </a:p>
                  </a:txBody>
                  <a:tcPr marL="18288" marR="91440" marT="27432" marB="27432" anchor="ctr">
                    <a:noFill/>
                    <a:lnT w="3175" cap="flat">
                      <a:solidFill>
                        <a:srgbClr val="E2DCCF"/>
                      </a:solidFill>
                    </a:lnT>
                  </a:tcPr>
                </a:tc>
                <a:tc>
                  <a:txBody>
                    <a:bodyPr wrap="square"/>
                    <a:lstStyle/>
                    <a:p>
                      <a:pPr algn="r"/>
                      <a:r>
                        <a:rPr sz="850" b="0">
                          <a:solidFill>
                            <a:srgbClr val="16130F"/>
                          </a:solidFill>
                          <a:latin typeface="Corbel"/>
                        </a:rPr>
                        <a:t>$279m</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$270m</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$294m</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$235m</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$190m</a:t>
                      </a:r>
                    </a:p>
                  </a:txBody>
                  <a:tcPr marL="91440" marR="91440" marT="27432" marB="27432" anchor="ctr">
                    <a:noFill/>
                    <a:lnT w="3175" cap="flat">
                      <a:solidFill>
                        <a:srgbClr val="E2DCCF"/>
                      </a:solidFill>
                    </a:lnT>
                  </a:tcPr>
                </a:tc>
                <a:tc>
                  <a:txBody>
                    <a:bodyPr wrap="square"/>
                    <a:lstStyle/>
                    <a:p>
                      <a:pPr algn="r"/>
                      <a:r>
                        <a:rPr sz="850" b="0">
                          <a:solidFill>
                            <a:srgbClr val="16130F"/>
                          </a:solidFill>
                          <a:latin typeface="Corbel"/>
                        </a:rPr>
                        <a:t>$152m</a:t>
                      </a:r>
                    </a:p>
                  </a:txBody>
                  <a:tcPr marL="91440" marR="91440" marT="27432" marB="27432" anchor="ctr">
                    <a:noFill/>
                    <a:lnT w="3175" cap="flat">
                      <a:solidFill>
                        <a:srgbClr val="E2DCCF"/>
                      </a:solidFill>
                    </a:lnT>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41</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Appendix</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APPENDIX</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A3 · Per-holding statistics</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Every position measured over the full six years on the same basis as the portfolio</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graphicFrame>
        <p:nvGraphicFramePr>
          <p:cNvPr id="11" name="Table 10"/>
          <p:cNvGraphicFramePr>
            <a:graphicFrameLocks noGrp="1"/>
          </p:cNvGraphicFramePr>
          <p:nvPr/>
        </p:nvGraphicFramePr>
        <p:xfrm>
          <a:off x="1298448" y="1682496"/>
          <a:ext cx="10344600" cy="3982212"/>
        </p:xfrm>
        <a:graphic>
          <a:graphicData uri="http://schemas.openxmlformats.org/drawingml/2006/table">
            <a:tbl>
              <a:tblPr>
                <a:tableStyleId>{5C22544A-7EE6-4342-B048-85BDC9FD1C3A}</a:tableStyleId>
              </a:tblPr>
              <a:tblGrid>
                <a:gridCol w="724122"/>
                <a:gridCol w="1241352"/>
                <a:gridCol w="724122"/>
                <a:gridCol w="982737"/>
                <a:gridCol w="827568"/>
                <a:gridCol w="931014"/>
                <a:gridCol w="724122"/>
                <a:gridCol w="879291"/>
                <a:gridCol w="672399"/>
                <a:gridCol w="982737"/>
                <a:gridCol w="724122"/>
                <a:gridCol w="931014"/>
              </a:tblGrid>
              <a:tr h="306324">
                <a:tc>
                  <a:txBody>
                    <a:bodyPr wrap="square"/>
                    <a:lstStyle/>
                    <a:p>
                      <a:pPr algn="l"/>
                      <a:r>
                        <a:rPr sz="800" b="1" spc="130">
                          <a:solidFill>
                            <a:srgbClr val="4A443C"/>
                          </a:solidFill>
                          <a:latin typeface="Corbel"/>
                        </a:rPr>
                        <a:t>TICKER</a:t>
                      </a:r>
                    </a:p>
                  </a:txBody>
                  <a:tcPr marL="18288" marR="91440" marT="27432" marB="27432" anchor="ctr">
                    <a:noFill/>
                    <a:lnB w="6350" cap="flat">
                      <a:solidFill>
                        <a:srgbClr val="16130F"/>
                      </a:solidFill>
                    </a:lnB>
                  </a:tcPr>
                </a:tc>
                <a:tc>
                  <a:txBody>
                    <a:bodyPr wrap="square"/>
                    <a:lstStyle/>
                    <a:p>
                      <a:pPr algn="r"/>
                      <a:r>
                        <a:rPr sz="800" b="1" spc="130">
                          <a:solidFill>
                            <a:srgbClr val="4A443C"/>
                          </a:solidFill>
                          <a:latin typeface="Corbel"/>
                        </a:rPr>
                        <a:t>GICS SECTOR</a:t>
                      </a:r>
                    </a:p>
                  </a:txBody>
                  <a:tcPr marL="91440" marR="91440" marT="27432" marB="27432" anchor="ctr">
                    <a:noFill/>
                    <a:lnB w="6350" cap="flat">
                      <a:solidFill>
                        <a:srgbClr val="16130F"/>
                      </a:solidFill>
                    </a:lnB>
                  </a:tcPr>
                </a:tc>
                <a:tc>
                  <a:txBody>
                    <a:bodyPr wrap="square"/>
                    <a:lstStyle/>
                    <a:p>
                      <a:pPr algn="r"/>
                      <a:r>
                        <a:rPr sz="800" b="1" spc="130">
                          <a:solidFill>
                            <a:srgbClr val="4A443C"/>
                          </a:solidFill>
                          <a:latin typeface="Corbel"/>
                        </a:rPr>
                        <a:t>WEIGHT</a:t>
                      </a:r>
                    </a:p>
                  </a:txBody>
                  <a:tcPr marL="91440" marR="91440" marT="27432" marB="27432" anchor="ctr">
                    <a:noFill/>
                    <a:lnB w="6350" cap="flat">
                      <a:solidFill>
                        <a:srgbClr val="16130F"/>
                      </a:solidFill>
                    </a:lnB>
                  </a:tcPr>
                </a:tc>
                <a:tc>
                  <a:txBody>
                    <a:bodyPr wrap="square"/>
                    <a:lstStyle/>
                    <a:p>
                      <a:pPr algn="r"/>
                      <a:r>
                        <a:rPr sz="800" b="1" spc="130">
                          <a:solidFill>
                            <a:srgbClr val="4A443C"/>
                          </a:solidFill>
                          <a:latin typeface="Corbel"/>
                        </a:rPr>
                        <a:t>TOTAL RETURN</a:t>
                      </a:r>
                    </a:p>
                  </a:txBody>
                  <a:tcPr marL="91440" marR="91440" marT="27432" marB="27432" anchor="ctr">
                    <a:noFill/>
                    <a:lnB w="6350" cap="flat">
                      <a:solidFill>
                        <a:srgbClr val="16130F"/>
                      </a:solidFill>
                    </a:lnB>
                  </a:tcPr>
                </a:tc>
                <a:tc>
                  <a:txBody>
                    <a:bodyPr wrap="square"/>
                    <a:lstStyle/>
                    <a:p>
                      <a:pPr algn="r"/>
                      <a:r>
                        <a:rPr sz="800" b="1" spc="130">
                          <a:solidFill>
                            <a:srgbClr val="4A443C"/>
                          </a:solidFill>
                          <a:latin typeface="Corbel"/>
                        </a:rPr>
                        <a:t>CAGR</a:t>
                      </a:r>
                    </a:p>
                  </a:txBody>
                  <a:tcPr marL="91440" marR="91440" marT="27432" marB="27432" anchor="ctr">
                    <a:noFill/>
                    <a:lnB w="6350" cap="flat">
                      <a:solidFill>
                        <a:srgbClr val="16130F"/>
                      </a:solidFill>
                    </a:lnB>
                  </a:tcPr>
                </a:tc>
                <a:tc>
                  <a:txBody>
                    <a:bodyPr wrap="square"/>
                    <a:lstStyle/>
                    <a:p>
                      <a:pPr algn="r"/>
                      <a:r>
                        <a:rPr sz="800" b="1" spc="130">
                          <a:solidFill>
                            <a:srgbClr val="4A443C"/>
                          </a:solidFill>
                          <a:latin typeface="Corbel"/>
                        </a:rPr>
                        <a:t>VOLATILITY</a:t>
                      </a:r>
                    </a:p>
                  </a:txBody>
                  <a:tcPr marL="91440" marR="91440" marT="27432" marB="27432" anchor="ctr">
                    <a:noFill/>
                    <a:lnB w="6350" cap="flat">
                      <a:solidFill>
                        <a:srgbClr val="16130F"/>
                      </a:solidFill>
                    </a:lnB>
                  </a:tcPr>
                </a:tc>
                <a:tc>
                  <a:txBody>
                    <a:bodyPr wrap="square"/>
                    <a:lstStyle/>
                    <a:p>
                      <a:pPr algn="r"/>
                      <a:r>
                        <a:rPr sz="800" b="1" spc="130">
                          <a:solidFill>
                            <a:srgbClr val="4A443C"/>
                          </a:solidFill>
                          <a:latin typeface="Corbel"/>
                        </a:rPr>
                        <a:t>SHARPE</a:t>
                      </a:r>
                    </a:p>
                  </a:txBody>
                  <a:tcPr marL="91440" marR="91440" marT="27432" marB="27432" anchor="ctr">
                    <a:noFill/>
                    <a:lnB w="6350" cap="flat">
                      <a:solidFill>
                        <a:srgbClr val="16130F"/>
                      </a:solidFill>
                    </a:lnB>
                  </a:tcPr>
                </a:tc>
                <a:tc>
                  <a:txBody>
                    <a:bodyPr wrap="square"/>
                    <a:lstStyle/>
                    <a:p>
                      <a:pPr algn="r"/>
                      <a:r>
                        <a:rPr sz="800" b="1" spc="130">
                          <a:solidFill>
                            <a:srgbClr val="4A443C"/>
                          </a:solidFill>
                          <a:latin typeface="Corbel"/>
                        </a:rPr>
                        <a:t>MAX DD</a:t>
                      </a:r>
                    </a:p>
                  </a:txBody>
                  <a:tcPr marL="91440" marR="91440" marT="27432" marB="27432" anchor="ctr">
                    <a:noFill/>
                    <a:lnB w="6350" cap="flat">
                      <a:solidFill>
                        <a:srgbClr val="16130F"/>
                      </a:solidFill>
                    </a:lnB>
                  </a:tcPr>
                </a:tc>
                <a:tc>
                  <a:txBody>
                    <a:bodyPr wrap="square"/>
                    <a:lstStyle/>
                    <a:p>
                      <a:pPr algn="r"/>
                      <a:r>
                        <a:rPr sz="800" b="1" spc="130">
                          <a:solidFill>
                            <a:srgbClr val="4A443C"/>
                          </a:solidFill>
                          <a:latin typeface="Corbel"/>
                        </a:rPr>
                        <a:t>BETA</a:t>
                      </a:r>
                    </a:p>
                  </a:txBody>
                  <a:tcPr marL="91440" marR="91440" marT="27432" marB="27432" anchor="ctr">
                    <a:noFill/>
                    <a:lnB w="6350" cap="flat">
                      <a:solidFill>
                        <a:srgbClr val="16130F"/>
                      </a:solidFill>
                    </a:lnB>
                  </a:tcPr>
                </a:tc>
                <a:tc>
                  <a:txBody>
                    <a:bodyPr wrap="square"/>
                    <a:lstStyle/>
                    <a:p>
                      <a:pPr algn="r"/>
                      <a:r>
                        <a:rPr sz="800" b="1" spc="130">
                          <a:solidFill>
                            <a:srgbClr val="4A443C"/>
                          </a:solidFill>
                          <a:latin typeface="Corbel"/>
                        </a:rPr>
                        <a:t>CAPM ALPHA</a:t>
                      </a:r>
                    </a:p>
                  </a:txBody>
                  <a:tcPr marL="91440" marR="91440" marT="27432" marB="27432" anchor="ctr">
                    <a:noFill/>
                    <a:lnB w="6350" cap="flat">
                      <a:solidFill>
                        <a:srgbClr val="16130F"/>
                      </a:solidFill>
                    </a:lnB>
                  </a:tcPr>
                </a:tc>
                <a:tc>
                  <a:txBody>
                    <a:bodyPr wrap="square"/>
                    <a:lstStyle/>
                    <a:p>
                      <a:pPr algn="r"/>
                      <a:r>
                        <a:rPr sz="800" b="1" spc="130">
                          <a:solidFill>
                            <a:srgbClr val="4A443C"/>
                          </a:solidFill>
                          <a:latin typeface="Corbel"/>
                        </a:rPr>
                        <a:t>T-STAT</a:t>
                      </a:r>
                    </a:p>
                  </a:txBody>
                  <a:tcPr marL="91440" marR="91440" marT="27432" marB="27432" anchor="ctr">
                    <a:noFill/>
                    <a:lnB w="6350" cap="flat">
                      <a:solidFill>
                        <a:srgbClr val="16130F"/>
                      </a:solidFill>
                    </a:lnB>
                  </a:tcPr>
                </a:tc>
                <a:tc>
                  <a:txBody>
                    <a:bodyPr wrap="square"/>
                    <a:lstStyle/>
                    <a:p>
                      <a:pPr algn="r"/>
                      <a:r>
                        <a:rPr sz="800" b="1" spc="130">
                          <a:solidFill>
                            <a:srgbClr val="4A443C"/>
                          </a:solidFill>
                          <a:latin typeface="Corbel"/>
                        </a:rPr>
                        <a:t>CONTRIBUTION</a:t>
                      </a:r>
                    </a:p>
                  </a:txBody>
                  <a:tcPr marL="91440" marR="91440" marT="27432" marB="27432" anchor="ctr">
                    <a:noFill/>
                    <a:lnB w="6350" cap="flat">
                      <a:solidFill>
                        <a:srgbClr val="16130F"/>
                      </a:solidFill>
                    </a:lnB>
                  </a:tcPr>
                </a:tc>
              </a:tr>
              <a:tr h="306324">
                <a:tc>
                  <a:txBody>
                    <a:bodyPr wrap="square"/>
                    <a:lstStyle/>
                    <a:p>
                      <a:pPr algn="l"/>
                      <a:r>
                        <a:rPr sz="950" b="1">
                          <a:solidFill>
                            <a:srgbClr val="16130F"/>
                          </a:solidFill>
                          <a:latin typeface="Corbel"/>
                        </a:rPr>
                        <a:t>MSFT</a:t>
                      </a:r>
                    </a:p>
                  </a:txBody>
                  <a:tcPr marL="18288" marR="91440" marT="27432" marB="27432" anchor="ctr">
                    <a:noFill/>
                    <a:lnT w="3175" cap="flat">
                      <a:solidFill>
                        <a:srgbClr val="E2DCCF"/>
                      </a:solidFill>
                    </a:lnT>
                  </a:tcPr>
                </a:tc>
                <a:tc>
                  <a:txBody>
                    <a:bodyPr wrap="square"/>
                    <a:lstStyle/>
                    <a:p>
                      <a:pPr algn="r"/>
                      <a:r>
                        <a:rPr sz="950" b="0">
                          <a:solidFill>
                            <a:srgbClr val="16130F"/>
                          </a:solidFill>
                          <a:latin typeface="Corbel"/>
                        </a:rPr>
                        <a:t>Info Tech</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16%</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319%</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27.0%</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20.4%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1.23</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-30.5%</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0.93</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16.4%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2.76</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41.9 pts</a:t>
                      </a:r>
                    </a:p>
                  </a:txBody>
                  <a:tcPr marL="91440" marR="91440" marT="27432" marB="27432" anchor="ctr">
                    <a:noFill/>
                    <a:lnT w="3175" cap="flat">
                      <a:solidFill>
                        <a:srgbClr val="E2DCCF"/>
                      </a:solidFill>
                    </a:lnT>
                  </a:tcPr>
                </a:tc>
              </a:tr>
              <a:tr h="306324">
                <a:tc>
                  <a:txBody>
                    <a:bodyPr wrap="square"/>
                    <a:lstStyle/>
                    <a:p>
                      <a:pPr algn="l"/>
                      <a:r>
                        <a:rPr sz="950" b="1">
                          <a:solidFill>
                            <a:srgbClr val="16130F"/>
                          </a:solidFill>
                          <a:latin typeface="Corbel"/>
                        </a:rPr>
                        <a:t>GOOGL</a:t>
                      </a:r>
                    </a:p>
                  </a:txBody>
                  <a:tcPr marL="18288" marR="91440" marT="27432" marB="27432" anchor="ctr">
                    <a:noFill/>
                    <a:lnT w="3175" cap="flat">
                      <a:solidFill>
                        <a:srgbClr val="E2DCCF"/>
                      </a:solidFill>
                    </a:lnT>
                  </a:tcPr>
                </a:tc>
                <a:tc>
                  <a:txBody>
                    <a:bodyPr wrap="square"/>
                    <a:lstStyle/>
                    <a:p>
                      <a:pPr algn="r"/>
                      <a:r>
                        <a:rPr sz="950" b="0">
                          <a:solidFill>
                            <a:srgbClr val="16130F"/>
                          </a:solidFill>
                          <a:latin typeface="Corbel"/>
                        </a:rPr>
                        <a:t>Comm Svcs</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123%</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14.3%</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24.1%</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0.63</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-40.4%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1.09</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3.8%</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0.70</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22.1 pts</a:t>
                      </a:r>
                    </a:p>
                  </a:txBody>
                  <a:tcPr marL="91440" marR="91440" marT="27432" marB="27432" anchor="ctr">
                    <a:noFill/>
                    <a:lnT w="3175" cap="flat">
                      <a:solidFill>
                        <a:srgbClr val="E2DCCF"/>
                      </a:solidFill>
                    </a:lnT>
                  </a:tcPr>
                </a:tc>
              </a:tr>
              <a:tr h="306324">
                <a:tc>
                  <a:txBody>
                    <a:bodyPr wrap="square"/>
                    <a:lstStyle/>
                    <a:p>
                      <a:pPr algn="l"/>
                      <a:r>
                        <a:rPr sz="950" b="1">
                          <a:solidFill>
                            <a:srgbClr val="16130F"/>
                          </a:solidFill>
                          <a:latin typeface="Corbel"/>
                        </a:rPr>
                        <a:t>AMZN</a:t>
                      </a:r>
                    </a:p>
                  </a:txBody>
                  <a:tcPr marL="18288" marR="91440" marT="27432" marB="27432" anchor="ctr">
                    <a:noFill/>
                    <a:lnT w="3175" cap="flat">
                      <a:solidFill>
                        <a:srgbClr val="E2DCCF"/>
                      </a:solidFill>
                    </a:lnT>
                  </a:tcPr>
                </a:tc>
                <a:tc>
                  <a:txBody>
                    <a:bodyPr wrap="square"/>
                    <a:lstStyle/>
                    <a:p>
                      <a:pPr algn="r"/>
                      <a:r>
                        <a:rPr sz="950" b="0">
                          <a:solidFill>
                            <a:srgbClr val="16130F"/>
                          </a:solidFill>
                          <a:latin typeface="Corbel"/>
                        </a:rPr>
                        <a:t>Cons Disc</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12%</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124%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14.4%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32.2%</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0.54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-52.1%</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1.23</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4.4%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0.37</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10.3 pts</a:t>
                      </a:r>
                    </a:p>
                  </a:txBody>
                  <a:tcPr marL="91440" marR="91440" marT="27432" marB="27432" anchor="ctr">
                    <a:noFill/>
                    <a:lnT w="3175" cap="flat">
                      <a:solidFill>
                        <a:srgbClr val="E2DCCF"/>
                      </a:solidFill>
                    </a:lnT>
                  </a:tcPr>
                </a:tc>
              </a:tr>
              <a:tr h="306324">
                <a:tc>
                  <a:txBody>
                    <a:bodyPr wrap="square"/>
                    <a:lstStyle/>
                    <a:p>
                      <a:pPr algn="l"/>
                      <a:r>
                        <a:rPr sz="950" b="1">
                          <a:solidFill>
                            <a:srgbClr val="16130F"/>
                          </a:solidFill>
                          <a:latin typeface="Corbel"/>
                        </a:rPr>
                        <a:t>V</a:t>
                      </a:r>
                    </a:p>
                  </a:txBody>
                  <a:tcPr marL="18288" marR="91440" marT="27432" marB="27432" anchor="ctr">
                    <a:noFill/>
                    <a:lnT w="3175" cap="flat">
                      <a:solidFill>
                        <a:srgbClr val="E2DCCF"/>
                      </a:solidFill>
                    </a:lnT>
                  </a:tcPr>
                </a:tc>
                <a:tc>
                  <a:txBody>
                    <a:bodyPr wrap="square"/>
                    <a:lstStyle/>
                    <a:p>
                      <a:pPr algn="r"/>
                      <a:r>
                        <a:rPr sz="950" b="0">
                          <a:solidFill>
                            <a:srgbClr val="16130F"/>
                          </a:solidFill>
                          <a:latin typeface="Corbel"/>
                        </a:rPr>
                        <a:t>Financials</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10%</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177%</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18.5%</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22.2%</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0.83</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-27.3%</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0.96</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8.8%</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1.59</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15.9 pts</a:t>
                      </a:r>
                    </a:p>
                  </a:txBody>
                  <a:tcPr marL="91440" marR="91440" marT="27432" marB="27432" anchor="ctr">
                    <a:noFill/>
                    <a:lnT w="3175" cap="flat">
                      <a:solidFill>
                        <a:srgbClr val="E2DCCF"/>
                      </a:solidFill>
                    </a:lnT>
                  </a:tcPr>
                </a:tc>
              </a:tr>
              <a:tr h="306324">
                <a:tc>
                  <a:txBody>
                    <a:bodyPr wrap="square"/>
                    <a:lstStyle/>
                    <a:p>
                      <a:pPr algn="l"/>
                      <a:r>
                        <a:rPr sz="950" b="1">
                          <a:solidFill>
                            <a:srgbClr val="16130F"/>
                          </a:solidFill>
                          <a:latin typeface="Corbel"/>
                        </a:rPr>
                        <a:t>EQIX</a:t>
                      </a:r>
                    </a:p>
                  </a:txBody>
                  <a:tcPr marL="18288" marR="91440" marT="27432" marB="27432" anchor="ctr">
                    <a:noFill/>
                    <a:lnT w="3175" cap="flat">
                      <a:solidFill>
                        <a:srgbClr val="E2DCCF"/>
                      </a:solidFill>
                    </a:lnT>
                  </a:tcPr>
                </a:tc>
                <a:tc>
                  <a:txBody>
                    <a:bodyPr wrap="square"/>
                    <a:lstStyle/>
                    <a:p>
                      <a:pPr algn="r"/>
                      <a:r>
                        <a:rPr sz="950" b="0">
                          <a:solidFill>
                            <a:srgbClr val="16130F"/>
                          </a:solidFill>
                          <a:latin typeface="Corbel"/>
                        </a:rPr>
                        <a:t>Real Estate</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9%</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105%</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12.7%</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22.7%</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0.59</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-32.1%</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0.59</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7.8%</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0.87</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10.5 pts</a:t>
                      </a:r>
                    </a:p>
                  </a:txBody>
                  <a:tcPr marL="91440" marR="91440" marT="27432" marB="27432" anchor="ctr">
                    <a:noFill/>
                    <a:lnT w="3175" cap="flat">
                      <a:solidFill>
                        <a:srgbClr val="E2DCCF"/>
                      </a:solidFill>
                    </a:lnT>
                  </a:tcPr>
                </a:tc>
              </a:tr>
              <a:tr h="306324">
                <a:tc>
                  <a:txBody>
                    <a:bodyPr wrap="square"/>
                    <a:lstStyle/>
                    <a:p>
                      <a:pPr algn="l"/>
                      <a:r>
                        <a:rPr sz="950" b="1">
                          <a:solidFill>
                            <a:srgbClr val="16130F"/>
                          </a:solidFill>
                          <a:latin typeface="Corbel"/>
                        </a:rPr>
                        <a:t>ILMN</a:t>
                      </a:r>
                    </a:p>
                  </a:txBody>
                  <a:tcPr marL="18288" marR="91440" marT="27432" marB="27432" anchor="ctr">
                    <a:noFill/>
                    <a:lnT w="3175" cap="flat">
                      <a:solidFill>
                        <a:srgbClr val="E2DCCF"/>
                      </a:solidFill>
                    </a:lnT>
                  </a:tcPr>
                </a:tc>
                <a:tc>
                  <a:txBody>
                    <a:bodyPr wrap="square"/>
                    <a:lstStyle/>
                    <a:p>
                      <a:pPr algn="r"/>
                      <a:r>
                        <a:rPr sz="950" b="0">
                          <a:solidFill>
                            <a:srgbClr val="16130F"/>
                          </a:solidFill>
                          <a:latin typeface="Corbel"/>
                        </a:rPr>
                        <a:t>Health Care</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8%</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58%</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7.9%</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36.3%</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0.36</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-62.8%</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1.14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0.6%</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0.05</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1.8 pts</a:t>
                      </a:r>
                    </a:p>
                  </a:txBody>
                  <a:tcPr marL="91440" marR="91440" marT="27432" marB="27432" anchor="ctr">
                    <a:noFill/>
                    <a:lnT w="3175" cap="flat">
                      <a:solidFill>
                        <a:srgbClr val="E2DCCF"/>
                      </a:solidFill>
                    </a:lnT>
                  </a:tcPr>
                </a:tc>
              </a:tr>
              <a:tr h="306324">
                <a:tc>
                  <a:txBody>
                    <a:bodyPr wrap="square"/>
                    <a:lstStyle/>
                    <a:p>
                      <a:pPr algn="l"/>
                      <a:r>
                        <a:rPr sz="950" b="1">
                          <a:solidFill>
                            <a:srgbClr val="16130F"/>
                          </a:solidFill>
                          <a:latin typeface="Corbel"/>
                        </a:rPr>
                        <a:t>ROK</a:t>
                      </a:r>
                    </a:p>
                  </a:txBody>
                  <a:tcPr marL="18288" marR="91440" marT="27432" marB="27432" anchor="ctr">
                    <a:noFill/>
                    <a:lnT w="3175" cap="flat">
                      <a:solidFill>
                        <a:srgbClr val="E2DCCF"/>
                      </a:solidFill>
                    </a:lnT>
                  </a:tcPr>
                </a:tc>
                <a:tc>
                  <a:txBody>
                    <a:bodyPr wrap="square"/>
                    <a:lstStyle/>
                    <a:p>
                      <a:pPr algn="r"/>
                      <a:r>
                        <a:rPr sz="950" b="0">
                          <a:solidFill>
                            <a:srgbClr val="16130F"/>
                          </a:solidFill>
                          <a:latin typeface="Corbel"/>
                        </a:rPr>
                        <a:t>Industrials</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7%</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115%</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13.6%</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31.4%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0.53</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-42.3%</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1.44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1.3%</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0.20</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11.5 pts</a:t>
                      </a:r>
                    </a:p>
                  </a:txBody>
                  <a:tcPr marL="91440" marR="91440" marT="27432" marB="27432" anchor="ctr">
                    <a:noFill/>
                    <a:lnT w="3175" cap="flat">
                      <a:solidFill>
                        <a:srgbClr val="E2DCCF"/>
                      </a:solidFill>
                    </a:lnT>
                  </a:tcPr>
                </a:tc>
              </a:tr>
              <a:tr h="306324">
                <a:tc>
                  <a:txBody>
                    <a:bodyPr wrap="square"/>
                    <a:lstStyle/>
                    <a:p>
                      <a:pPr algn="l"/>
                      <a:r>
                        <a:rPr sz="950" b="1">
                          <a:solidFill>
                            <a:srgbClr val="16130F"/>
                          </a:solidFill>
                          <a:latin typeface="Corbel"/>
                        </a:rPr>
                        <a:t>NEE</a:t>
                      </a:r>
                    </a:p>
                  </a:txBody>
                  <a:tcPr marL="18288" marR="91440" marT="27432" marB="27432" anchor="ctr">
                    <a:noFill/>
                    <a:lnT w="3175" cap="flat">
                      <a:solidFill>
                        <a:srgbClr val="E2DCCF"/>
                      </a:solidFill>
                    </a:lnT>
                  </a:tcPr>
                </a:tc>
                <a:tc>
                  <a:txBody>
                    <a:bodyPr wrap="square"/>
                    <a:lstStyle/>
                    <a:p>
                      <a:pPr algn="r"/>
                      <a:r>
                        <a:rPr sz="950" b="0">
                          <a:solidFill>
                            <a:srgbClr val="16130F"/>
                          </a:solidFill>
                          <a:latin typeface="Corbel"/>
                        </a:rPr>
                        <a:t>Utilities</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7%</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222%</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21.5%</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19.6%</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1.04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-23.5%</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0.50</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16.5%</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3.14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15.7 pts</a:t>
                      </a:r>
                    </a:p>
                  </a:txBody>
                  <a:tcPr marL="91440" marR="91440" marT="27432" marB="27432" anchor="ctr">
                    <a:noFill/>
                    <a:lnT w="3175" cap="flat">
                      <a:solidFill>
                        <a:srgbClr val="E2DCCF"/>
                      </a:solidFill>
                    </a:lnT>
                  </a:tcPr>
                </a:tc>
              </a:tr>
              <a:tr h="306324">
                <a:tc>
                  <a:txBody>
                    <a:bodyPr wrap="square"/>
                    <a:lstStyle/>
                    <a:p>
                      <a:pPr algn="l"/>
                      <a:r>
                        <a:rPr sz="950" b="1">
                          <a:solidFill>
                            <a:srgbClr val="16130F"/>
                          </a:solidFill>
                          <a:latin typeface="Corbel"/>
                        </a:rPr>
                        <a:t>COST</a:t>
                      </a:r>
                    </a:p>
                  </a:txBody>
                  <a:tcPr marL="18288" marR="91440" marT="27432" marB="27432" anchor="ctr">
                    <a:noFill/>
                    <a:lnT w="3175" cap="flat">
                      <a:solidFill>
                        <a:srgbClr val="E2DCCF"/>
                      </a:solidFill>
                    </a:lnT>
                  </a:tcPr>
                </a:tc>
                <a:tc>
                  <a:txBody>
                    <a:bodyPr wrap="square"/>
                    <a:lstStyle/>
                    <a:p>
                      <a:pPr algn="r"/>
                      <a:r>
                        <a:rPr sz="950" b="0">
                          <a:solidFill>
                            <a:srgbClr val="16130F"/>
                          </a:solidFill>
                          <a:latin typeface="Corbel"/>
                        </a:rPr>
                        <a:t>Cons Staples</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6%</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222%</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21.5%</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22.0%</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0.95</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-20.3%</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0.79</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13.7%</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1.95</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15.5 pts</a:t>
                      </a:r>
                    </a:p>
                  </a:txBody>
                  <a:tcPr marL="91440" marR="91440" marT="27432" marB="27432" anchor="ctr">
                    <a:noFill/>
                    <a:lnT w="3175" cap="flat">
                      <a:solidFill>
                        <a:srgbClr val="E2DCCF"/>
                      </a:solidFill>
                    </a:lnT>
                  </a:tcPr>
                </a:tc>
              </a:tr>
              <a:tr h="306324">
                <a:tc>
                  <a:txBody>
                    <a:bodyPr wrap="square"/>
                    <a:lstStyle/>
                    <a:p>
                      <a:pPr algn="l"/>
                      <a:r>
                        <a:rPr sz="950" b="1">
                          <a:solidFill>
                            <a:srgbClr val="16130F"/>
                          </a:solidFill>
                          <a:latin typeface="Corbel"/>
                        </a:rPr>
                        <a:t>ALB</a:t>
                      </a:r>
                    </a:p>
                  </a:txBody>
                  <a:tcPr marL="18288" marR="91440" marT="27432" marB="27432" anchor="ctr">
                    <a:noFill/>
                    <a:lnT w="3175" cap="flat">
                      <a:solidFill>
                        <a:srgbClr val="E2DCCF"/>
                      </a:solidFill>
                    </a:lnT>
                  </a:tcPr>
                </a:tc>
                <a:tc>
                  <a:txBody>
                    <a:bodyPr wrap="square"/>
                    <a:lstStyle/>
                    <a:p>
                      <a:pPr algn="r"/>
                      <a:r>
                        <a:rPr sz="950" b="0">
                          <a:solidFill>
                            <a:srgbClr val="16130F"/>
                          </a:solidFill>
                          <a:latin typeface="Corbel"/>
                        </a:rPr>
                        <a:t>Materials</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6%</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172%</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18.1%</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43.8%</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0.57</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-58.3%</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1.47</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9.3%</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0.63</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20.8 pts</a:t>
                      </a:r>
                    </a:p>
                  </a:txBody>
                  <a:tcPr marL="91440" marR="91440" marT="27432" marB="27432" anchor="ctr">
                    <a:noFill/>
                    <a:lnT w="3175" cap="flat">
                      <a:solidFill>
                        <a:srgbClr val="E2DCCF"/>
                      </a:solidFill>
                    </a:lnT>
                  </a:tcPr>
                </a:tc>
              </a:tr>
              <a:tr h="306324">
                <a:tc>
                  <a:txBody>
                    <a:bodyPr wrap="square"/>
                    <a:lstStyle/>
                    <a:p>
                      <a:pPr algn="l"/>
                      <a:r>
                        <a:rPr sz="950" b="1">
                          <a:solidFill>
                            <a:srgbClr val="16130F"/>
                          </a:solidFill>
                          <a:latin typeface="Corbel"/>
                        </a:rPr>
                        <a:t>SLB</a:t>
                      </a:r>
                    </a:p>
                  </a:txBody>
                  <a:tcPr marL="18288" marR="91440" marT="27432" marB="27432" anchor="ctr">
                    <a:noFill/>
                    <a:lnT w="3175" cap="flat">
                      <a:solidFill>
                        <a:srgbClr val="E2DCCF"/>
                      </a:solidFill>
                    </a:lnT>
                  </a:tcPr>
                </a:tc>
                <a:tc>
                  <a:txBody>
                    <a:bodyPr wrap="square"/>
                    <a:lstStyle/>
                    <a:p>
                      <a:pPr algn="r"/>
                      <a:r>
                        <a:rPr sz="950" b="0">
                          <a:solidFill>
                            <a:srgbClr val="16130F"/>
                          </a:solidFill>
                          <a:latin typeface="Corbel"/>
                        </a:rPr>
                        <a:t>Energy</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5%</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-4.4%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49.0%</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0.14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-81.6%</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1.78</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-11.6%</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-0.64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13.2 pts</a:t>
                      </a:r>
                    </a:p>
                  </a:txBody>
                  <a:tcPr marL="91440" marR="91440" marT="27432" marB="27432" anchor="ctr">
                    <a:noFill/>
                    <a:lnT w="3175" cap="flat">
                      <a:solidFill>
                        <a:srgbClr val="E2DCCF"/>
                      </a:solidFill>
                    </a:lnT>
                  </a:tcPr>
                </a:tc>
              </a:tr>
              <a:tr h="306324">
                <a:tc>
                  <a:txBody>
                    <a:bodyPr wrap="square"/>
                    <a:lstStyle/>
                    <a:p>
                      <a:pPr algn="l"/>
                      <a:r>
                        <a:rPr sz="950" b="1">
                          <a:solidFill>
                            <a:srgbClr val="16130F"/>
                          </a:solidFill>
                          <a:latin typeface="Corbel"/>
                        </a:rPr>
                        <a:t>NDIF</a:t>
                      </a:r>
                    </a:p>
                  </a:txBody>
                  <a:tcPr marL="18288" marR="91440" marT="27432" marB="27432" anchor="ctr">
                    <a:noFill/>
                    <a:lnT w="3175" cap="flat">
                      <a:solidFill>
                        <a:srgbClr val="E2DCCF"/>
                      </a:solidFill>
                    </a:lnT>
                  </a:tcPr>
                </a:tc>
                <a:tc>
                  <a:txBody>
                    <a:bodyPr wrap="square"/>
                    <a:lstStyle/>
                    <a:p>
                      <a:pPr algn="r"/>
                      <a:r>
                        <a:rPr sz="950" b="0">
                          <a:solidFill>
                            <a:srgbClr val="16130F"/>
                          </a:solidFill>
                          <a:latin typeface="Corbel"/>
                        </a:rPr>
                        <a:t>All eleven</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100%</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179%</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18.7%</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19.1%</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0.94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-24.9%</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1.04</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7.2%</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2.19</a:t>
                      </a:r>
                    </a:p>
                  </a:txBody>
                  <a:tcPr marL="91440" marR="91440" marT="27432" marB="27432" anchor="ctr">
                    <a:noFill/>
                    <a:lnT w="3175" cap="flat">
                      <a:solidFill>
                        <a:srgbClr val="E2DCCF"/>
                      </a:solidFill>
                    </a:lnT>
                  </a:tcPr>
                </a:tc>
                <a:tc>
                  <a:txBody>
                    <a:bodyPr wrap="square"/>
                    <a:lstStyle/>
                    <a:p>
                      <a:pPr algn="r"/>
                      <a:r>
                        <a:rPr sz="950" b="0">
                          <a:solidFill>
                            <a:srgbClr val="16130F"/>
                          </a:solidFill>
                          <a:latin typeface="Corbel"/>
                        </a:rPr>
                        <a:t>179.2 pts</a:t>
                      </a:r>
                    </a:p>
                  </a:txBody>
                  <a:tcPr marL="91440" marR="91440" marT="27432" marB="27432" anchor="ctr">
                    <a:noFill/>
                    <a:lnT w="3175" cap="flat">
                      <a:solidFill>
                        <a:srgbClr val="E2DCCF"/>
                      </a:solidFill>
                    </a:lnT>
                  </a:tcPr>
                </a:tc>
              </a:tr>
            </a:tbl>
          </a:graphicData>
        </a:graphic>
      </p:graphicFrame>
      <p:sp>
        <p:nvSpPr>
          <p:cNvPr id="12" name="TextBox 11"/>
          <p:cNvSpPr txBox="1"/>
          <p:nvPr/>
        </p:nvSpPr>
        <p:spPr>
          <a:xfrm>
            <a:off x="1298448" y="5632704"/>
            <a:ext cx="10344607" cy="457200"/>
          </a:xfrm>
          <a:prstGeom prst="rect">
            <a:avLst/>
          </a:prstGeom>
          <a:noFill/>
        </p:spPr>
        <p:txBody>
          <a:bodyPr wrap="square" lIns="0" rIns="0" tIns="0" bIns="0" anchor="t">
            <a:spAutoFit/>
          </a:bodyPr>
          <a:lstStyle/>
          <a:p>
            <a:pPr algn="l">
              <a:lnSpc>
                <a:spcPct val="125000"/>
              </a:lnSpc>
            </a:pPr>
            <a:r>
              <a:rPr sz="1100" b="0" i="0">
                <a:solidFill>
                  <a:srgbClr val="4A443C"/>
                </a:solidFill>
                <a:latin typeface="Corbel"/>
              </a:rPr>
              <a:t>Only Microsoft (t = 2.76) and NextEra (t = 3.14) clear the 1.96 threshold on their own; Costco misses it by a whisker at 1.95. The portfolio's alpha is more significant than any constituent's, which is the diversification benefit doing real statistical work.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42</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Appendix</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APPENDIX</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A4 · Complete factor-model output</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Coefficient, t-statistic and significance for every factor across all four models</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graphicFrame>
        <p:nvGraphicFramePr>
          <p:cNvPr id="11" name="Table 10"/>
          <p:cNvGraphicFramePr>
            <a:graphicFrameLocks noGrp="1"/>
          </p:cNvGraphicFramePr>
          <p:nvPr/>
        </p:nvGraphicFramePr>
        <p:xfrm>
          <a:off x="1298448" y="1682496"/>
          <a:ext cx="10344605" cy="4023360"/>
        </p:xfrm>
        <a:graphic>
          <a:graphicData uri="http://schemas.openxmlformats.org/drawingml/2006/table">
            <a:tbl>
              <a:tblPr>
                <a:tableStyleId>{5C22544A-7EE6-4342-B048-85BDC9FD1C3A}</a:tableStyleId>
              </a:tblPr>
              <a:tblGrid>
                <a:gridCol w="2482705"/>
                <a:gridCol w="1965475"/>
                <a:gridCol w="1965475"/>
                <a:gridCol w="1965475"/>
                <a:gridCol w="1965475"/>
              </a:tblGrid>
              <a:tr h="402336">
                <a:tc>
                  <a:txBody>
                    <a:bodyPr wrap="square"/>
                    <a:lstStyle/>
                    <a:p>
                      <a:pPr algn="l"/>
                      <a:r>
                        <a:rPr sz="850" b="1" spc="130">
                          <a:solidFill>
                            <a:srgbClr val="4A443C"/>
                          </a:solidFill>
                          <a:latin typeface="Corbel"/>
                        </a:rPr>
                        <a:t>FACTOR</a:t>
                      </a:r>
                    </a:p>
                  </a:txBody>
                  <a:tcPr marL="18288" marR="91440" marT="27432" marB="27432" anchor="ctr">
                    <a:noFill/>
                    <a:lnB w="6350" cap="flat">
                      <a:solidFill>
                        <a:srgbClr val="16130F"/>
                      </a:solidFill>
                    </a:lnB>
                  </a:tcPr>
                </a:tc>
                <a:tc>
                  <a:txBody>
                    <a:bodyPr wrap="square"/>
                    <a:lstStyle/>
                    <a:p>
                      <a:pPr algn="ctr"/>
                      <a:r>
                        <a:rPr sz="850" b="1" spc="130">
                          <a:solidFill>
                            <a:srgbClr val="4A443C"/>
                          </a:solidFill>
                          <a:latin typeface="Corbel"/>
                        </a:rPr>
                        <a:t>CAPM</a:t>
                      </a:r>
                    </a:p>
                  </a:txBody>
                  <a:tcPr marL="91440" marR="91440" marT="27432" marB="27432" anchor="ctr">
                    <a:noFill/>
                    <a:lnB w="6350" cap="flat">
                      <a:solidFill>
                        <a:srgbClr val="16130F"/>
                      </a:solidFill>
                    </a:lnB>
                  </a:tcPr>
                </a:tc>
                <a:tc>
                  <a:txBody>
                    <a:bodyPr wrap="square"/>
                    <a:lstStyle/>
                    <a:p>
                      <a:pPr algn="ctr"/>
                      <a:r>
                        <a:rPr sz="850" b="1" spc="130">
                          <a:solidFill>
                            <a:srgbClr val="4A443C"/>
                          </a:solidFill>
                          <a:latin typeface="Corbel"/>
                        </a:rPr>
                        <a:t>FAMA–FRENCH 3</a:t>
                      </a:r>
                    </a:p>
                  </a:txBody>
                  <a:tcPr marL="91440" marR="91440" marT="27432" marB="27432" anchor="ctr">
                    <a:noFill/>
                    <a:lnB w="6350" cap="flat">
                      <a:solidFill>
                        <a:srgbClr val="16130F"/>
                      </a:solidFill>
                    </a:lnB>
                  </a:tcPr>
                </a:tc>
                <a:tc>
                  <a:txBody>
                    <a:bodyPr wrap="square"/>
                    <a:lstStyle/>
                    <a:p>
                      <a:pPr algn="ctr"/>
                      <a:r>
                        <a:rPr sz="850" b="1" spc="130">
                          <a:solidFill>
                            <a:srgbClr val="4A443C"/>
                          </a:solidFill>
                          <a:latin typeface="Corbel"/>
                        </a:rPr>
                        <a:t>FAMA–FRENCH 5</a:t>
                      </a:r>
                    </a:p>
                  </a:txBody>
                  <a:tcPr marL="91440" marR="91440" marT="27432" marB="27432" anchor="ctr">
                    <a:noFill/>
                    <a:lnB w="6350" cap="flat">
                      <a:solidFill>
                        <a:srgbClr val="16130F"/>
                      </a:solidFill>
                    </a:lnB>
                  </a:tcPr>
                </a:tc>
                <a:tc>
                  <a:txBody>
                    <a:bodyPr wrap="square"/>
                    <a:lstStyle/>
                    <a:p>
                      <a:pPr algn="ctr"/>
                      <a:r>
                        <a:rPr sz="850" b="1" spc="130">
                          <a:solidFill>
                            <a:srgbClr val="4A443C"/>
                          </a:solidFill>
                          <a:latin typeface="Corbel"/>
                        </a:rPr>
                        <a:t>FF5 + MOMENTUM</a:t>
                      </a:r>
                    </a:p>
                  </a:txBody>
                  <a:tcPr marL="91440" marR="91440" marT="27432" marB="27432" anchor="ctr">
                    <a:noFill/>
                    <a:lnB w="6350" cap="flat">
                      <a:solidFill>
                        <a:srgbClr val="16130F"/>
                      </a:solidFill>
                    </a:lnB>
                  </a:tcPr>
                </a:tc>
              </a:tr>
              <a:tr h="402336">
                <a:tc>
                  <a:txBody>
                    <a:bodyPr wrap="square"/>
                    <a:lstStyle/>
                    <a:p>
                      <a:pPr algn="l"/>
                      <a:r>
                        <a:rPr sz="1000" b="1">
                          <a:solidFill>
                            <a:srgbClr val="16130F"/>
                          </a:solidFill>
                          <a:latin typeface="Corbel"/>
                        </a:rPr>
                        <a:t>Alpha (annualised)</a:t>
                      </a:r>
                    </a:p>
                  </a:txBody>
                  <a:tcPr marL="18288" marR="91440" marT="27432" marB="27432" anchor="ctr">
                    <a:noFill/>
                    <a:lnT w="3175" cap="flat">
                      <a:solidFill>
                        <a:srgbClr val="E2DCCF"/>
                      </a:solidFill>
                    </a:lnT>
                  </a:tcPr>
                </a:tc>
                <a:tc>
                  <a:txBody>
                    <a:bodyPr wrap="square"/>
                    <a:lstStyle/>
                    <a:p>
                      <a:pPr algn="ctr"/>
                      <a:r>
                        <a:rPr sz="1000" b="0">
                          <a:solidFill>
                            <a:srgbClr val="16130F"/>
                          </a:solidFill>
                          <a:latin typeface="Corbel"/>
                        </a:rPr>
                        <a:t>7.2%**
(t = 2.19)</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5.9%***
(t = 2.83)</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6.6%***
(t = 3.06)</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6.5%***
(t = 2.95)</a:t>
                      </a:r>
                    </a:p>
                  </a:txBody>
                  <a:tcPr marL="91440" marR="91440" marT="27432" marB="27432" anchor="ctr">
                    <a:noFill/>
                    <a:lnT w="3175" cap="flat">
                      <a:solidFill>
                        <a:srgbClr val="E2DCCF"/>
                      </a:solidFill>
                    </a:lnT>
                  </a:tcPr>
                </a:tc>
              </a:tr>
              <a:tr h="402336">
                <a:tc>
                  <a:txBody>
                    <a:bodyPr wrap="square"/>
                    <a:lstStyle/>
                    <a:p>
                      <a:pPr algn="l"/>
                      <a:r>
                        <a:rPr sz="1000" b="1">
                          <a:solidFill>
                            <a:srgbClr val="16130F"/>
                          </a:solidFill>
                          <a:latin typeface="Corbel"/>
                        </a:rPr>
                        <a:t>Market (Mkt-RF)</a:t>
                      </a:r>
                    </a:p>
                  </a:txBody>
                  <a:tcPr marL="18288" marR="91440" marT="27432" marB="27432" anchor="ctr">
                    <a:noFill/>
                    <a:lnT w="3175" cap="flat">
                      <a:solidFill>
                        <a:srgbClr val="E2DCCF"/>
                      </a:solidFill>
                    </a:lnT>
                  </a:tcPr>
                </a:tc>
                <a:tc>
                  <a:txBody>
                    <a:bodyPr wrap="square"/>
                    <a:lstStyle/>
                    <a:p>
                      <a:pPr algn="ctr"/>
                      <a:r>
                        <a:rPr sz="1000" b="0">
                          <a:solidFill>
                            <a:srgbClr val="16130F"/>
                          </a:solidFill>
                          <a:latin typeface="Corbel"/>
                        </a:rPr>
                        <a:t>+1.005***
(t = 15.75)</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+1.040***
(t = 25.66)</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+1.050***
(t = 29.16)</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+1.054***
(t = 25.88)</a:t>
                      </a:r>
                    </a:p>
                  </a:txBody>
                  <a:tcPr marL="91440" marR="91440" marT="27432" marB="27432" anchor="ctr">
                    <a:noFill/>
                    <a:lnT w="3175" cap="flat">
                      <a:solidFill>
                        <a:srgbClr val="E2DCCF"/>
                      </a:solidFill>
                    </a:lnT>
                  </a:tcPr>
                </a:tc>
              </a:tr>
              <a:tr h="402336">
                <a:tc>
                  <a:txBody>
                    <a:bodyPr wrap="square"/>
                    <a:lstStyle/>
                    <a:p>
                      <a:pPr algn="l"/>
                      <a:r>
                        <a:rPr sz="1000" b="1">
                          <a:solidFill>
                            <a:srgbClr val="16130F"/>
                          </a:solidFill>
                          <a:latin typeface="Corbel"/>
                        </a:rPr>
                        <a:t>Size (SMB)</a:t>
                      </a:r>
                    </a:p>
                  </a:txBody>
                  <a:tcPr marL="18288" marR="91440" marT="27432" marB="27432" anchor="ctr">
                    <a:noFill/>
                    <a:lnT w="3175" cap="flat">
                      <a:solidFill>
                        <a:srgbClr val="E2DCCF"/>
                      </a:solidFill>
                    </a:lnT>
                  </a:tcPr>
                </a:tc>
                <a:tc>
                  <a:txBody>
                    <a:bodyPr wrap="square"/>
                    <a:lstStyle/>
                    <a:p>
                      <a:pPr algn="ctr"/>
                      <a:r>
                        <a:rPr sz="1000" b="0">
                          <a:solidFill>
                            <a:srgbClr val="16130F"/>
                          </a:solidFill>
                          <a:latin typeface="Corbel"/>
                        </a:rPr>
                        <a:t>—</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-0.164**
(t = -2.30)</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-0.218***
(t = -3.01)</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-0.209**
(t = -2.50)</a:t>
                      </a:r>
                    </a:p>
                  </a:txBody>
                  <a:tcPr marL="91440" marR="91440" marT="27432" marB="27432" anchor="ctr">
                    <a:noFill/>
                    <a:lnT w="3175" cap="flat">
                      <a:solidFill>
                        <a:srgbClr val="E2DCCF"/>
                      </a:solidFill>
                    </a:lnT>
                  </a:tcPr>
                </a:tc>
              </a:tr>
              <a:tr h="402336">
                <a:tc>
                  <a:txBody>
                    <a:bodyPr wrap="square"/>
                    <a:lstStyle/>
                    <a:p>
                      <a:pPr algn="l"/>
                      <a:r>
                        <a:rPr sz="1000" b="1">
                          <a:solidFill>
                            <a:srgbClr val="16130F"/>
                          </a:solidFill>
                          <a:latin typeface="Corbel"/>
                        </a:rPr>
                        <a:t>Value (HML)</a:t>
                      </a:r>
                    </a:p>
                  </a:txBody>
                  <a:tcPr marL="18288" marR="91440" marT="27432" marB="27432" anchor="ctr">
                    <a:noFill/>
                    <a:lnT w="3175" cap="flat">
                      <a:solidFill>
                        <a:srgbClr val="E2DCCF"/>
                      </a:solidFill>
                    </a:lnT>
                  </a:tcPr>
                </a:tc>
                <a:tc>
                  <a:txBody>
                    <a:bodyPr wrap="square"/>
                    <a:lstStyle/>
                    <a:p>
                      <a:pPr algn="ctr"/>
                      <a:r>
                        <a:rPr sz="1000" b="0">
                          <a:solidFill>
                            <a:srgbClr val="16130F"/>
                          </a:solidFill>
                          <a:latin typeface="Corbel"/>
                        </a:rPr>
                        <a:t>—</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-0.236***
(t = -5.61)</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-0.191***
(t = -3.05)</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-0.184***
(t = -2.76)</a:t>
                      </a:r>
                    </a:p>
                  </a:txBody>
                  <a:tcPr marL="91440" marR="91440" marT="27432" marB="27432" anchor="ctr">
                    <a:noFill/>
                    <a:lnT w="3175" cap="flat">
                      <a:solidFill>
                        <a:srgbClr val="E2DCCF"/>
                      </a:solidFill>
                    </a:lnT>
                  </a:tcPr>
                </a:tc>
              </a:tr>
              <a:tr h="402336">
                <a:tc>
                  <a:txBody>
                    <a:bodyPr wrap="square"/>
                    <a:lstStyle/>
                    <a:p>
                      <a:pPr algn="l"/>
                      <a:r>
                        <a:rPr sz="1000" b="1">
                          <a:solidFill>
                            <a:srgbClr val="16130F"/>
                          </a:solidFill>
                          <a:latin typeface="Corbel"/>
                        </a:rPr>
                        <a:t>Profitability (RMW)</a:t>
                      </a:r>
                    </a:p>
                  </a:txBody>
                  <a:tcPr marL="18288" marR="91440" marT="27432" marB="27432" anchor="ctr">
                    <a:noFill/>
                    <a:lnT w="3175" cap="flat">
                      <a:solidFill>
                        <a:srgbClr val="E2DCCF"/>
                      </a:solidFill>
                    </a:lnT>
                  </a:tcPr>
                </a:tc>
                <a:tc>
                  <a:txBody>
                    <a:bodyPr wrap="square"/>
                    <a:lstStyle/>
                    <a:p>
                      <a:pPr algn="ctr"/>
                      <a:r>
                        <a:rPr sz="1000" b="0">
                          <a:solidFill>
                            <a:srgbClr val="16130F"/>
                          </a:solidFill>
                          <a:latin typeface="Corbel"/>
                        </a:rPr>
                        <a:t>—</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-0.111
(t = -1.30)</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-0.104
(t = -1.23)</a:t>
                      </a:r>
                    </a:p>
                  </a:txBody>
                  <a:tcPr marL="91440" marR="91440" marT="27432" marB="27432" anchor="ctr">
                    <a:noFill/>
                    <a:lnT w="3175" cap="flat">
                      <a:solidFill>
                        <a:srgbClr val="E2DCCF"/>
                      </a:solidFill>
                    </a:lnT>
                  </a:tcPr>
                </a:tc>
              </a:tr>
              <a:tr h="402336">
                <a:tc>
                  <a:txBody>
                    <a:bodyPr wrap="square"/>
                    <a:lstStyle/>
                    <a:p>
                      <a:pPr algn="l"/>
                      <a:r>
                        <a:rPr sz="1000" b="1">
                          <a:solidFill>
                            <a:srgbClr val="16130F"/>
                          </a:solidFill>
                          <a:latin typeface="Corbel"/>
                        </a:rPr>
                        <a:t>Investment (CMA)</a:t>
                      </a:r>
                    </a:p>
                  </a:txBody>
                  <a:tcPr marL="18288" marR="91440" marT="27432" marB="27432" anchor="ctr">
                    <a:noFill/>
                    <a:lnT w="3175" cap="flat">
                      <a:solidFill>
                        <a:srgbClr val="E2DCCF"/>
                      </a:solidFill>
                    </a:lnT>
                  </a:tcPr>
                </a:tc>
                <a:tc>
                  <a:txBody>
                    <a:bodyPr wrap="square"/>
                    <a:lstStyle/>
                    <a:p>
                      <a:pPr algn="ctr"/>
                      <a:r>
                        <a:rPr sz="1000" b="0">
                          <a:solidFill>
                            <a:srgbClr val="16130F"/>
                          </a:solidFill>
                          <a:latin typeface="Corbel"/>
                        </a:rPr>
                        <a:t>—</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-0.053
(t = -0.64)</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-0.060
(t = -0.72)</a:t>
                      </a:r>
                    </a:p>
                  </a:txBody>
                  <a:tcPr marL="91440" marR="91440" marT="27432" marB="27432" anchor="ctr">
                    <a:noFill/>
                    <a:lnT w="3175" cap="flat">
                      <a:solidFill>
                        <a:srgbClr val="E2DCCF"/>
                      </a:solidFill>
                    </a:lnT>
                  </a:tcPr>
                </a:tc>
              </a:tr>
              <a:tr h="402336">
                <a:tc>
                  <a:txBody>
                    <a:bodyPr wrap="square"/>
                    <a:lstStyle/>
                    <a:p>
                      <a:pPr algn="l"/>
                      <a:r>
                        <a:rPr sz="1000" b="1">
                          <a:solidFill>
                            <a:srgbClr val="16130F"/>
                          </a:solidFill>
                          <a:latin typeface="Corbel"/>
                        </a:rPr>
                        <a:t>Momentum (MOM)</a:t>
                      </a:r>
                    </a:p>
                  </a:txBody>
                  <a:tcPr marL="18288" marR="91440" marT="27432" marB="27432" anchor="ctr">
                    <a:noFill/>
                    <a:lnT w="3175" cap="flat">
                      <a:solidFill>
                        <a:srgbClr val="E2DCCF"/>
                      </a:solidFill>
                    </a:lnT>
                  </a:tcPr>
                </a:tc>
                <a:tc>
                  <a:txBody>
                    <a:bodyPr wrap="square"/>
                    <a:lstStyle/>
                    <a:p>
                      <a:pPr algn="ctr"/>
                      <a:r>
                        <a:rPr sz="1000" b="0">
                          <a:solidFill>
                            <a:srgbClr val="16130F"/>
                          </a:solidFill>
                          <a:latin typeface="Corbel"/>
                        </a:rPr>
                        <a:t>—</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+0.022
(t = 0.29)</a:t>
                      </a:r>
                    </a:p>
                  </a:txBody>
                  <a:tcPr marL="91440" marR="91440" marT="27432" marB="27432" anchor="ctr">
                    <a:noFill/>
                    <a:lnT w="3175" cap="flat">
                      <a:solidFill>
                        <a:srgbClr val="E2DCCF"/>
                      </a:solidFill>
                    </a:lnT>
                  </a:tcPr>
                </a:tc>
              </a:tr>
              <a:tr h="402336">
                <a:tc>
                  <a:txBody>
                    <a:bodyPr wrap="square"/>
                    <a:lstStyle/>
                    <a:p>
                      <a:pPr algn="l"/>
                      <a:r>
                        <a:rPr sz="1000" b="1">
                          <a:solidFill>
                            <a:srgbClr val="16130F"/>
                          </a:solidFill>
                          <a:latin typeface="Corbel"/>
                        </a:rPr>
                        <a:t>Adjusted R²</a:t>
                      </a:r>
                    </a:p>
                  </a:txBody>
                  <a:tcPr marL="18288" marR="91440" marT="27432" marB="27432" anchor="ctr">
                    <a:noFill/>
                    <a:lnT w="3175" cap="flat">
                      <a:solidFill>
                        <a:srgbClr val="E2DCCF"/>
                      </a:solidFill>
                    </a:lnT>
                  </a:tcPr>
                </a:tc>
                <a:tc>
                  <a:txBody>
                    <a:bodyPr wrap="square"/>
                    <a:lstStyle/>
                    <a:p>
                      <a:pPr algn="ctr"/>
                      <a:r>
                        <a:rPr sz="1000" b="0">
                          <a:solidFill>
                            <a:srgbClr val="16130F"/>
                          </a:solidFill>
                          <a:latin typeface="Corbel"/>
                        </a:rPr>
                        <a:t>0.872</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0.915</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0.914</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0.913</a:t>
                      </a:r>
                    </a:p>
                  </a:txBody>
                  <a:tcPr marL="91440" marR="91440" marT="27432" marB="27432" anchor="ctr">
                    <a:noFill/>
                    <a:lnT w="3175" cap="flat">
                      <a:solidFill>
                        <a:srgbClr val="E2DCCF"/>
                      </a:solidFill>
                    </a:lnT>
                  </a:tcPr>
                </a:tc>
              </a:tr>
              <a:tr h="402336">
                <a:tc>
                  <a:txBody>
                    <a:bodyPr wrap="square"/>
                    <a:lstStyle/>
                    <a:p>
                      <a:pPr algn="l"/>
                      <a:r>
                        <a:rPr sz="1000" b="1">
                          <a:solidFill>
                            <a:srgbClr val="16130F"/>
                          </a:solidFill>
                          <a:latin typeface="Corbel"/>
                        </a:rPr>
                        <a:t>Observations</a:t>
                      </a:r>
                    </a:p>
                  </a:txBody>
                  <a:tcPr marL="18288" marR="91440" marT="27432" marB="27432" anchor="ctr">
                    <a:noFill/>
                    <a:lnT w="3175" cap="flat">
                      <a:solidFill>
                        <a:srgbClr val="E2DCCF"/>
                      </a:solidFill>
                    </a:lnT>
                  </a:tcPr>
                </a:tc>
                <a:tc>
                  <a:txBody>
                    <a:bodyPr wrap="square"/>
                    <a:lstStyle/>
                    <a:p>
                      <a:pPr algn="ctr"/>
                      <a:r>
                        <a:rPr sz="1000" b="0">
                          <a:solidFill>
                            <a:srgbClr val="16130F"/>
                          </a:solidFill>
                          <a:latin typeface="Corbel"/>
                        </a:rPr>
                        <a:t>72</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72</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72</a:t>
                      </a:r>
                    </a:p>
                  </a:txBody>
                  <a:tcPr marL="91440" marR="91440" marT="27432" marB="27432" anchor="ctr">
                    <a:noFill/>
                    <a:lnT w="3175" cap="flat">
                      <a:solidFill>
                        <a:srgbClr val="E2DCCF"/>
                      </a:solidFill>
                    </a:lnT>
                  </a:tcPr>
                </a:tc>
                <a:tc>
                  <a:txBody>
                    <a:bodyPr wrap="square"/>
                    <a:lstStyle/>
                    <a:p>
                      <a:pPr algn="ctr"/>
                      <a:r>
                        <a:rPr sz="1000" b="0">
                          <a:solidFill>
                            <a:srgbClr val="16130F"/>
                          </a:solidFill>
                          <a:latin typeface="Corbel"/>
                        </a:rPr>
                        <a:t>72</a:t>
                      </a:r>
                    </a:p>
                  </a:txBody>
                  <a:tcPr marL="91440" marR="91440" marT="27432" marB="27432" anchor="ctr">
                    <a:noFill/>
                    <a:lnT w="3175" cap="flat">
                      <a:solidFill>
                        <a:srgbClr val="E2DCCF"/>
                      </a:solidFill>
                    </a:lnT>
                  </a:tcPr>
                </a:tc>
              </a:tr>
            </a:tbl>
          </a:graphicData>
        </a:graphic>
      </p:graphicFrame>
      <p:sp>
        <p:nvSpPr>
          <p:cNvPr id="12" name="TextBox 11"/>
          <p:cNvSpPr txBox="1"/>
          <p:nvPr/>
        </p:nvSpPr>
        <p:spPr>
          <a:xfrm>
            <a:off x="1298448" y="5577840"/>
            <a:ext cx="10344607" cy="457200"/>
          </a:xfrm>
          <a:prstGeom prst="rect">
            <a:avLst/>
          </a:prstGeom>
          <a:noFill/>
        </p:spPr>
        <p:txBody>
          <a:bodyPr wrap="square" lIns="0" rIns="0" tIns="0" bIns="0" anchor="t">
            <a:spAutoFit/>
          </a:bodyPr>
          <a:lstStyle/>
          <a:p>
            <a:pPr algn="l">
              <a:lnSpc>
                <a:spcPct val="125000"/>
              </a:lnSpc>
            </a:pPr>
            <a:r>
              <a:rPr sz="1000" b="0" i="0">
                <a:solidFill>
                  <a:srgbClr val="8C8478"/>
                </a:solidFill>
                <a:latin typeface="Corbel"/>
              </a:rPr>
              <a:t>*** significant at 1%   ** significant at 5%   * significant at 10%.  Newey–West heteroskedasticity- and autocorrelation-consistent standard errors, four lags. Dependent variable is the fund's monthly return in excess of the one-month Treasury bill rate.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43</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Appendix</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APPENDIX</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A5 · Correlation structure of the holdings</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Average pairwise correlation of 0.40, which is real diversification inside a single theme</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09_corr.png"/>
          <p:cNvPicPr>
            <a:picLocks noChangeAspect="1"/>
          </p:cNvPicPr>
          <p:nvPr/>
        </p:nvPicPr>
        <p:blipFill>
          <a:blip r:embed="rId2"/>
          <a:stretch>
            <a:fillRect/>
          </a:stretch>
        </p:blipFill>
        <p:spPr>
          <a:xfrm>
            <a:off x="3805142" y="1481328"/>
            <a:ext cx="5331218" cy="4663439"/>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44</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Appendix</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APPENDIX</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A6 · The risk–return map</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Every holding, the portfolio and both benchmarks on realised risk and return</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08_riskreturn.png"/>
          <p:cNvPicPr>
            <a:picLocks noChangeAspect="1"/>
          </p:cNvPicPr>
          <p:nvPr/>
        </p:nvPicPr>
        <p:blipFill>
          <a:blip r:embed="rId2"/>
          <a:stretch>
            <a:fillRect/>
          </a:stretch>
        </p:blipFill>
        <p:spPr>
          <a:xfrm>
            <a:off x="2358445" y="1481328"/>
            <a:ext cx="8224612" cy="4663439"/>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45</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Appendix</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APPENDIX</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A7 · The efficient frontier of our own holdings</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Where the fund actually landed against the best that was achievable ex post</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17_frontier.png"/>
          <p:cNvPicPr>
            <a:picLocks noChangeAspect="1"/>
          </p:cNvPicPr>
          <p:nvPr/>
        </p:nvPicPr>
        <p:blipFill>
          <a:blip r:embed="rId2"/>
          <a:stretch>
            <a:fillRect/>
          </a:stretch>
        </p:blipFill>
        <p:spPr>
          <a:xfrm>
            <a:off x="2358445" y="1481328"/>
            <a:ext cx="8224612" cy="4663439"/>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46</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Appendix</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APPENDIX</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A8 · Distribution comparison and dispersion</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How the fund's return distribution compares to its benchmarks, and the spread across individual holdings</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07_box.png"/>
          <p:cNvPicPr>
            <a:picLocks noChangeAspect="1"/>
          </p:cNvPicPr>
          <p:nvPr/>
        </p:nvPicPr>
        <p:blipFill>
          <a:blip r:embed="rId2"/>
          <a:stretch>
            <a:fillRect/>
          </a:stretch>
        </p:blipFill>
        <p:spPr>
          <a:xfrm>
            <a:off x="4049784" y="1536192"/>
            <a:ext cx="4841934" cy="2249422"/>
          </a:xfrm>
          <a:prstGeom prst="rect">
            <a:avLst/>
          </a:prstGeom>
        </p:spPr>
      </p:pic>
      <p:pic>
        <p:nvPicPr>
          <p:cNvPr id="12" name="Picture 11" descr="32_spaghetti.png"/>
          <p:cNvPicPr>
            <a:picLocks noChangeAspect="1"/>
          </p:cNvPicPr>
          <p:nvPr/>
        </p:nvPicPr>
        <p:blipFill>
          <a:blip r:embed="rId3"/>
          <a:stretch>
            <a:fillRect/>
          </a:stretch>
        </p:blipFill>
        <p:spPr>
          <a:xfrm>
            <a:off x="4253962" y="3895344"/>
            <a:ext cx="4433579" cy="2249423"/>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47</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Appendix</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APPENDIX</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A9 · Rolling beta and volatility</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Stability of the fund's market exposure and total risk through the sample</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16_rolling_beta.png"/>
          <p:cNvPicPr>
            <a:picLocks noChangeAspect="1"/>
          </p:cNvPicPr>
          <p:nvPr/>
        </p:nvPicPr>
        <p:blipFill>
          <a:blip r:embed="rId2"/>
          <a:stretch>
            <a:fillRect/>
          </a:stretch>
        </p:blipFill>
        <p:spPr>
          <a:xfrm>
            <a:off x="3919310" y="1536192"/>
            <a:ext cx="5102883" cy="2249422"/>
          </a:xfrm>
          <a:prstGeom prst="rect">
            <a:avLst/>
          </a:prstGeom>
        </p:spPr>
      </p:pic>
      <p:pic>
        <p:nvPicPr>
          <p:cNvPr id="12" name="Picture 11" descr="30_rolling_vol.png"/>
          <p:cNvPicPr>
            <a:picLocks noChangeAspect="1"/>
          </p:cNvPicPr>
          <p:nvPr/>
        </p:nvPicPr>
        <p:blipFill>
          <a:blip r:embed="rId3"/>
          <a:stretch>
            <a:fillRect/>
          </a:stretch>
        </p:blipFill>
        <p:spPr>
          <a:xfrm>
            <a:off x="3882943" y="3895344"/>
            <a:ext cx="5175616" cy="2249423"/>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48</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Appendix</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APPENDIX</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A10 · Month-of-year seasonality and the fee comparison</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Supporting detail on the seasonality discussion and the fee benchmarking</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pic>
        <p:nvPicPr>
          <p:cNvPr id="11" name="Picture 10" descr="11_month_avg.png"/>
          <p:cNvPicPr>
            <a:picLocks noChangeAspect="1"/>
          </p:cNvPicPr>
          <p:nvPr/>
        </p:nvPicPr>
        <p:blipFill>
          <a:blip r:embed="rId2"/>
          <a:stretch>
            <a:fillRect/>
          </a:stretch>
        </p:blipFill>
        <p:spPr>
          <a:xfrm>
            <a:off x="3954175" y="1554480"/>
            <a:ext cx="5033152" cy="2249423"/>
          </a:xfrm>
          <a:prstGeom prst="rect">
            <a:avLst/>
          </a:prstGeom>
        </p:spPr>
      </p:pic>
      <p:graphicFrame>
        <p:nvGraphicFramePr>
          <p:cNvPr id="12" name="Table 11"/>
          <p:cNvGraphicFramePr>
            <a:graphicFrameLocks noGrp="1"/>
          </p:cNvGraphicFramePr>
          <p:nvPr/>
        </p:nvGraphicFramePr>
        <p:xfrm>
          <a:off x="1298448" y="3986784"/>
          <a:ext cx="10344606" cy="1554480"/>
        </p:xfrm>
        <a:graphic>
          <a:graphicData uri="http://schemas.openxmlformats.org/drawingml/2006/table">
            <a:tbl>
              <a:tblPr>
                <a:tableStyleId>{5C22544A-7EE6-4342-B048-85BDC9FD1C3A}</a:tableStyleId>
              </a:tblPr>
              <a:tblGrid>
                <a:gridCol w="3103382"/>
                <a:gridCol w="1551691"/>
                <a:gridCol w="1965475"/>
                <a:gridCol w="1758583"/>
                <a:gridCol w="1965475"/>
              </a:tblGrid>
              <a:tr h="310896">
                <a:tc>
                  <a:txBody>
                    <a:bodyPr wrap="square"/>
                    <a:lstStyle/>
                    <a:p>
                      <a:pPr algn="l"/>
                      <a:r>
                        <a:rPr sz="900" b="1" spc="130">
                          <a:solidFill>
                            <a:srgbClr val="4A443C"/>
                          </a:solidFill>
                          <a:latin typeface="Corbel"/>
                        </a:rPr>
                        <a:t>COMPARATOR</a:t>
                      </a:r>
                    </a:p>
                  </a:txBody>
                  <a:tcPr marL="18288" marR="91440" marT="27432" marB="27432" anchor="ctr">
                    <a:noFill/>
                    <a:lnB w="6350" cap="flat">
                      <a:solidFill>
                        <a:srgbClr val="16130F"/>
                      </a:solidFill>
                    </a:lnB>
                  </a:tcPr>
                </a:tc>
                <a:tc>
                  <a:txBody>
                    <a:bodyPr wrap="square"/>
                    <a:lstStyle/>
                    <a:p>
                      <a:pPr algn="r"/>
                      <a:r>
                        <a:rPr sz="900" b="1" spc="130">
                          <a:solidFill>
                            <a:srgbClr val="4A443C"/>
                          </a:solidFill>
                          <a:latin typeface="Corbel"/>
                        </a:rPr>
                        <a:t>FEE P.A.</a:t>
                      </a:r>
                    </a:p>
                  </a:txBody>
                  <a:tcPr marL="91440" marR="91440" marT="27432" marB="27432" anchor="ctr">
                    <a:noFill/>
                    <a:lnB w="6350" cap="flat">
                      <a:solidFill>
                        <a:srgbClr val="16130F"/>
                      </a:solidFill>
                    </a:lnB>
                  </a:tcPr>
                </a:tc>
                <a:tc>
                  <a:txBody>
                    <a:bodyPr wrap="square"/>
                    <a:lstStyle/>
                    <a:p>
                      <a:pPr algn="r"/>
                      <a:r>
                        <a:rPr sz="900" b="1" spc="130">
                          <a:solidFill>
                            <a:srgbClr val="4A443C"/>
                          </a:solidFill>
                          <a:latin typeface="Corbel"/>
                        </a:rPr>
                        <a:t>6-YEAR FEE ON $100M</a:t>
                      </a:r>
                    </a:p>
                  </a:txBody>
                  <a:tcPr marL="91440" marR="91440" marT="27432" marB="27432" anchor="ctr">
                    <a:noFill/>
                    <a:lnB w="6350" cap="flat">
                      <a:solidFill>
                        <a:srgbClr val="16130F"/>
                      </a:solidFill>
                    </a:lnB>
                  </a:tcPr>
                </a:tc>
                <a:tc>
                  <a:txBody>
                    <a:bodyPr wrap="square"/>
                    <a:lstStyle/>
                    <a:p>
                      <a:pPr algn="r"/>
                      <a:r>
                        <a:rPr sz="900" b="1" spc="130">
                          <a:solidFill>
                            <a:srgbClr val="4A443C"/>
                          </a:solidFill>
                          <a:latin typeface="Corbel"/>
                        </a:rPr>
                        <a:t>RETURN DELIVERED</a:t>
                      </a:r>
                    </a:p>
                  </a:txBody>
                  <a:tcPr marL="91440" marR="91440" marT="27432" marB="27432" anchor="ctr">
                    <a:noFill/>
                    <a:lnB w="6350" cap="flat">
                      <a:solidFill>
                        <a:srgbClr val="16130F"/>
                      </a:solidFill>
                    </a:lnB>
                  </a:tcPr>
                </a:tc>
                <a:tc>
                  <a:txBody>
                    <a:bodyPr wrap="square"/>
                    <a:lstStyle/>
                    <a:p>
                      <a:pPr algn="r"/>
                      <a:r>
                        <a:rPr sz="900" b="1" spc="130">
                          <a:solidFill>
                            <a:srgbClr val="4A443C"/>
                          </a:solidFill>
                          <a:latin typeface="Corbel"/>
                        </a:rPr>
                        <a:t>TERMINAL VALUE</a:t>
                      </a:r>
                    </a:p>
                  </a:txBody>
                  <a:tcPr marL="91440" marR="91440" marT="27432" marB="27432" anchor="ctr">
                    <a:noFill/>
                    <a:lnB w="6350" cap="flat">
                      <a:solidFill>
                        <a:srgbClr val="16130F"/>
                      </a:solidFill>
                    </a:lnB>
                  </a:tcPr>
                </a:tc>
              </a:tr>
              <a:tr h="310896">
                <a:tc>
                  <a:txBody>
                    <a:bodyPr wrap="square"/>
                    <a:lstStyle/>
                    <a:p>
                      <a:pPr algn="l"/>
                      <a:r>
                        <a:rPr sz="1050" b="1">
                          <a:solidFill>
                            <a:srgbClr val="16130F"/>
                          </a:solidFill>
                          <a:latin typeface="Corbel"/>
                        </a:rPr>
                        <a:t>Passive S&amp;P 500 ETF (SPY)</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0.0945%</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$0.57m</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90%</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$190m</a:t>
                      </a:r>
                    </a:p>
                  </a:txBody>
                  <a:tcPr marL="91440" marR="91440" marT="27432" marB="27432" anchor="ctr">
                    <a:noFill/>
                    <a:lnT w="3175" cap="flat">
                      <a:solidFill>
                        <a:srgbClr val="E2DCCF"/>
                      </a:solidFill>
                    </a:lnT>
                  </a:tcPr>
                </a:tc>
              </a:tr>
              <a:tr h="310896">
                <a:tc>
                  <a:txBody>
                    <a:bodyPr wrap="square"/>
                    <a:lstStyle/>
                    <a:p>
                      <a:pPr algn="l"/>
                      <a:r>
                        <a:rPr sz="1050" b="1">
                          <a:solidFill>
                            <a:srgbClr val="16130F"/>
                          </a:solidFill>
                          <a:latin typeface="Corbel"/>
                        </a:rPr>
                        <a:t>Passive NASDAQ-100 ETF (QQQ)</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0.20%</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$1.20m</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135%</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$235m</a:t>
                      </a:r>
                    </a:p>
                  </a:txBody>
                  <a:tcPr marL="91440" marR="91440" marT="27432" marB="27432" anchor="ctr">
                    <a:noFill/>
                    <a:lnT w="3175" cap="flat">
                      <a:solidFill>
                        <a:srgbClr val="E2DCCF"/>
                      </a:solidFill>
                    </a:lnT>
                  </a:tcPr>
                </a:tc>
              </a:tr>
              <a:tr h="310896">
                <a:tc>
                  <a:txBody>
                    <a:bodyPr wrap="square"/>
                    <a:lstStyle/>
                    <a:p>
                      <a:pPr algn="l"/>
                      <a:r>
                        <a:rPr sz="1050" b="1">
                          <a:solidFill>
                            <a:srgbClr val="16130F"/>
                          </a:solidFill>
                          <a:latin typeface="Corbel"/>
                        </a:rPr>
                        <a:t>Typical active equity fund</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1.25%</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$7.50m</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a:t>
                      </a:r>
                    </a:p>
                  </a:txBody>
                  <a:tcPr marL="91440" marR="91440" marT="27432" marB="27432" anchor="ctr">
                    <a:noFill/>
                    <a:lnT w="3175" cap="flat">
                      <a:solidFill>
                        <a:srgbClr val="E2DCCF"/>
                      </a:solidFill>
                    </a:lnT>
                  </a:tcPr>
                </a:tc>
              </a:tr>
              <a:tr h="310896">
                <a:tc>
                  <a:txBody>
                    <a:bodyPr wrap="square"/>
                    <a:lstStyle/>
                    <a:p>
                      <a:pPr algn="l"/>
                      <a:r>
                        <a:rPr sz="1050" b="1">
                          <a:solidFill>
                            <a:srgbClr val="16130F"/>
                          </a:solidFill>
                          <a:latin typeface="Corbel"/>
                        </a:rPr>
                        <a:t>Northpoint Digital Innovation Fund</a:t>
                      </a:r>
                    </a:p>
                  </a:txBody>
                  <a:tcPr marL="18288" marR="91440" marT="27432" marB="27432" anchor="ctr">
                    <a:noFill/>
                    <a:lnT w="3175" cap="flat">
                      <a:solidFill>
                        <a:srgbClr val="E2DCCF"/>
                      </a:solidFill>
                    </a:lnT>
                  </a:tcPr>
                </a:tc>
                <a:tc>
                  <a:txBody>
                    <a:bodyPr wrap="square"/>
                    <a:lstStyle/>
                    <a:p>
                      <a:pPr algn="r"/>
                      <a:r>
                        <a:rPr sz="1050" b="0">
                          <a:solidFill>
                            <a:srgbClr val="16130F"/>
                          </a:solidFill>
                          <a:latin typeface="Corbel"/>
                        </a:rPr>
                        <a:t>1.15% all-in</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$6.90m</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179%</a:t>
                      </a:r>
                    </a:p>
                  </a:txBody>
                  <a:tcPr marL="91440" marR="91440" marT="27432" marB="27432" anchor="ctr">
                    <a:noFill/>
                    <a:lnT w="3175" cap="flat">
                      <a:solidFill>
                        <a:srgbClr val="E2DCCF"/>
                      </a:solidFill>
                    </a:lnT>
                  </a:tcPr>
                </a:tc>
                <a:tc>
                  <a:txBody>
                    <a:bodyPr wrap="square"/>
                    <a:lstStyle/>
                    <a:p>
                      <a:pPr algn="r"/>
                      <a:r>
                        <a:rPr sz="1050" b="0">
                          <a:solidFill>
                            <a:srgbClr val="16130F"/>
                          </a:solidFill>
                          <a:latin typeface="Corbel"/>
                        </a:rPr>
                        <a:t>$279m</a:t>
                      </a:r>
                    </a:p>
                  </a:txBody>
                  <a:tcPr marL="91440" marR="91440" marT="27432" marB="27432" anchor="ctr">
                    <a:noFill/>
                    <a:lnT w="3175" cap="flat">
                      <a:solidFill>
                        <a:srgbClr val="E2DCCF"/>
                      </a:solidFill>
                    </a:lnT>
                  </a:tcPr>
                </a:tc>
              </a:tr>
            </a:tbl>
          </a:graphicData>
        </a:graphic>
      </p:graphicFrame>
      <p:sp>
        <p:nvSpPr>
          <p:cNvPr id="13" name="TextBox 12"/>
          <p:cNvSpPr txBox="1"/>
          <p:nvPr/>
        </p:nvSpPr>
        <p:spPr>
          <a:xfrm>
            <a:off x="1298448" y="5650992"/>
            <a:ext cx="10344607" cy="457200"/>
          </a:xfrm>
          <a:prstGeom prst="rect">
            <a:avLst/>
          </a:prstGeom>
          <a:noFill/>
        </p:spPr>
        <p:txBody>
          <a:bodyPr wrap="square" lIns="0" rIns="0" tIns="0" bIns="0" anchor="t">
            <a:spAutoFit/>
          </a:bodyPr>
          <a:lstStyle/>
          <a:p>
            <a:pPr algn="l">
              <a:lnSpc>
                <a:spcPct val="125000"/>
              </a:lnSpc>
            </a:pPr>
            <a:r>
              <a:rPr sz="1100" b="0" i="0">
                <a:solidFill>
                  <a:srgbClr val="4A443C"/>
                </a:solidFill>
                <a:latin typeface="Corbel"/>
              </a:rPr>
              <a:t>Fees are calculated on a static $100m for comparability. Northpoint's all-in load of 1.15% sits 0.95 points above a passive NASDAQ-100 ETF, which costs $5.7m more over six years. The fund delivered $44.4m of additional terminal value, so investors kept $38.7m after paying for active management.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1024128" y="402336"/>
            <a:ext cx="9144" cy="5779008"/>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365760"/>
            <a:ext cx="603504" cy="457200"/>
          </a:xfrm>
          <a:prstGeom prst="rect">
            <a:avLst/>
          </a:prstGeom>
          <a:noFill/>
        </p:spPr>
        <p:txBody>
          <a:bodyPr wrap="square" lIns="0" rIns="0" tIns="0" bIns="0" anchor="t">
            <a:spAutoFit/>
          </a:bodyPr>
          <a:lstStyle/>
          <a:p>
            <a:pPr algn="r">
              <a:lnSpc>
                <a:spcPct val="105000"/>
              </a:lnSpc>
            </a:pPr>
            <a:r>
              <a:rPr sz="1900" b="0" i="0">
                <a:solidFill>
                  <a:srgbClr val="8C8478"/>
                </a:solidFill>
                <a:latin typeface="Georgia"/>
              </a:rPr>
              <a:t>49</a:t>
            </a:r>
          </a:p>
        </p:txBody>
      </p:sp>
      <p:sp>
        <p:nvSpPr>
          <p:cNvPr id="4" name="TextBox 3"/>
          <p:cNvSpPr txBox="1"/>
          <p:nvPr/>
        </p:nvSpPr>
        <p:spPr>
          <a:xfrm>
            <a:off x="146304" y="841248"/>
            <a:ext cx="768096" cy="1828800"/>
          </a:xfrm>
          <a:prstGeom prst="rect">
            <a:avLst/>
          </a:prstGeom>
          <a:noFill/>
        </p:spPr>
        <p:txBody>
          <a:bodyPr wrap="square" lIns="0" rIns="0" tIns="0" bIns="0" anchor="t">
            <a:spAutoFit/>
          </a:bodyPr>
          <a:lstStyle/>
          <a:p>
            <a:pPr algn="r">
              <a:lnSpc>
                <a:spcPct val="128000"/>
              </a:lnSpc>
            </a:pPr>
            <a:r>
              <a:rPr sz="800" b="0" i="0">
                <a:solidFill>
                  <a:srgbClr val="8C8478"/>
                </a:solidFill>
                <a:latin typeface="Corbel"/>
              </a:rPr>
              <a:t>Appendix</a:t>
            </a:r>
          </a:p>
        </p:txBody>
      </p:sp>
      <p:sp>
        <p:nvSpPr>
          <p:cNvPr id="5" name="TextBox 4"/>
          <p:cNvSpPr txBox="1"/>
          <p:nvPr/>
        </p:nvSpPr>
        <p:spPr>
          <a:xfrm>
            <a:off x="1298448" y="475488"/>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APPENDIX</a:t>
            </a:r>
          </a:p>
        </p:txBody>
      </p:sp>
      <p:sp>
        <p:nvSpPr>
          <p:cNvPr id="6" name="TextBox 5"/>
          <p:cNvSpPr txBox="1"/>
          <p:nvPr/>
        </p:nvSpPr>
        <p:spPr>
          <a:xfrm>
            <a:off x="1298448" y="749808"/>
            <a:ext cx="10344607" cy="566928"/>
          </a:xfrm>
          <a:prstGeom prst="rect">
            <a:avLst/>
          </a:prstGeom>
          <a:noFill/>
        </p:spPr>
        <p:txBody>
          <a:bodyPr wrap="square" lIns="0" rIns="0" tIns="0" bIns="0" anchor="t">
            <a:spAutoFit/>
          </a:bodyPr>
          <a:lstStyle/>
          <a:p>
            <a:pPr algn="l">
              <a:lnSpc>
                <a:spcPct val="102000"/>
              </a:lnSpc>
            </a:pPr>
            <a:r>
              <a:rPr sz="2600" b="0" i="0">
                <a:solidFill>
                  <a:srgbClr val="16130F"/>
                </a:solidFill>
                <a:latin typeface="Georgia"/>
              </a:rPr>
              <a:t>A11 · References and declarations</a:t>
            </a:r>
          </a:p>
        </p:txBody>
      </p:sp>
      <p:sp>
        <p:nvSpPr>
          <p:cNvPr id="7" name="TextBox 6"/>
          <p:cNvSpPr txBox="1"/>
          <p:nvPr/>
        </p:nvSpPr>
        <p:spPr>
          <a:xfrm>
            <a:off x="1298448" y="1188720"/>
            <a:ext cx="9978847" cy="402336"/>
          </a:xfrm>
          <a:prstGeom prst="rect">
            <a:avLst/>
          </a:prstGeom>
          <a:noFill/>
        </p:spPr>
        <p:txBody>
          <a:bodyPr wrap="square" lIns="0" rIns="0" tIns="0" bIns="0" anchor="t">
            <a:spAutoFit/>
          </a:bodyPr>
          <a:lstStyle/>
          <a:p>
            <a:pPr algn="l">
              <a:lnSpc>
                <a:spcPct val="122000"/>
              </a:lnSpc>
            </a:pPr>
            <a:r>
              <a:rPr sz="1250" b="0" i="0">
                <a:solidFill>
                  <a:srgbClr val="4A443C"/>
                </a:solidFill>
                <a:latin typeface="Corbel"/>
              </a:rPr>
              <a:t>Sources, academic references, and the required statement on the use of generative AI</a:t>
            </a:r>
          </a:p>
        </p:txBody>
      </p:sp>
      <p:sp>
        <p:nvSpPr>
          <p:cNvPr id="8" name="Rectangle 7"/>
          <p:cNvSpPr/>
          <p:nvPr/>
        </p:nvSpPr>
        <p:spPr>
          <a:xfrm>
            <a:off x="1298448" y="6437376"/>
            <a:ext cx="10344607" cy="9144"/>
          </a:xfrm>
          <a:prstGeom prst="rect">
            <a:avLst/>
          </a:prstGeom>
          <a:solidFill>
            <a:srgbClr val="E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6528816"/>
            <a:ext cx="8686800" cy="237744"/>
          </a:xfrm>
          <a:prstGeom prst="rect">
            <a:avLst/>
          </a:prstGeom>
          <a:noFill/>
        </p:spPr>
        <p:txBody>
          <a:bodyPr wrap="square" lIns="0" rIns="0" tIns="0" bIns="0" anchor="t">
            <a:spAutoFit/>
          </a:bodyPr>
          <a:lstStyle/>
          <a:p>
            <a:pPr algn="l">
              <a:lnSpc>
                <a:spcPct val="105000"/>
              </a:lnSpc>
            </a:pPr>
            <a:r>
              <a:rPr sz="750" b="0" i="0" spc="120">
                <a:solidFill>
                  <a:srgbClr val="8C8478"/>
                </a:solidFill>
                <a:latin typeface="Corbel"/>
              </a:rPr>
              <a:t>NORTHPOINT DIGITAL INNOVATION FUND</a:t>
            </a:r>
          </a:p>
        </p:txBody>
      </p:sp>
      <p:sp>
        <p:nvSpPr>
          <p:cNvPr id="10" name="TextBox 9"/>
          <p:cNvSpPr txBox="1"/>
          <p:nvPr/>
        </p:nvSpPr>
        <p:spPr>
          <a:xfrm>
            <a:off x="8716975" y="6528816"/>
            <a:ext cx="2926080" cy="237744"/>
          </a:xfrm>
          <a:prstGeom prst="rect">
            <a:avLst/>
          </a:prstGeom>
          <a:noFill/>
        </p:spPr>
        <p:txBody>
          <a:bodyPr wrap="square" lIns="0" rIns="0" tIns="0" bIns="0" anchor="t">
            <a:spAutoFit/>
          </a:bodyPr>
          <a:lstStyle/>
          <a:p>
            <a:pPr algn="r">
              <a:lnSpc>
                <a:spcPct val="105000"/>
              </a:lnSpc>
            </a:pPr>
            <a:r>
              <a:rPr sz="750" b="0" i="0">
                <a:solidFill>
                  <a:srgbClr val="8C8478"/>
                </a:solidFill>
                <a:latin typeface="Corbel"/>
              </a:rPr>
              <a:t>Six-year review · Jan 2017 – Dec 2022</a:t>
            </a:r>
          </a:p>
        </p:txBody>
      </p:sp>
      <p:sp>
        <p:nvSpPr>
          <p:cNvPr id="11" name="Rectangle 10"/>
          <p:cNvSpPr/>
          <p:nvPr/>
        </p:nvSpPr>
        <p:spPr>
          <a:xfrm>
            <a:off x="1298448" y="1645920"/>
            <a:ext cx="5637810" cy="20116"/>
          </a:xfrm>
          <a:prstGeom prst="rect">
            <a:avLst/>
          </a:prstGeom>
          <a:solidFill>
            <a:srgbClr val="007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98448" y="1773936"/>
            <a:ext cx="8229600" cy="219456"/>
          </a:xfrm>
          <a:prstGeom prst="rect">
            <a:avLst/>
          </a:prstGeom>
          <a:noFill/>
        </p:spPr>
        <p:txBody>
          <a:bodyPr wrap="square" lIns="0" rIns="0" tIns="0" bIns="0" anchor="t">
            <a:spAutoFit/>
          </a:bodyPr>
          <a:lstStyle/>
          <a:p>
            <a:pPr algn="l">
              <a:lnSpc>
                <a:spcPct val="105000"/>
              </a:lnSpc>
            </a:pPr>
            <a:r>
              <a:rPr sz="950" b="1" i="0" spc="160">
                <a:solidFill>
                  <a:srgbClr val="00736A"/>
                </a:solidFill>
                <a:latin typeface="Corbel"/>
              </a:rPr>
              <a:t>REFERENCES</a:t>
            </a:r>
          </a:p>
        </p:txBody>
      </p:sp>
      <p:sp>
        <p:nvSpPr>
          <p:cNvPr id="13" name="TextBox 12"/>
          <p:cNvSpPr txBox="1"/>
          <p:nvPr/>
        </p:nvSpPr>
        <p:spPr>
          <a:xfrm>
            <a:off x="1298448" y="2103120"/>
            <a:ext cx="5363490" cy="3657600"/>
          </a:xfrm>
          <a:prstGeom prst="rect">
            <a:avLst/>
          </a:prstGeom>
          <a:noFill/>
        </p:spPr>
        <p:txBody>
          <a:bodyPr wrap="square" lIns="0" rIns="0" tIns="0" bIns="0" anchor="t">
            <a:spAutoFit/>
          </a:bodyPr>
          <a:lstStyle/>
          <a:p>
            <a:pPr algn="l">
              <a:lnSpc>
                <a:spcPct val="136000"/>
              </a:lnSpc>
            </a:pPr>
            <a:r>
              <a:rPr sz="900" b="0" i="0">
                <a:solidFill>
                  <a:srgbClr val="4A443C"/>
                </a:solidFill>
                <a:latin typeface="Corbel"/>
              </a:rPr>
              <a:t>Brinson, G. P., Hood, L. R., &amp; Beebower, G. L. (1986). Determinants of portfolio performance. Financial Analysts Journal, 42(4), 39–44.</a:t>
            </a:r>
          </a:p>
          <a:p>
            <a:pPr algn="l">
              <a:lnSpc>
                <a:spcPct val="136000"/>
              </a:lnSpc>
            </a:pPr>
            <a:r>
              <a:rPr sz="900" b="0" i="0">
                <a:solidFill>
                  <a:srgbClr val="4A443C"/>
                </a:solidFill>
                <a:latin typeface="Corbel"/>
              </a:rPr>
              <a:t>DeMiguel, V., Garlappi, L., &amp; Uppal, R. (2009). Optimal versus naive diversification. The Review of Financial Studies, 22(5), 1915–1953.</a:t>
            </a:r>
          </a:p>
          <a:p>
            <a:pPr algn="l">
              <a:lnSpc>
                <a:spcPct val="136000"/>
              </a:lnSpc>
            </a:pPr>
            <a:r>
              <a:rPr sz="900" b="0" i="0">
                <a:solidFill>
                  <a:srgbClr val="4A443C"/>
                </a:solidFill>
                <a:latin typeface="Corbel"/>
              </a:rPr>
              <a:t>Fama, E. F., &amp; French, K. R. (1993). Common risk factors in the returns on stocks and bonds. Journal of Financial Economics, 33(1), 3–56.</a:t>
            </a:r>
          </a:p>
          <a:p>
            <a:pPr algn="l">
              <a:lnSpc>
                <a:spcPct val="136000"/>
              </a:lnSpc>
            </a:pPr>
            <a:r>
              <a:rPr sz="900" b="0" i="0">
                <a:solidFill>
                  <a:srgbClr val="4A443C"/>
                </a:solidFill>
                <a:latin typeface="Corbel"/>
              </a:rPr>
              <a:t>Fama, E. F., &amp; French, K. R. (2015). A five-factor asset pricing model. Journal of Financial Economics, 116(1), 1–22.</a:t>
            </a:r>
          </a:p>
          <a:p>
            <a:pPr algn="l">
              <a:lnSpc>
                <a:spcPct val="136000"/>
              </a:lnSpc>
            </a:pPr>
            <a:r>
              <a:rPr sz="900" b="0" i="0">
                <a:solidFill>
                  <a:srgbClr val="4A443C"/>
                </a:solidFill>
                <a:latin typeface="Corbel"/>
              </a:rPr>
              <a:t>Jensen, M. C. (1968). The performance of mutual funds in the period 1945–1964. The Journal of Finance, 23(2), 389–416.</a:t>
            </a:r>
          </a:p>
          <a:p>
            <a:pPr algn="l">
              <a:lnSpc>
                <a:spcPct val="136000"/>
              </a:lnSpc>
            </a:pPr>
            <a:r>
              <a:rPr sz="900" b="0" i="0">
                <a:solidFill>
                  <a:srgbClr val="4A443C"/>
                </a:solidFill>
                <a:latin typeface="Corbel"/>
              </a:rPr>
              <a:t>Markowitz, H. (1952). Portfolio selection. The Journal of Finance, 7(1), 77–91.</a:t>
            </a:r>
          </a:p>
          <a:p>
            <a:pPr algn="l">
              <a:lnSpc>
                <a:spcPct val="136000"/>
              </a:lnSpc>
            </a:pPr>
            <a:r>
              <a:rPr sz="900" b="0" i="0">
                <a:solidFill>
                  <a:srgbClr val="4A443C"/>
                </a:solidFill>
                <a:latin typeface="Corbel"/>
              </a:rPr>
              <a:t>Newey, W. K., &amp; West, K. D. (1987). A simple, positive semi-definite, heteroskedasticity and autocorrelation consistent covariance matrix. Econometrica, 55(3), 703–708.</a:t>
            </a:r>
          </a:p>
          <a:p>
            <a:pPr algn="l">
              <a:lnSpc>
                <a:spcPct val="136000"/>
              </a:lnSpc>
            </a:pPr>
            <a:r>
              <a:rPr sz="900" b="0" i="0">
                <a:solidFill>
                  <a:srgbClr val="4A443C"/>
                </a:solidFill>
                <a:latin typeface="Corbel"/>
              </a:rPr>
              <a:t>Sharpe, W. F. (1966). Mutual fund performance. The Journal of Business, 39(1), 119–138.</a:t>
            </a:r>
          </a:p>
          <a:p>
            <a:pPr algn="l">
              <a:lnSpc>
                <a:spcPct val="136000"/>
              </a:lnSpc>
            </a:pPr>
            <a:r>
              <a:rPr sz="900" b="0" i="0">
                <a:solidFill>
                  <a:srgbClr val="4A443C"/>
                </a:solidFill>
                <a:latin typeface="Corbel"/>
              </a:rPr>
              <a:t>Sortino, F. A., &amp; Price, L. N. (1994). Performance measurement in a downside risk framework. The Journal of Investing, 3(3), 59–64.</a:t>
            </a:r>
          </a:p>
          <a:p>
            <a:pPr algn="l">
              <a:lnSpc>
                <a:spcPct val="136000"/>
              </a:lnSpc>
            </a:pPr>
            <a:r>
              <a:rPr sz="900" b="0" i="0">
                <a:solidFill>
                  <a:srgbClr val="4A443C"/>
                </a:solidFill>
                <a:latin typeface="Corbel"/>
              </a:rPr>
              <a:t>Treynor, J. L. (1965). How to rate management of investment funds. Harvard Business Review, 43(1), 63–75.</a:t>
            </a:r>
          </a:p>
          <a:p>
            <a:pPr algn="l">
              <a:lnSpc>
                <a:spcPct val="136000"/>
              </a:lnSpc>
            </a:pPr>
            <a:r>
              <a:rPr sz="900" b="0" i="0">
                <a:solidFill>
                  <a:srgbClr val="4A443C"/>
                </a:solidFill>
                <a:latin typeface="Corbel"/>
              </a:rPr>
              <a:t/>
            </a:r>
          </a:p>
          <a:p>
            <a:pPr algn="l">
              <a:lnSpc>
                <a:spcPct val="136000"/>
              </a:lnSpc>
            </a:pPr>
            <a:r>
              <a:rPr sz="900" b="0" i="0">
                <a:solidFill>
                  <a:srgbClr val="4A443C"/>
                </a:solidFill>
                <a:latin typeface="Corbel"/>
              </a:rPr>
              <a:t>Data: Kenneth R. French Data Library (factor and risk-free series); dividend-adjusted monthly closing prices for all eleven holdings, the eleven SPDR sector ETFs, QQQ, SPY and AGG.</a:t>
            </a:r>
          </a:p>
        </p:txBody>
      </p:sp>
      <p:sp>
        <p:nvSpPr>
          <p:cNvPr id="14" name="Rectangle 13"/>
          <p:cNvSpPr/>
          <p:nvPr/>
        </p:nvSpPr>
        <p:spPr>
          <a:xfrm>
            <a:off x="7247154" y="1645920"/>
            <a:ext cx="4395901" cy="20116"/>
          </a:xfrm>
          <a:prstGeom prst="rect">
            <a:avLst/>
          </a:prstGeom>
          <a:solidFill>
            <a:srgbClr val="C45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7154" y="1773936"/>
            <a:ext cx="8229600" cy="219456"/>
          </a:xfrm>
          <a:prstGeom prst="rect">
            <a:avLst/>
          </a:prstGeom>
          <a:noFill/>
        </p:spPr>
        <p:txBody>
          <a:bodyPr wrap="square" lIns="0" rIns="0" tIns="0" bIns="0" anchor="t">
            <a:spAutoFit/>
          </a:bodyPr>
          <a:lstStyle/>
          <a:p>
            <a:pPr algn="l">
              <a:lnSpc>
                <a:spcPct val="105000"/>
              </a:lnSpc>
            </a:pPr>
            <a:r>
              <a:rPr sz="950" b="1" i="0" spc="160">
                <a:solidFill>
                  <a:srgbClr val="C4551A"/>
                </a:solidFill>
                <a:latin typeface="Corbel"/>
              </a:rPr>
              <a:t>GENERATIVE AI USE DECLARATION</a:t>
            </a:r>
          </a:p>
        </p:txBody>
      </p:sp>
      <p:sp>
        <p:nvSpPr>
          <p:cNvPr id="16" name="TextBox 15"/>
          <p:cNvSpPr txBox="1"/>
          <p:nvPr/>
        </p:nvSpPr>
        <p:spPr>
          <a:xfrm>
            <a:off x="7247154" y="2103120"/>
            <a:ext cx="4213021" cy="661416"/>
          </a:xfrm>
          <a:prstGeom prst="rect">
            <a:avLst/>
          </a:prstGeom>
          <a:noFill/>
        </p:spPr>
        <p:txBody>
          <a:bodyPr wrap="square" lIns="0" rIns="0" tIns="0" bIns="0">
            <a:spAutoFit/>
          </a:bodyPr>
          <a:lstStyle/>
          <a:p>
            <a:pPr>
              <a:lnSpc>
                <a:spcPct val="122000"/>
              </a:lnSpc>
            </a:pPr>
            <a:r>
              <a:rPr sz="1050" b="1">
                <a:solidFill>
                  <a:srgbClr val="0D3B38"/>
                </a:solidFill>
                <a:latin typeface="Corbel"/>
              </a:rPr>
              <a:t>Assessment classification.  </a:t>
            </a:r>
            <a:r>
              <a:rPr sz="1050">
                <a:solidFill>
                  <a:srgbClr val="16130F"/>
                </a:solidFill>
                <a:latin typeface="Corbel"/>
              </a:rPr>
              <a:t>AI-Supported. Generative AI was permitted for the preparation of the analysis and slides; the presentation itself is delivered by the author.</a:t>
            </a:r>
          </a:p>
        </p:txBody>
      </p:sp>
      <p:sp>
        <p:nvSpPr>
          <p:cNvPr id="17" name="TextBox 16"/>
          <p:cNvSpPr txBox="1"/>
          <p:nvPr/>
        </p:nvSpPr>
        <p:spPr>
          <a:xfrm>
            <a:off x="7247154" y="2983992"/>
            <a:ext cx="4213021" cy="496062"/>
          </a:xfrm>
          <a:prstGeom prst="rect">
            <a:avLst/>
          </a:prstGeom>
          <a:noFill/>
        </p:spPr>
        <p:txBody>
          <a:bodyPr wrap="square" lIns="0" rIns="0" tIns="0" bIns="0">
            <a:spAutoFit/>
          </a:bodyPr>
          <a:lstStyle/>
          <a:p>
            <a:pPr>
              <a:lnSpc>
                <a:spcPct val="122000"/>
              </a:lnSpc>
            </a:pPr>
            <a:r>
              <a:rPr sz="1050" b="1">
                <a:solidFill>
                  <a:srgbClr val="0D3B38"/>
                </a:solidFill>
                <a:latin typeface="Corbel"/>
              </a:rPr>
              <a:t>Tools used.  </a:t>
            </a:r>
            <a:r>
              <a:rPr sz="1050">
                <a:solidFill>
                  <a:srgbClr val="16130F"/>
                </a:solidFill>
                <a:latin typeface="Corbel"/>
              </a:rPr>
              <a:t>Generative AI assistant for the Python analysis code, chart generation and slide drafting; Grammarly for language editing.</a:t>
            </a:r>
          </a:p>
        </p:txBody>
      </p:sp>
      <p:sp>
        <p:nvSpPr>
          <p:cNvPr id="18" name="TextBox 17"/>
          <p:cNvSpPr txBox="1"/>
          <p:nvPr/>
        </p:nvSpPr>
        <p:spPr>
          <a:xfrm>
            <a:off x="7247154" y="3699510"/>
            <a:ext cx="4213021" cy="496062"/>
          </a:xfrm>
          <a:prstGeom prst="rect">
            <a:avLst/>
          </a:prstGeom>
          <a:noFill/>
        </p:spPr>
        <p:txBody>
          <a:bodyPr wrap="square" lIns="0" rIns="0" tIns="0" bIns="0">
            <a:spAutoFit/>
          </a:bodyPr>
          <a:lstStyle/>
          <a:p>
            <a:pPr>
              <a:lnSpc>
                <a:spcPct val="122000"/>
              </a:lnSpc>
            </a:pPr>
            <a:r>
              <a:rPr sz="1050" b="1">
                <a:solidFill>
                  <a:srgbClr val="0D3B38"/>
                </a:solidFill>
                <a:latin typeface="Corbel"/>
              </a:rPr>
              <a:t>Purpose.  </a:t>
            </a:r>
            <a:r>
              <a:rPr sz="1050">
                <a:solidFill>
                  <a:srgbClr val="16130F"/>
                </a:solidFill>
                <a:latin typeface="Corbel"/>
              </a:rPr>
              <a:t>Writing the return, risk and regression code; producing the visualisations; structuring the deck; drafting speaker notes.</a:t>
            </a:r>
          </a:p>
        </p:txBody>
      </p:sp>
      <p:sp>
        <p:nvSpPr>
          <p:cNvPr id="19" name="TextBox 18"/>
          <p:cNvSpPr txBox="1"/>
          <p:nvPr/>
        </p:nvSpPr>
        <p:spPr>
          <a:xfrm>
            <a:off x="7247154" y="4415028"/>
            <a:ext cx="4213021" cy="826769"/>
          </a:xfrm>
          <a:prstGeom prst="rect">
            <a:avLst/>
          </a:prstGeom>
          <a:noFill/>
        </p:spPr>
        <p:txBody>
          <a:bodyPr wrap="square" lIns="0" rIns="0" tIns="0" bIns="0">
            <a:spAutoFit/>
          </a:bodyPr>
          <a:lstStyle/>
          <a:p>
            <a:pPr>
              <a:lnSpc>
                <a:spcPct val="122000"/>
              </a:lnSpc>
            </a:pPr>
            <a:r>
              <a:rPr sz="1050" b="1">
                <a:solidFill>
                  <a:srgbClr val="0D3B38"/>
                </a:solidFill>
                <a:latin typeface="Corbel"/>
              </a:rPr>
              <a:t>Human refinement.  </a:t>
            </a:r>
            <a:r>
              <a:rPr sz="1050">
                <a:solidFill>
                  <a:srgbClr val="16130F"/>
                </a:solidFill>
                <a:latin typeface="Corbel"/>
              </a:rPr>
              <a:t>As Portfolio Manager I set the analytical scope, chose the benchmarks and factor models, interpreted every result, wrote the investment narrative and recommendation, and verified the outputs against the underlying data.</a:t>
            </a:r>
          </a:p>
        </p:txBody>
      </p:sp>
      <p:sp>
        <p:nvSpPr>
          <p:cNvPr id="20" name="TextBox 19"/>
          <p:cNvSpPr txBox="1"/>
          <p:nvPr/>
        </p:nvSpPr>
        <p:spPr>
          <a:xfrm>
            <a:off x="7247154" y="5461253"/>
            <a:ext cx="4213021" cy="661416"/>
          </a:xfrm>
          <a:prstGeom prst="rect">
            <a:avLst/>
          </a:prstGeom>
          <a:noFill/>
        </p:spPr>
        <p:txBody>
          <a:bodyPr wrap="square" lIns="0" rIns="0" tIns="0" bIns="0">
            <a:spAutoFit/>
          </a:bodyPr>
          <a:lstStyle/>
          <a:p>
            <a:pPr>
              <a:lnSpc>
                <a:spcPct val="122000"/>
              </a:lnSpc>
            </a:pPr>
            <a:r>
              <a:rPr sz="1050" b="1">
                <a:solidFill>
                  <a:srgbClr val="0D3B38"/>
                </a:solidFill>
                <a:latin typeface="Corbel"/>
              </a:rPr>
              <a:t>Data integrity.  </a:t>
            </a:r>
            <a:r>
              <a:rPr sz="1050">
                <a:solidFill>
                  <a:srgbClr val="16130F"/>
                </a:solidFill>
                <a:latin typeface="Corbel"/>
              </a:rPr>
              <a:t>All market data was retrieved programmatically from primary sources. No figure in this deck was generated by an AI model without a reproducible calculation behind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