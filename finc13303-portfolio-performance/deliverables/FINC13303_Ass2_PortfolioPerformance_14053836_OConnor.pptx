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afternoon or evening, depending on where you're joining me from. I'm Callum</a:t>
            </a:r>
          </a:p>
          <a:p>
            <a:r>
              <a:t>O'Connor, Portfolio Manager of the Northpoint Digital Innovation Fund.</a:t>
            </a:r>
          </a:p>
          <a:p/>
          <a:p>
            <a:r>
              <a:t>Six years ago you gave this fund a hundred million dollars and one instruction: own the winners of</a:t>
            </a:r>
          </a:p>
          <a:p>
            <a:r>
              <a:t>digital transformation across the whole economy, and do it with discipline. Today I'm closing the</a:t>
            </a:r>
          </a:p>
          <a:p>
            <a:r>
              <a:t>book on that mandate.</a:t>
            </a:r>
          </a:p>
          <a:p/>
          <a:p>
            <a:r>
              <a:t>The headline is on the right of your screen. That hundred million is now two hundred and</a:t>
            </a:r>
          </a:p>
          <a:p>
            <a:r>
              <a:t>seventy-nine million — a hundred and seventy-nine per cent cumulative, or eighteen point seven per</a:t>
            </a:r>
          </a:p>
          <a:p>
            <a:r>
              <a:t>cent a year, through a trade war, a pandemic, the fastest bear market in history, and the sharpest</a:t>
            </a:r>
          </a:p>
          <a:p>
            <a:r>
              <a:t>rate shock in forty years.</a:t>
            </a:r>
          </a:p>
          <a:p/>
          <a:p>
            <a:r>
              <a:t>Over the next twenty-five minutes I'll show you where that money came from, how much risk we took</a:t>
            </a:r>
          </a:p>
          <a:p>
            <a:r>
              <a:t>to get it, whether it was skill or simply a rising market, and what I think you should do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sections.</a:t>
            </a:r>
          </a:p>
          <a:p/>
          <a:p>
            <a:r>
              <a:t>Where we started — the mandate, and whether we stuck to it. The economy — three regimes in six</a:t>
            </a:r>
          </a:p>
          <a:p>
            <a:r>
              <a:t>years, and an honest mark against the scenarios we published in 2016. What the fund returned, and</a:t>
            </a:r>
          </a:p>
          <a:p>
            <a:r>
              <a:t>how it behaved in the two moments that mattered. How much risk we took. Then the section I care</a:t>
            </a:r>
          </a:p>
          <a:p>
            <a:r>
              <a:t>most about: was any of this skill? And finally the verdict, the fees, and my recommendation.</a:t>
            </a:r>
          </a:p>
          <a:p/>
          <a:p>
            <a:r>
              <a:t>Questions at the end. There's a full appendix behind the deck with the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six years on one slide.</a:t>
            </a:r>
          </a:p>
          <a:p/>
          <a:p>
            <a:r>
              <a:t>Top left: a hundred and seventy-nine per cent cumulative. The S&amp;P 500 returned ninety over the same</a:t>
            </a:r>
          </a:p>
          <a:p>
            <a:r>
              <a:t>window; the NASDAQ-100, our primary benchmark and the harder test, returned a hundred and</a:t>
            </a:r>
          </a:p>
          <a:p>
            <a:r>
              <a:t>thirty-five. Annualised, eighteen point seven per cent against a target of eight to ten.</a:t>
            </a:r>
          </a:p>
          <a:p/>
          <a:p>
            <a:r>
              <a:t>But look at the second row as much as the first. A Sharpe ratio of nought point nine four — the</a:t>
            </a:r>
          </a:p>
          <a:p>
            <a:r>
              <a:t>highest of every comparator I tested. A maximum drawdown of minus twenty-four point nine per cent,</a:t>
            </a:r>
          </a:p>
          <a:p>
            <a:r>
              <a:t>shallower than the NASDAQ-100's thirty-two point six. We didn't simply take more risk to get more</a:t>
            </a:r>
          </a:p>
          <a:p>
            <a:r>
              <a:t>return.</a:t>
            </a:r>
          </a:p>
          <a:p/>
          <a:p>
            <a:r>
              <a:t>And the number I'd draw your attention to above all: six point six per cent annualised alpha on a</a:t>
            </a:r>
          </a:p>
          <a:p>
            <a:r>
              <a:t>five-factor model, t-statistic three point zero six. The probability that's luck is about two in a</a:t>
            </a:r>
          </a:p>
          <a:p>
            <a:r>
              <a:t>thousand — with a beta of one, so it wasn't leverage either.</a:t>
            </a:r>
          </a:p>
          <a:p/>
          <a:p>
            <a:r>
              <a:t>I'll earn every one of those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contract, unedited, because the first test of a manager isn't performance — it's</a:t>
            </a:r>
          </a:p>
          <a:p>
            <a:r>
              <a:t>whether the thing you bought is the thing you got.</a:t>
            </a:r>
          </a:p>
          <a:p/>
          <a:p>
            <a:r>
              <a:t>An active, high-conviction thematic equity fund. The theme: digital transformation. Eleven</a:t>
            </a:r>
          </a:p>
          <a:p>
            <a:r>
              <a:t>holdings, one per GICS sector — a pure technology fund would have been an easier story to sell, but</a:t>
            </a:r>
          </a:p>
          <a:p>
            <a:r>
              <a:t>it would have failed the diversification requirement, and as you'll see, it would have hurt badly</a:t>
            </a:r>
          </a:p>
          <a:p>
            <a:r>
              <a:t>in 2022.</a:t>
            </a:r>
          </a:p>
          <a:p/>
          <a:p>
            <a:r>
              <a:t>Two hard constraints on the weights: a five per cent floor in every sector, and a sixteen per cent</a:t>
            </a:r>
          </a:p>
          <a:p>
            <a:r>
              <a:t>cap on the largest position. Quarterly rebalancing with a five-point drift threshold.</a:t>
            </a:r>
          </a:p>
          <a:p/>
          <a:p>
            <a:r>
              <a:t>And the target: eight to ten per cent net a year. Hold that number — I'm going to mark ourselves</a:t>
            </a:r>
          </a:p>
          <a:p>
            <a:r>
              <a:t>against it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book, coloured by conviction tier.</a:t>
            </a:r>
          </a:p>
          <a:p/>
          <a:p>
            <a:r>
              <a:t>Tier one: forty-two per cent in three platform companies where several parts of the thesis compound</a:t>
            </a:r>
          </a:p>
          <a:p>
            <a:r>
              <a:t>at once. Microsoft at sixteen per cent was our largest position and our highest-conviction idea.</a:t>
            </a:r>
          </a:p>
          <a:p/>
          <a:p>
            <a:r>
              <a:t>Tier two, thirty-four per cent: the enablers. Each monetises digitisation through one channel —</a:t>
            </a:r>
          </a:p>
          <a:p>
            <a:r>
              <a:t>Visa is payments, Equinix is data centres, Illumina is genomics, Rockwell is factory automation.</a:t>
            </a:r>
          </a:p>
          <a:p/>
          <a:p>
            <a:r>
              <a:t>Tier three, twenty-four per cent: ballast.</a:t>
            </a:r>
          </a:p>
          <a:p/>
          <a:p>
            <a:r>
              <a:t>Now, the fourth point is the one I'd ask you to remember. For five of these six years, holding</a:t>
            </a:r>
          </a:p>
          <a:p>
            <a:r>
              <a:t>Schlumberger at five per cent looked like a tax on the portfolio. I was asked repeatedly why we</a:t>
            </a:r>
          </a:p>
          <a:p>
            <a:r>
              <a:t>didn't just drop the sector. We didn't, because the mandate said every sector keeps a floor. In</a:t>
            </a:r>
          </a:p>
          <a:p>
            <a:r>
              <a:t>2022 that discipline is exactly what saved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detour on process, because this is where funds quietly drift from their mandate.</a:t>
            </a:r>
          </a:p>
          <a:p/>
          <a:p>
            <a:r>
              <a:t>On the left: what would have happened if we'd bought the eleven stocks and never touched them. Tier</a:t>
            </a:r>
          </a:p>
          <a:p>
            <a:r>
              <a:t>one would have grown from forty-two per cent of the book to forty-eight, with Microsoft alone at</a:t>
            </a:r>
          </a:p>
          <a:p>
            <a:r>
              <a:t>twenty-five per cent. You'd have ended up owning a concentrated mega-cap technology fund that no</a:t>
            </a:r>
          </a:p>
          <a:p>
            <a:r>
              <a:t>longer resembled the mandate you signed.</a:t>
            </a:r>
          </a:p>
          <a:p/>
          <a:p>
            <a:r>
              <a:t>On the right: what we actually did.</a:t>
            </a:r>
          </a:p>
          <a:p/>
          <a:p>
            <a:r>
              <a:t>And look at the table. Rebalancing wasn't governance theatre — it was worth eighteen million</a:t>
            </a:r>
          </a:p>
          <a:p>
            <a:r>
              <a:t>dollars. Two seventy-nine versus two sixty-one. One point three points a year of extra return, a</a:t>
            </a:r>
          </a:p>
          <a:p>
            <a:r>
              <a:t>higher Sharpe, and a drawdown three points shallower — because rebalancing systematically trimmed</a:t>
            </a:r>
          </a:p>
          <a:p>
            <a:r>
              <a:t>winners at highs and topped up laggards at 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six years in one line.</a:t>
            </a:r>
          </a:p>
          <a:p/>
          <a:p>
            <a:r>
              <a:t>We opened in January 2017 with the Dow crossing twenty thousand. Through 2017 the fund returned</a:t>
            </a:r>
          </a:p>
          <a:p>
            <a:r>
              <a:t>forty per cent, driven by the December tax reform and by cloud adoption accelerating exactly as</a:t>
            </a:r>
          </a:p>
          <a:p>
            <a:r>
              <a:t>we'd argued.</a:t>
            </a:r>
          </a:p>
          <a:p/>
          <a:p>
            <a:r>
              <a:t>2018 was our first hard year — the trade war escalated and the fourth quarter was brutal. We lost</a:t>
            </a:r>
          </a:p>
          <a:p>
            <a:r>
              <a:t>nine point six per cent in October and nine point eight in December, and still finished up three</a:t>
            </a:r>
          </a:p>
          <a:p>
            <a:r>
              <a:t>point seven while the S&amp;P fell four and a half.</a:t>
            </a:r>
          </a:p>
          <a:p/>
          <a:p>
            <a:r>
              <a:t>2019 was the recovery on the Fed's pivot to cutting. Then March 2020, which I'll come back to.</a:t>
            </a:r>
          </a:p>
          <a:p/>
          <a:p>
            <a:r>
              <a:t>The peak is November 2021 at three hundred and sixty-one million dollars. That's also the month the</a:t>
            </a:r>
          </a:p>
          <a:p>
            <a:r>
              <a:t>rate regime turned, and 2022 gave a chunk of it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economic narrative, because you're not paying me to read a line chart to you.</a:t>
            </a:r>
          </a:p>
          <a:p/>
          <a:p>
            <a:r>
              <a:t>The first three years were broadly the world we said we expected — moderate growth, contained</a:t>
            </a:r>
          </a:p>
          <a:p>
            <a:r>
              <a:t>inflation, a gradual Fed, and spending shifting steadily toward cloud, mobile and payments. 2018</a:t>
            </a:r>
          </a:p>
          <a:p>
            <a:r>
              <a:t>was the exception: the trade war was a risk we'd flagged but sized wrongly.</a:t>
            </a:r>
          </a:p>
          <a:p/>
          <a:p>
            <a:r>
              <a:t>The second three years are more interesting. If you go back to our 2016 Scenario C, we wrote — and</a:t>
            </a:r>
          </a:p>
          <a:p>
            <a:r>
              <a:t>I quote — "another systemic disruption such as a global pandemic." We put twenty per cent on it.</a:t>
            </a:r>
          </a:p>
          <a:p>
            <a:r>
              <a:t>It happened.</a:t>
            </a:r>
          </a:p>
          <a:p/>
          <a:p>
            <a:r>
              <a:t>And here's the part we got right for the right reason. We argued that even in a recession, cloud</a:t>
            </a:r>
          </a:p>
          <a:p>
            <a:r>
              <a:t>migration and payment digitisation continue, because they're cost-saving. COVID didn't slow our</a:t>
            </a:r>
          </a:p>
          <a:p>
            <a:r>
              <a:t>theme. It accelerated it by years.</a:t>
            </a:r>
          </a:p>
          <a:p/>
          <a:p>
            <a:r>
              <a:t>2022 tested the diversification rather than the theme. When the discount rate goes from zero to</a:t>
            </a:r>
          </a:p>
          <a:p>
            <a:r>
              <a:t>four and a quarter, long-duration growth equity is repriced. There was nowhere to hide inside the</a:t>
            </a:r>
          </a:p>
          <a:p>
            <a:r>
              <a:t>theme — only the ballast helped.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Something most managers avoid: holding up our own forecast and marking it against reality.</a:t>
            </a:r>
          </a:p>
          <a:p/>
          <a:p>
            <a:r>
              <a:t>In 2016 we published three scenarios with explicit probabilities and returns. The pale bars are</a:t>
            </a:r>
          </a:p>
          <a:p>
            <a:r>
              <a:t>what we said. The dark bars are what happened.</a:t>
            </a:r>
          </a:p>
          <a:p/>
          <a:p>
            <a:r>
              <a:t>Two honest observations. We got the direction right in five of six years. But we were</a:t>
            </a:r>
          </a:p>
          <a:p>
            <a:r>
              <a:t>systematically too conservative about magnitude in both directions — in 2017 we assumed eighteen</a:t>
            </a:r>
          </a:p>
          <a:p>
            <a:r>
              <a:t>per cent and delivered forty; in 2019 we thought we were in a stagnation world worth nine and</a:t>
            </a:r>
          </a:p>
          <a:p>
            <a:r>
              <a:t>delivered thirty-seven; and in 2022 we'd assumed a recession would cost four per cent, and it cost</a:t>
            </a:r>
          </a:p>
          <a:p>
            <a:r>
              <a:t>twenty-two and a half.</a:t>
            </a:r>
          </a:p>
          <a:p/>
          <a:p>
            <a:r>
              <a:t>The lesson: scenario frameworks are good at identifying which state of the world you're in, and</a:t>
            </a:r>
          </a:p>
          <a:p>
            <a:r>
              <a:t>poor at telling you how violent it will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important chart in the deck.</a:t>
            </a:r>
          </a:p>
          <a:p/>
          <a:p>
            <a:r>
              <a:t>Blue is the fund, orange the NASDAQ-100, green the S&amp;P 500.</a:t>
            </a:r>
          </a:p>
          <a:p/>
          <a:p>
            <a:r>
              <a:t>Three things. First, we're above the NASDAQ-100 for essentially the whole period, and the gap</a:t>
            </a:r>
          </a:p>
          <a:p>
            <a:r>
              <a:t>widens rather than narrows. Second, look at where the lines separate most — the right-hand end, in</a:t>
            </a:r>
          </a:p>
          <a:p>
            <a:r>
              <a:t>2022. On the way up we tracked the benchmark closely; on the way down we fell much less. That</a:t>
            </a:r>
          </a:p>
          <a:p>
            <a:r>
              <a:t>asymmetry is the whole argument for the construction.</a:t>
            </a:r>
          </a:p>
          <a:p/>
          <a:p>
            <a:r>
              <a:t>Third, the table. Against the S&amp;P 500 — which any of you could have bought for nine basis points —</a:t>
            </a:r>
          </a:p>
          <a:p>
            <a:r>
              <a:t>we added eighty-nine million dollars. Against the NASDAQ-100, the tougher test because it shares</a:t>
            </a:r>
          </a:p>
          <a:p>
            <a:r>
              <a:t>our theme, forty-four million. Against a conventional sixty-forty, a hundred and twenty-seven</a:t>
            </a:r>
          </a:p>
          <a:p>
            <a:r>
              <a:t>million.</a:t>
            </a:r>
          </a:p>
          <a:p/>
          <a:p>
            <a:r>
              <a:t>I'm not going to pretend all of that is skill. Section five separates the two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Annual returns.</a:t>
            </a:r>
          </a:p>
          <a:p/>
          <a:p>
            <a:r>
              <a:t>The pattern to take away isn't the size of the good years — it's the shape of the bad ones. In a</a:t>
            </a:r>
          </a:p>
          <a:p>
            <a:r>
              <a:t>bull market a technology-tilted fund is supposed to have good years; there's nothing clever about</a:t>
            </a:r>
          </a:p>
          <a:p>
            <a:r>
              <a:t>that.</a:t>
            </a:r>
          </a:p>
          <a:p/>
          <a:p>
            <a:r>
              <a:t>The interesting years are 2018 and 2022. In 2018 the S&amp;P lost four point six per cent and the</a:t>
            </a:r>
          </a:p>
          <a:p>
            <a:r>
              <a:t>NASDAQ-100 was flat; we made three point seven. In 2022 the S&amp;P lost eighteen and the NASDAQ-100</a:t>
            </a:r>
          </a:p>
          <a:p>
            <a:r>
              <a:t>lost thirty-two point six; we lost twenty-two and a half.</a:t>
            </a:r>
          </a:p>
          <a:p/>
          <a:p>
            <a:r>
              <a:t>Now — we underperformed the S&amp;P by four points that year, and I won't dress that up. A</a:t>
            </a:r>
          </a:p>
          <a:p>
            <a:r>
              <a:t>technology-tilted fund should lag the broad market when growth de-rates. But against our own theme</a:t>
            </a:r>
          </a:p>
          <a:p>
            <a:r>
              <a:t>benchmark we outperformed by ten full points.</a:t>
            </a:r>
          </a:p>
          <a:p/>
          <a:p>
            <a:r>
              <a:t>The only year we lagged the NASDAQ-100 was 2020, because concentration was rewarded and our sector</a:t>
            </a:r>
          </a:p>
          <a:p>
            <a:r>
              <a:t>floors held us back. That's the cost of diversification — and 2022 is where you got paid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strips out the market and shows only relative performance.</a:t>
            </a:r>
          </a:p>
          <a:p/>
          <a:p>
            <a:r>
              <a:t>Against the S&amp;P 500, in green, the line rises steadily. That's the theme working.</a:t>
            </a:r>
          </a:p>
          <a:p/>
          <a:p>
            <a:r>
              <a:t>The orange line tells you something you won't get anywhere else. Against the NASDAQ-100 we were</a:t>
            </a:r>
          </a:p>
          <a:p>
            <a:r>
              <a:t>roughly flat for the first four and a half years. We only decisively pulled ahead from November</a:t>
            </a:r>
          </a:p>
          <a:p>
            <a:r>
              <a:t>2021.</a:t>
            </a:r>
          </a:p>
          <a:p/>
          <a:p>
            <a:r>
              <a:t>Let me be direct about what that means. For most of this fund's life we did not beat our primary</a:t>
            </a:r>
          </a:p>
          <a:p>
            <a:r>
              <a:t>benchmark — we tracked it. All of the outperformance against it was earned in the 2022 drawdown, by</a:t>
            </a:r>
          </a:p>
          <a:p>
            <a:r>
              <a:t>falling less.</a:t>
            </a:r>
          </a:p>
          <a:p/>
          <a:p>
            <a:r>
              <a:t>Some managers would present that as a weakness. I'd argue the opposite. Anyone can hold technology</a:t>
            </a:r>
          </a:p>
          <a:p>
            <a:r>
              <a:t>stocks in a technology bull market. Capital preservation when the regime turns is the part that</a:t>
            </a:r>
          </a:p>
          <a:p>
            <a:r>
              <a:t>requires an actual discipline — and 2022 is the year the fee earned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Drawdown determines whether an investor stays in a fund, so let me address it directly.</a:t>
            </a:r>
          </a:p>
          <a:p/>
          <a:p>
            <a:r>
              <a:t>Our worst peak-to-trough loss was twenty-four point nine per cent, from November 2021 to September</a:t>
            </a:r>
          </a:p>
          <a:p>
            <a:r>
              <a:t>2022. The NASDAQ-100 lost thirty-two point six. The S&amp;P lost twenty-three point nine.</a:t>
            </a:r>
          </a:p>
          <a:p/>
          <a:p>
            <a:r>
              <a:t>So we sat between the two — worse than the broad market, materially better than our own benchmark.</a:t>
            </a:r>
          </a:p>
          <a:p>
            <a:r>
              <a:t>For a fund with a deliberate technology tilt, that's the right place to be.</a:t>
            </a:r>
          </a:p>
          <a:p/>
          <a:p>
            <a:r>
              <a:t>The Calmar ratio in the table is return per unit of maximum drawdown: nought point seven five for</a:t>
            </a:r>
          </a:p>
          <a:p>
            <a:r>
              <a:t>us against nought point four seven for both indices. A sixty per cent improvement in return per</a:t>
            </a:r>
          </a:p>
          <a:p>
            <a:r>
              <a:t>unit of worst-case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stress test.</a:t>
            </a:r>
          </a:p>
          <a:p/>
          <a:p>
            <a:r>
              <a:t>February and March 2020 cost us twelve point six per cent. It felt considerably worse at the time,</a:t>
            </a:r>
          </a:p>
          <a:p>
            <a:r>
              <a:t>because these are month-end figures.</a:t>
            </a:r>
          </a:p>
          <a:p/>
          <a:p>
            <a:r>
              <a:t>Then look what happens. April 2020 was the best month in the fund's history at plus fourteen and a</a:t>
            </a:r>
          </a:p>
          <a:p>
            <a:r>
              <a:t>half per cent. By July we were above the pre-COVID high, and 2020 finished up thirty-seven per</a:t>
            </a:r>
          </a:p>
          <a:p>
            <a:r>
              <a:t>cent.</a:t>
            </a:r>
          </a:p>
          <a:p/>
          <a:p>
            <a:r>
              <a:t>Two things worth saying. First, our 2016 document had literally named a global pandemic as a</a:t>
            </a:r>
          </a:p>
          <a:p>
            <a:r>
              <a:t>Scenario C trigger. I'm not claiming we predicted COVID — I'm claiming that a framework which</a:t>
            </a:r>
          </a:p>
          <a:p>
            <a:r>
              <a:t>forces you to name tail events stops you building a portfolio that only survives the base case.</a:t>
            </a:r>
          </a:p>
          <a:p/>
          <a:p>
            <a:r>
              <a:t>Second, and more substantive: our core assumption was that digital transformation is cost-saving</a:t>
            </a:r>
          </a:p>
          <a:p>
            <a:r>
              <a:t>and therefore continues in a recession. COVID tested that harder than anything we could have</a:t>
            </a:r>
          </a:p>
          <a:p>
            <a:r>
              <a:t>designed, and the answer came back emphatically.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stress test, and the more instructive one.</a:t>
            </a:r>
          </a:p>
          <a:p/>
          <a:p>
            <a:r>
              <a:t>2022 was the sharpest tightening since 1981 — the Fed raised four hundred and twenty-five basis</a:t>
            </a:r>
          </a:p>
          <a:p>
            <a:r>
              <a:t>points in a calendar year. When the discount rate moves that fast, long-duration growth equity gets</a:t>
            </a:r>
          </a:p>
          <a:p>
            <a:r>
              <a:t>repriced, and there's no clever way around it.</a:t>
            </a:r>
          </a:p>
          <a:p/>
          <a:p>
            <a:r>
              <a:t>We lost twenty-two and a half per cent. The NASDAQ-100 lost thirty-two point six.</a:t>
            </a:r>
          </a:p>
          <a:p/>
          <a:p>
            <a:r>
              <a:t>The right-hand panel explains the ten-point difference. At the bottom: Amazon minus fifty, Illumina</a:t>
            </a:r>
          </a:p>
          <a:p>
            <a:r>
              <a:t>minus forty-seven, Alphabet minus thirty-nine. Our thesis names were hit exactly as hard as you'd</a:t>
            </a:r>
          </a:p>
          <a:p>
            <a:r>
              <a:t>expect.</a:t>
            </a:r>
          </a:p>
          <a:p/>
          <a:p>
            <a:r>
              <a:t>Now look at the top. Schlumberger, plus eighty-one per cent. Visa down three. Albemarle down seven.</a:t>
            </a:r>
          </a:p>
          <a:p/>
          <a:p>
            <a:r>
              <a:t>Schlumberger was, over six years, the worst holding in this fund. For five years it was the</a:t>
            </a:r>
          </a:p>
          <a:p>
            <a:r>
              <a:t>position I was asked to justify most often. It was there for one reason: the mandate said every</a:t>
            </a:r>
          </a:p>
          <a:p>
            <a:r>
              <a:t>sector gets a floor. In the worst year of the fund's life, that unloved five per cent returned</a:t>
            </a:r>
          </a:p>
          <a:p>
            <a:r>
              <a:t>eighty-one per cent. That's what diversification is — and it's why the constraint was written into</a:t>
            </a:r>
          </a:p>
          <a:p>
            <a:r>
              <a:t>the mandate rather than left to my discretion.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quantitative section. I want to start with the raw distribution, because a summary statistic</a:t>
            </a:r>
          </a:p>
          <a:p>
            <a:r>
              <a:t>can hide a lot.</a:t>
            </a:r>
          </a:p>
          <a:p/>
          <a:p>
            <a:r>
              <a:t>Seventy-two observations. Mean monthly return one point five nine per cent, median two point seven</a:t>
            </a:r>
          </a:p>
          <a:p>
            <a:r>
              <a:t>three. The median well above the mean tells you immediately there's a left tail.</a:t>
            </a:r>
          </a:p>
          <a:p/>
          <a:p>
            <a:r>
              <a:t>Skewness confirms it at minus nought point four seven — mild negative skew, normal for equities.</a:t>
            </a:r>
          </a:p>
          <a:p>
            <a:r>
              <a:t>Excess kurtosis is essentially zero, so no fat tails. And Jarque-Bera returns a p-value of nought</a:t>
            </a:r>
          </a:p>
          <a:p>
            <a:r>
              <a:t>point two eight, meaning we can't reject normality.</a:t>
            </a:r>
          </a:p>
          <a:p/>
          <a:p>
            <a:r>
              <a:t>That matters practically: the parametric risk measures — standard deviation, Sharpe, normal-based</a:t>
            </a:r>
          </a:p>
          <a:p>
            <a:r>
              <a:t>VaR — are trustworthy for this fund. That isn't true of every strategy.</a:t>
            </a:r>
          </a:p>
          <a:p/>
          <a:p>
            <a:r>
              <a:t>Best month, April 2020, plus fourteen and a half. Worst, April 2022, minus twelve point one. Fifty</a:t>
            </a:r>
          </a:p>
          <a:p>
            <a:r>
              <a:t>of seventy-two months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 slide — the one I'd print out if you kept only one.</a:t>
            </a:r>
          </a:p>
          <a:p/>
          <a:p>
            <a:r>
              <a:t>Read down the NDIF column against the benchmarks.</a:t>
            </a:r>
          </a:p>
          <a:p/>
          <a:p>
            <a:r>
              <a:t>Sharpe: nought point nine four against nought point seven five and nought point six five. Sortino,</a:t>
            </a:r>
          </a:p>
          <a:p>
            <a:r>
              <a:t>which penalises only downside volatility: one point five one against one point one eight — a bigger</a:t>
            </a:r>
          </a:p>
          <a:p>
            <a:r>
              <a:t>improvement than on Sharpe, which tells you our volatility was disproportionately upside</a:t>
            </a:r>
          </a:p>
          <a:p>
            <a:r>
              <a:t>volatility. Treynor highest. Calmar sixty per cent better than both indices.</a:t>
            </a:r>
          </a:p>
          <a:p/>
          <a:p>
            <a:r>
              <a:t>Information ratio against the S&amp;P is nought point nine eight. As a rule of thumb, above nought</a:t>
            </a:r>
          </a:p>
          <a:p>
            <a:r>
              <a:t>point five over a multi-year period is good and above one is excellent.</a:t>
            </a:r>
          </a:p>
          <a:p/>
          <a:p>
            <a:r>
              <a:t>And the last row, M-squared: if you levered this fund to exactly the S&amp;P's volatility it would have</a:t>
            </a:r>
          </a:p>
          <a:p>
            <a:r>
              <a:t>returned seventeen point two per cent a year against the index's eleven point three. A like-for-like</a:t>
            </a:r>
          </a:p>
          <a:p>
            <a:r>
              <a:t>comparison, and a six-point gap.</a:t>
            </a:r>
          </a:p>
          <a:p/>
          <a:p>
            <a:r>
              <a:t>Note also that we beat the naive equal-weight portfolio of the same eleven stocks on every one of</a:t>
            </a:r>
          </a:p>
          <a:p>
            <a:r>
              <a:t>these. That's a famously hard benchmark to 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Value-at-risk and expected shortfall — what your risk committees will ask for.</a:t>
            </a:r>
          </a:p>
          <a:p/>
          <a:p>
            <a:r>
              <a:t>Our ninety-five per cent one-month VaR is minus eight point eight two per cent. In the worst month</a:t>
            </a:r>
          </a:p>
          <a:p>
            <a:r>
              <a:t>in twenty we'd expect to lose at least that. On two hundred and seventy-nine million, a</a:t>
            </a:r>
          </a:p>
          <a:p>
            <a:r>
              <a:t>twenty-four point six million dollar month.</a:t>
            </a:r>
          </a:p>
          <a:p/>
          <a:p>
            <a:r>
              <a:t>Note the historical, parametric and Cornish-Fisher estimates all cluster between seven and nine per</a:t>
            </a:r>
          </a:p>
          <a:p>
            <a:r>
              <a:t>cent — another confirmation the distribution is close to normal.</a:t>
            </a:r>
          </a:p>
          <a:p/>
          <a:p>
            <a:r>
              <a:t>The number I'd actually watch is CVaR, because VaR only tells you the threshold, not how bad it</a:t>
            </a:r>
          </a:p>
          <a:p>
            <a:r>
              <a:t>gets beyond it. Ours is minus ten point two per cent.</a:t>
            </a:r>
          </a:p>
          <a:p/>
          <a:p>
            <a:r>
              <a:t>Compare the NASDAQ-100: essentially the same VaR threshold, but a worse CVaR and a worse</a:t>
            </a:r>
          </a:p>
          <a:p>
            <a:r>
              <a:t>ninety-nine per cent VaR. Same threshold risk, thinner tail beyond it. Again, that's</a:t>
            </a:r>
          </a:p>
          <a:p>
            <a:r>
              <a:t>diversification rather than anything clever in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Seasonality — and I want to frame this carefully, because it's easy to over-read.</a:t>
            </a:r>
          </a:p>
          <a:p/>
          <a:p>
            <a:r>
              <a:t>Blue is positive, red negative, intensity is magnitude.</a:t>
            </a:r>
          </a:p>
          <a:p/>
          <a:p>
            <a:r>
              <a:t>July was our strongest month at plus five point eight per cent average, positive in all six years.</a:t>
            </a:r>
          </a:p>
          <a:p>
            <a:r>
              <a:t>September was weakest at minus two point eight, negative in four of six.</a:t>
            </a:r>
          </a:p>
          <a:p/>
          <a:p>
            <a:r>
              <a:t>But here's why I wouldn't build a strategy on it. Six observations per calendar month is nowhere</a:t>
            </a:r>
          </a:p>
          <a:p>
            <a:r>
              <a:t>near enough to separate a real seasonal effect from noise — the standard error on any monthly mean</a:t>
            </a:r>
          </a:p>
          <a:p>
            <a:r>
              <a:t>is over two per cent. Almost none of these differences would survive a significance test.</a:t>
            </a:r>
          </a:p>
          <a:p/>
          <a:p>
            <a:r>
              <a:t>What the grid is genuinely useful for is the concentration of extremes. Look at the 2020 and 2022</a:t>
            </a:r>
          </a:p>
          <a:p>
            <a:r>
              <a:t>rows. The best month in the fund's history and the worst sit within twenty-four months of each</a:t>
            </a:r>
          </a:p>
          <a:p>
            <a:r>
              <a:t>other. That's the volatility regime we were managing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the question you should be asking: was this skill, or did we simply</a:t>
            </a:r>
          </a:p>
          <a:p>
            <a:r>
              <a:t>own high-beta growth stocks in a decade that rewarded them?</a:t>
            </a:r>
          </a:p>
          <a:p/>
          <a:p>
            <a:r>
              <a:t>You answer that with a factor regression. Take the fund's excess return, regress it on known risk</a:t>
            </a:r>
          </a:p>
          <a:p>
            <a:r>
              <a:t>factors, and see what's left over. That leftover is Jensen's alpha.</a:t>
            </a:r>
          </a:p>
          <a:p/>
          <a:p>
            <a:r>
              <a:t>Start with the CAPM: alpha of seven point two per cent, t of two point one nine. But the CAPM only</a:t>
            </a:r>
          </a:p>
          <a:p>
            <a:r>
              <a:t>controls for market risk, so a sceptic would say a growth tilt is doing the work.</a:t>
            </a:r>
          </a:p>
          <a:p/>
          <a:p>
            <a:r>
              <a:t>Add size and value: five point nine per cent, t of two point eight three. Add profitability and</a:t>
            </a:r>
          </a:p>
          <a:p>
            <a:r>
              <a:t>investment: six point six per cent, t of three point zero six, p-value nought point zero zero two.</a:t>
            </a:r>
          </a:p>
          <a:p>
            <a:r>
              <a:t>With momentum, unchanged.</a:t>
            </a:r>
          </a:p>
          <a:p/>
          <a:p>
            <a:r>
              <a:t>Ninety-two per cent of our variance is explained by the factors. The remaining six point six per</a:t>
            </a:r>
          </a:p>
          <a:p>
            <a:r>
              <a:t>cent a year is not.</a:t>
            </a:r>
          </a:p>
          <a:p/>
          <a:p>
            <a:r>
              <a:t>Now the bottom row — the one I'd spend most time on. I ran the same test on the NASDAQ-100 itself.</a:t>
            </a:r>
          </a:p>
          <a:p>
            <a:r>
              <a:t>Its alpha is two point four per cent with a t of one point four one: statistically</a:t>
            </a:r>
          </a:p>
          <a:p>
            <a:r>
              <a:t>indistinguishable from zero.</a:t>
            </a:r>
          </a:p>
          <a:p/>
          <a:p>
            <a:r>
              <a:t>The benchmark's strong decade is fully explained by its factor exposures. Ours is not. That</a:t>
            </a:r>
          </a:p>
          <a:p>
            <a:r>
              <a:t>difference is what you paid a management fee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Those five coefficients describe the fund more honestly than any marketing document could.</a:t>
            </a:r>
          </a:p>
          <a:p/>
          <a:p>
            <a:r>
              <a:t>Market loading, one point zero five — one-for-one with the market. Not levered.</a:t>
            </a:r>
          </a:p>
          <a:p/>
          <a:p>
            <a:r>
              <a:t>Size, minus nought point two two and significant: large-cap. Value, minus nought point one nine and</a:t>
            </a:r>
          </a:p>
          <a:p>
            <a:r>
              <a:t>significant: growth. Both correct and intended.</a:t>
            </a:r>
          </a:p>
          <a:p/>
          <a:p>
            <a:r>
              <a:t>Profitability and investment are both small and insignificant. That's worth noting, because a</a:t>
            </a:r>
          </a:p>
          <a:p>
            <a:r>
              <a:t>common criticism of "technology alpha" is that it's really a quality tilt in disguise. Here it</a:t>
            </a:r>
          </a:p>
          <a:p>
            <a:r>
              <a:t>isn't.</a:t>
            </a:r>
          </a:p>
          <a:p/>
          <a:p>
            <a:r>
              <a:t>Momentum is effectively zero — this wasn't a momentum-chasing strategy that would blow up on the</a:t>
            </a:r>
          </a:p>
          <a:p>
            <a:r>
              <a:t>first reversal.</a:t>
            </a:r>
          </a:p>
          <a:p/>
          <a:p>
            <a:r>
              <a:t>So: a large-cap growth fund with market-like beta, no leverage, no hidden factor bets. Precisely</a:t>
            </a:r>
          </a:p>
          <a:p>
            <a:r>
              <a:t>the description in the mandate I showed you at the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more robustness check, because a full-sample alpha can always be produced by a single</a:t>
            </a:r>
          </a:p>
          <a:p>
            <a:r>
              <a:t>extraordinary year buried in the middle.</a:t>
            </a:r>
          </a:p>
          <a:p/>
          <a:p>
            <a:r>
              <a:t>I've re-estimated the CAPM alpha on every rolling thirty-six-month window. The line never goes</a:t>
            </a:r>
          </a:p>
          <a:p>
            <a:r>
              <a:t>below zero.</a:t>
            </a:r>
          </a:p>
          <a:p/>
          <a:p>
            <a:r>
              <a:t>Alpha was earned in the growth years of 2017 to 2019, and in the very different windows dominated</a:t>
            </a:r>
          </a:p>
          <a:p>
            <a:r>
              <a:t>by 2020's crash-and-recovery and 2022's rate shock.</a:t>
            </a:r>
          </a:p>
          <a:p/>
          <a:p>
            <a:r>
              <a:t>There is a shape worth noticing, though. It declines through the middle of the sample and recovers</a:t>
            </a:r>
          </a:p>
          <a:p>
            <a:r>
              <a:t>at the right. The middle windows are 2020 and 2021, when the NASDAQ-100 was extremely hard to beat.</a:t>
            </a:r>
          </a:p>
          <a:p>
            <a:r>
              <a:t>The recovery at the right is 2022.</a:t>
            </a:r>
          </a:p>
          <a:p/>
          <a:p>
            <a:r>
              <a:t>So the source of alpha changed character — security selection early, downside protection late.</a:t>
            </a:r>
          </a:p>
          <a:p>
            <a:r>
              <a:t>That's healthy rather than worrying: it means the fund wasn't dependent on one market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get underneath the portfolio number, because ultimately you hired me to pick eleven stocks.</a:t>
            </a:r>
          </a:p>
          <a:p/>
          <a:p>
            <a:r>
              <a:t>The fairest test isn't whether a pick went up. It's whether it beat the sector it sits in — because</a:t>
            </a:r>
          </a:p>
          <a:p>
            <a:r>
              <a:t>if I pick a technology stock in a decade when all technology stocks rose, I've demonstrated</a:t>
            </a:r>
          </a:p>
          <a:p>
            <a:r>
              <a:t>nothing.</a:t>
            </a:r>
          </a:p>
          <a:p/>
          <a:p>
            <a:r>
              <a:t>Blue is the stock, orange is its sector ETF. Eight of eleven picks beat their sector.</a:t>
            </a:r>
          </a:p>
          <a:p/>
          <a:p>
            <a:r>
              <a:t>The standouts: Microsoft beat the technology sector by a hundred and forty-two points — in our</a:t>
            </a:r>
          </a:p>
          <a:p>
            <a:r>
              <a:t>largest position, which is the most valuable place to be right. NextEra beat utilities by a hundred</a:t>
            </a:r>
          </a:p>
          <a:p>
            <a:r>
              <a:t>and forty-six. Alphabet beat communication services by a hundred and twenty-two.</a:t>
            </a:r>
          </a:p>
          <a:p/>
          <a:p>
            <a:r>
              <a:t>The three misses: Illumina, where the thesis was right but the GRAIL acquisition destroyed value;</a:t>
            </a:r>
          </a:p>
          <a:p>
            <a:r>
              <a:t>Amazon, which beat in absolute terms but lagged its sector; and Schlumberger, which lost money</a:t>
            </a:r>
          </a:p>
          <a:p>
            <a:r>
              <a:t>against an energy sector that gained fifty-four per cent.</a:t>
            </a:r>
          </a:p>
          <a:p/>
          <a:p>
            <a:r>
              <a:t>I own those three. But eight of eleven, weighted toward our largest positions, is why the portfolio</a:t>
            </a:r>
          </a:p>
          <a:p>
            <a:r>
              <a:t>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each holding's weight and return compounded into the total.</a:t>
            </a:r>
          </a:p>
          <a:p/>
          <a:p>
            <a:r>
              <a:t>Microsoft contributed forty-one point nine points of the fund's hundred and seventy-nine. That's</a:t>
            </a:r>
          </a:p>
          <a:p>
            <a:r>
              <a:t>twenty-three per cent of everything the fund made, from a sixteen per cent position. Sizing your</a:t>
            </a:r>
          </a:p>
          <a:p>
            <a:r>
              <a:t>highest-conviction idea largest is the most consequential decision a manager makes, and this is</a:t>
            </a:r>
          </a:p>
          <a:p>
            <a:r>
              <a:t>what it looks like when it goes right.</a:t>
            </a:r>
          </a:p>
          <a:p/>
          <a:p>
            <a:r>
              <a:t>Alphabet twenty-two points, Albemarle twenty-one — the surprise, a six per cent materials position</a:t>
            </a:r>
          </a:p>
          <a:p>
            <a:r>
              <a:t>riding the lithium and EV supply chain. Illumina is the clear disappointment: eight per cent of the</a:t>
            </a:r>
          </a:p>
          <a:p>
            <a:r>
              <a:t>book delivered under two points.</a:t>
            </a:r>
          </a:p>
          <a:p/>
          <a:p>
            <a:r>
              <a:t>But the panel on the right contains the most interesting finding in this review. Schlumberger lost</a:t>
            </a:r>
          </a:p>
          <a:p>
            <a:r>
              <a:t>twenty-three and a half per cent over six years, and yet contributed a positive thirteen points.</a:t>
            </a:r>
          </a:p>
          <a:p/>
          <a:p>
            <a:r>
              <a:t>How? Every quarter it fell, the rebalancing rule bought more at a lower price. Then in 2022 it</a:t>
            </a:r>
          </a:p>
          <a:p>
            <a:r>
              <a:t>returned eighty-one per cent, and by then we owned considerably more shares. A losing stock made</a:t>
            </a:r>
          </a:p>
          <a:p>
            <a:r>
              <a:t>money for this fund because of a mechanical process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Brinson attribution answers a specific question: how much came from being in the right sectors, and</a:t>
            </a:r>
          </a:p>
          <a:p>
            <a:r>
              <a:t>how much from picking the right stocks within them?</a:t>
            </a:r>
          </a:p>
          <a:p/>
          <a:p>
            <a:r>
              <a:t>To isolate that, I built a benchmark with exactly our sector coverage at neutral weights and no</a:t>
            </a:r>
          </a:p>
          <a:p>
            <a:r>
              <a:t>stock selection — an equal-weight portfolio of the eleven sector ETFs. It returned eighty-five per</a:t>
            </a:r>
          </a:p>
          <a:p>
            <a:r>
              <a:t>cent against our hundred and seventy-nine.</a:t>
            </a:r>
          </a:p>
          <a:p/>
          <a:p>
            <a:r>
              <a:t>Allocation — our sector tilts — contributed one point eight points. Almost nothing. Selection</a:t>
            </a:r>
          </a:p>
          <a:p>
            <a:r>
              <a:t>contributed forty-one point four. Interaction, one.</a:t>
            </a:r>
          </a:p>
          <a:p/>
          <a:p>
            <a:r>
              <a:t>So ninety-four per cent of our active return came from security selection.</a:t>
            </a:r>
          </a:p>
          <a:p/>
          <a:p>
            <a:r>
              <a:t>Why that matters for your decision: allocation skill is a macro forecasting call, and the evidence</a:t>
            </a:r>
          </a:p>
          <a:p>
            <a:r>
              <a:t>that anyone repeats macro calls is weak. Selection skill is the output of a research process — you</a:t>
            </a:r>
          </a:p>
          <a:p>
            <a:r>
              <a:t>can describe it, staff it and repeat it. If our outperformance had come from sector timing, I'd be</a:t>
            </a:r>
          </a:p>
          <a:p>
            <a:r>
              <a:t>much less confident recommending this fund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obvious challenge to everything I've said is: fine, but a model could have done better. So I</a:t>
            </a:r>
          </a:p>
          <a:p>
            <a:r>
              <a:t>tested it.</a:t>
            </a:r>
          </a:p>
          <a:p/>
          <a:p>
            <a:r>
              <a:t>I took three years of data ending December 2016 — the information a manager genuinely had at launch</a:t>
            </a:r>
          </a:p>
          <a:p>
            <a:r>
              <a:t>— fed it to a mean-variance optimiser, and ran the weights forward with the same rebalancing.</a:t>
            </a:r>
          </a:p>
          <a:p/>
          <a:p>
            <a:r>
              <a:t>The result: nineteen point seven per cent a year against our eighteen point seven. So yes, it wins,</a:t>
            </a:r>
          </a:p>
          <a:p>
            <a:r>
              <a:t>by a point a year.</a:t>
            </a:r>
          </a:p>
          <a:p/>
          <a:p>
            <a:r>
              <a:t>But look at what it had to do. Twenty-five per cent in Equinix and twenty-five in NextEra — both</a:t>
            </a:r>
          </a:p>
          <a:p>
            <a:r>
              <a:t>breaching our sixteen per cent cap. And zero in Alphabet, Visa, Albemarle and Schlumberger,</a:t>
            </a:r>
          </a:p>
          <a:p>
            <a:r>
              <a:t>breaching the sector floor four times over.</a:t>
            </a:r>
          </a:p>
          <a:p/>
          <a:p>
            <a:r>
              <a:t>The optimiser didn't beat our strategy. It declined to run it — it bought a better backtest by</a:t>
            </a:r>
          </a:p>
          <a:p>
            <a:r>
              <a:t>discarding the constraints that, as we saw in 2022, protected you. And there's a known reason to</a:t>
            </a:r>
          </a:p>
          <a:p>
            <a:r>
              <a:t>distrust it anyway: DeMiguel, Garlappi and Uppal showed in 2009 that naive equal weighting</a:t>
            </a:r>
          </a:p>
          <a:p>
            <a:r>
              <a:t>frequently beats optimisation out of sample, because small input errors produce wildly concentrated</a:t>
            </a:r>
          </a:p>
          <a:p>
            <a:r>
              <a:t>portfolios.</a:t>
            </a:r>
          </a:p>
          <a:p/>
          <a:p>
            <a:r>
              <a:t>The last row is the humbling one. With perfect hindsight the best achievable was twenty-two point</a:t>
            </a:r>
          </a:p>
          <a:p>
            <a:r>
              <a:t>nine per cent. We captured eighty-two per cent of a number nobody could have 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 had to reduce this whole presentation to two numbers, it would be these.</a:t>
            </a:r>
          </a:p>
          <a:p/>
          <a:p>
            <a:r>
              <a:t>Upside capture of a hundred and twenty per cent: in months the S&amp;P rose, we rose twenty per cent</a:t>
            </a:r>
          </a:p>
          <a:p>
            <a:r>
              <a:t>more. Downside capture of ninety-seven: in months it fell, we fell slightly less.</a:t>
            </a:r>
          </a:p>
          <a:p/>
          <a:p>
            <a:r>
              <a:t>That asymmetry is the engine of the result. You don't need to be right about market direction to</a:t>
            </a:r>
          </a:p>
          <a:p>
            <a:r>
              <a:t>compound at eighteen per cent a year if you participate disproportionately in the good months and</a:t>
            </a:r>
          </a:p>
          <a:p>
            <a:r>
              <a:t>proportionately in the bad ones.</a:t>
            </a:r>
          </a:p>
          <a:p/>
          <a:p>
            <a:r>
              <a:t>Contrast the NASDAQ-100: a hundred and eighteen per cent of the upside — very similar — but a</a:t>
            </a:r>
          </a:p>
          <a:p>
            <a:r>
              <a:t>hundred and eight per cent of the downside. More of the gains and more of the losses. That</a:t>
            </a:r>
          </a:p>
          <a:p>
            <a:r>
              <a:t>eleven-point difference, compounded over seventy-two months, is essentially the entire gap between</a:t>
            </a:r>
          </a:p>
          <a:p>
            <a:r>
              <a:t>our two seventy-nine and its two thirty-five.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accountability slide. Ten commitments, marked against what happened.</a:t>
            </a:r>
          </a:p>
          <a:p/>
          <a:p>
            <a:r>
              <a:t>We said eight to ten per cent net a year; we delivered seventeen and a half net. We said fifty-five</a:t>
            </a:r>
          </a:p>
          <a:p>
            <a:r>
              <a:t>to seventy per cent cumulative; we delivered a hundred and sixty-one.</a:t>
            </a:r>
          </a:p>
          <a:p/>
          <a:p>
            <a:r>
              <a:t>I'll be careful how I present that, because doubling your target isn't automatically a compliment</a:t>
            </a:r>
          </a:p>
          <a:p>
            <a:r>
              <a:t>to the manager. Part of it is that this was an unusually strong period for our theme. The honest</a:t>
            </a:r>
          </a:p>
          <a:p>
            <a:r>
              <a:t>framing: our central estimate was reasonable and our distribution around it was too narrow.</a:t>
            </a:r>
          </a:p>
          <a:p/>
          <a:p>
            <a:r>
              <a:t>Then the process commitments, which matter as much. All eleven sectors held through all twenty-four</a:t>
            </a:r>
          </a:p>
          <a:p>
            <a:r>
              <a:t>quarters. The sixteen per cent cap never breached at a rebalance date. Twenty-four rebalances</a:t>
            </a:r>
          </a:p>
          <a:p>
            <a:r>
              <a:t>executed. The mid-life review delivered at the end of 2019.</a:t>
            </a:r>
          </a:p>
          <a:p/>
          <a:p>
            <a:r>
              <a:t>Ten commitments. Four exceeded, six met, none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Fees in full, because you're entitled to see the bridge.</a:t>
            </a:r>
          </a:p>
          <a:p/>
          <a:p>
            <a:r>
              <a:t>Gross, the fund compounded at eighteen point seven per cent. The management fee is ninety basis</a:t>
            </a:r>
          </a:p>
          <a:p>
            <a:r>
              <a:t>points, flat.</a:t>
            </a:r>
          </a:p>
          <a:p/>
          <a:p>
            <a:r>
              <a:t>The performance fee is where the structure earns its keep. We charge ten per cent of returns above</a:t>
            </a:r>
          </a:p>
          <a:p>
            <a:r>
              <a:t>the hurdle — and the hurdle is the NASDAQ-100, not zero. Because that benchmark itself returned</a:t>
            </a:r>
          </a:p>
          <a:p>
            <a:r>
              <a:t>fifteen point three per cent a year, we only cleared it by two and a half points, so the</a:t>
            </a:r>
          </a:p>
          <a:p>
            <a:r>
              <a:t>performance fee is twenty-five basis points rather than the one point eight per cent a</a:t>
            </a:r>
          </a:p>
          <a:p>
            <a:r>
              <a:t>zero-hurdle fund would have taken.</a:t>
            </a:r>
          </a:p>
          <a:p/>
          <a:p>
            <a:r>
              <a:t>Total load: one point one five per cent a year. Net to you, seventeen point five one per cent a</a:t>
            </a:r>
          </a:p>
          <a:p>
            <a:r>
              <a:t>year, or a hundred and sixty-one per cent cumulative.</a:t>
            </a:r>
          </a:p>
          <a:p/>
          <a:p>
            <a:r>
              <a:t>The honest alternative: a NASDAQ-100 ETF at twenty basis points would have returned two hundred and</a:t>
            </a:r>
          </a:p>
          <a:p>
            <a:r>
              <a:t>thirty-five million. After paying us every dollar of fee, you're roughly forty million ahead of the</a:t>
            </a:r>
          </a:p>
          <a:p>
            <a:r>
              <a:t>cheap passive option. That's the only fee test that matters, and we pass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So: should this fund continue?</a:t>
            </a:r>
          </a:p>
          <a:p/>
          <a:p>
            <a:r>
              <a:t>My recommendation is yes, for three specific reasons rather than a general expression of</a:t>
            </a:r>
          </a:p>
          <a:p>
            <a:r>
              <a:t>confidence.</a:t>
            </a:r>
          </a:p>
          <a:p/>
          <a:p>
            <a:r>
              <a:t>First, the alpha is real and repeatable — six point six per cent a year that five established</a:t>
            </a:r>
          </a:p>
          <a:p>
            <a:r>
              <a:t>factors can't explain, and ninety-four per cent of it from selection rather than sector timing.</a:t>
            </a:r>
          </a:p>
          <a:p>
            <a:r>
              <a:t>Selection skill is a process; macro timing is a guess.</a:t>
            </a:r>
          </a:p>
          <a:p/>
          <a:p>
            <a:r>
              <a:t>Second, the thesis isn't exhausted. Cloud is still a minority of enterprise IT spend, six years</a:t>
            </a:r>
          </a:p>
          <a:p>
            <a:r>
              <a:t>after we argued it was early. 2022 repriced the multiple, not the demand.</a:t>
            </a:r>
          </a:p>
          <a:p/>
          <a:p>
            <a:r>
              <a:t>Third, the construction discipline was tested by the two hardest events in twenty years and held.</a:t>
            </a:r>
          </a:p>
          <a:p/>
          <a:p>
            <a:r>
              <a:t>But I'd be doing you a disservice if I asked for renewal without saying what I'd change.</a:t>
            </a:r>
          </a:p>
          <a:p/>
          <a:p>
            <a:r>
              <a:t>We need wider tail-scenario assumptions — we said a recession would cost four per cent; it cost</a:t>
            </a:r>
          </a:p>
          <a:p>
            <a:r>
              <a:t>twenty-two and a half. We need a valuation discipline on entry: Illumina was a correct thesis</a:t>
            </a:r>
          </a:p>
          <a:p>
            <a:r>
              <a:t>bought with no margin of safety. And I'd ask you to consider raising the position cap from sixteen</a:t>
            </a:r>
          </a:p>
          <a:p>
            <a:r>
              <a:t>to twenty per cent, because that cap forced us to trim Microsoft — our best decision — eleven</a:t>
            </a:r>
          </a:p>
          <a:p>
            <a:r>
              <a:t>times. The sector floors I would leave entirely untouched, because those are what saved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That's the review.</a:t>
            </a:r>
          </a:p>
          <a:p/>
          <a:p>
            <a:r>
              <a:t>Three sentences: a hundred million became two hundred and seventy-nine million; we did it with less</a:t>
            </a:r>
          </a:p>
          <a:p>
            <a:r>
              <a:t>drawdown than our own benchmark and a higher Sharpe than any comparator I could construct; and</a:t>
            </a:r>
          </a:p>
          <a:p>
            <a:r>
              <a:t>after controlling for every standard risk factor, six point six per cent a year remains unexplained</a:t>
            </a:r>
          </a:p>
          <a:p>
            <a:r>
              <a:t>by anything other than the decisions we made.</a:t>
            </a:r>
          </a:p>
          <a:p/>
          <a:p>
            <a:r>
              <a:t>I recommend the fund continues, with the three mandate changes I've set out.</a:t>
            </a:r>
          </a:p>
          <a:p/>
          <a:p>
            <a:r>
              <a:t>Happy to take questions — and there's a substantial appendix if you want to go deeper on the</a:t>
            </a:r>
          </a:p>
          <a:p>
            <a:r>
              <a:t>methodology, the holdings or the regressions. Thank you for six years of patient capital.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so anyone can reproduce every number in the deck.</a:t>
            </a:r>
          </a:p>
          <a:p/>
          <a:p>
            <a:r>
              <a:t>Two points I'd flag. First, I've used QQQ and SPY rather than the raw index levels, because the raw</a:t>
            </a:r>
          </a:p>
          <a:p>
            <a:r>
              <a:t>series are price-only. Comparing our dividend-inclusive return against a price-only index would</a:t>
            </a:r>
          </a:p>
          <a:p>
            <a:r>
              <a:t>have flattered us by roughly two per cent a year. Using the ETFs makes it apples-to-apples, and</a:t>
            </a:r>
          </a:p>
          <a:p>
            <a:r>
              <a:t>investable.</a:t>
            </a:r>
          </a:p>
          <a:p/>
          <a:p>
            <a:r>
              <a:t>Second, these returns are gross of transaction costs and taxes. With twenty-four rebalances of</a:t>
            </a:r>
          </a:p>
          <a:p>
            <a:r>
              <a:t>eleven liquid mega-caps, realistic round-trip costs are a few basis points a year — immaterial, but</a:t>
            </a:r>
          </a:p>
          <a:p>
            <a:r>
              <a:t>I'd rather state it than have it discovered.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complete metric table.</a:t>
            </a:r>
          </a:p>
          <a:p/>
          <a:p>
            <a:r>
              <a:t>The comparison I'd encourage you to make is NDIF against equal weight, in the first two data</a:t>
            </a:r>
          </a:p>
          <a:p>
            <a:r>
              <a:t>columns — a genuinely hard benchmark.</a:t>
            </a:r>
          </a:p>
          <a:p/>
          <a:p>
            <a:r>
              <a:t>We beat it on cumulative return, annualised return, Sharpe, Sortino, Treynor and information ratio.</a:t>
            </a:r>
          </a:p>
          <a:p>
            <a:r>
              <a:t>Equal weight beat us on maximum drawdown and Calmar, because it held less in the mega-caps that</a:t>
            </a:r>
          </a:p>
          <a:p>
            <a:r>
              <a:t>fell hardest in 2022.</a:t>
            </a:r>
          </a:p>
          <a:p/>
          <a:p>
            <a:r>
              <a:t>So conviction weighting added return and risk-adjusted return while costing a little on worst-case</a:t>
            </a:r>
          </a:p>
          <a:p>
            <a:r>
              <a:t>drawdown. That's a fair characterisation of what active weighting bought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holding on the same basis as the portfolio.</a:t>
            </a:r>
          </a:p>
          <a:p/>
          <a:p>
            <a:r>
              <a:t>The point I want to make is in the last two columns and the bottom row.</a:t>
            </a:r>
          </a:p>
          <a:p/>
          <a:p>
            <a:r>
              <a:t>Only two individual holdings — Microsoft and NextEra — produced a statistically significant CAPM</a:t>
            </a:r>
          </a:p>
          <a:p>
            <a:r>
              <a:t>alpha on their own. Everything else has a t-statistic below two.</a:t>
            </a:r>
          </a:p>
          <a:p/>
          <a:p>
            <a:r>
              <a:t>But the portfolio's alpha has a t of two point one nine on the CAPM and three point zero six on the</a:t>
            </a:r>
          </a:p>
          <a:p>
            <a:r>
              <a:t>five-factor. The portfolio is more significant than almost every stock in it.</a:t>
            </a:r>
          </a:p>
          <a:p/>
          <a:p>
            <a:r>
              <a:t>That's not a paradox — it's diversification. Combining eleven imperfectly correlated positions</a:t>
            </a:r>
          </a:p>
          <a:p>
            <a:r>
              <a:t>cancels idiosyncratic noise while retaining the common component of the selection skill. The signal</a:t>
            </a:r>
          </a:p>
          <a:p>
            <a:r>
              <a:t>survives; much of the noise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regression output.</a:t>
            </a:r>
          </a:p>
          <a:p/>
          <a:p>
            <a:r>
              <a:t>Read across the alpha row: seven point two, five point nine, six point six, six point five. Stable</a:t>
            </a:r>
          </a:p>
          <a:p>
            <a:r>
              <a:t>across specifications — an alpha that collapses when you add a factor was never alpha, it was an</a:t>
            </a:r>
          </a:p>
          <a:p>
            <a:r>
              <a:t>unmeasured exposure.</a:t>
            </a:r>
          </a:p>
          <a:p/>
          <a:p>
            <a:r>
              <a:t>Market loading between one and one point zero five in every model, always with a t above fifteen.</a:t>
            </a:r>
          </a:p>
          <a:p/>
          <a:p>
            <a:r>
              <a:t>Size and value significantly negative throughout. Profitability, investment and momentum all</a:t>
            </a:r>
          </a:p>
          <a:p>
            <a:r>
              <a:t>insignificant — a meaningful negative result, because it means our excess return isn't a repackaged</a:t>
            </a:r>
          </a:p>
          <a:p>
            <a:r>
              <a:t>quality factor.</a:t>
            </a:r>
          </a:p>
          <a:p/>
          <a:p>
            <a:r>
              <a:t>Adjusted R-squared runs from nought point eight seven to nought point nine one five. Newey-West</a:t>
            </a:r>
          </a:p>
          <a:p>
            <a:r>
              <a:t>standard errors with four lags throughout, which is the conservative choice — ordinary OLS errors</a:t>
            </a:r>
          </a:p>
          <a:p>
            <a:r>
              <a:t>would have produced higher t-statistics.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correlation matrix.</a:t>
            </a:r>
          </a:p>
          <a:p/>
          <a:p>
            <a:r>
              <a:t>Average pairwise correlation is nought point four zero, which for eleven stocks inside a single</a:t>
            </a:r>
          </a:p>
          <a:p>
            <a:r>
              <a:t>theme is genuinely low.</a:t>
            </a:r>
          </a:p>
          <a:p/>
          <a:p>
            <a:r>
              <a:t>The structure is intuitive. The three platforms cluster tightly — Microsoft and Alphabet at nought</a:t>
            </a:r>
          </a:p>
          <a:p>
            <a:r>
              <a:t>point seven four. That's the concentration risk in tier one, and why the position cap mattered.</a:t>
            </a:r>
          </a:p>
          <a:p/>
          <a:p>
            <a:r>
              <a:t>At the other end, the genuine diversifiers: NextEra against Schlumberger is minus nought point one</a:t>
            </a:r>
          </a:p>
          <a:p>
            <a:r>
              <a:t>two — actually negatively correlated. That bottom-right corner is where the ballast lives, and</a:t>
            </a:r>
          </a:p>
          <a:p>
            <a:r>
              <a:t>those low correlations produced the ten-point drawdown advantage in 2022.</a:t>
            </a:r>
          </a:p>
          <a:p/>
          <a:p>
            <a:r>
              <a:t>It's also why the portfolio's volatility of nineteen per cent sits well below the average</a:t>
            </a:r>
          </a:p>
          <a:p>
            <a:r>
              <a:t>constituent volatility of about twenty-nine.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risk-return scatter, each bubble sized by target weight.</a:t>
            </a:r>
          </a:p>
          <a:p/>
          <a:p>
            <a:r>
              <a:t>The most important feature is where the star sits — upper-left of almost every individual holding.</a:t>
            </a:r>
          </a:p>
          <a:p/>
          <a:p>
            <a:r>
              <a:t>Only Microsoft, NextEra and Costco sit above the portfolio on return, all at comparable or higher</a:t>
            </a:r>
          </a:p>
          <a:p>
            <a:r>
              <a:t>volatility. Meanwhile Schlumberger at forty-nine per cent volatility and Albemarle at forty-four</a:t>
            </a:r>
          </a:p>
          <a:p>
            <a:r>
              <a:t>are far out to the right.</a:t>
            </a:r>
          </a:p>
          <a:p/>
          <a:p>
            <a:r>
              <a:t>The portfolio has lower volatility than eight of its own eleven constituents. That's the argument</a:t>
            </a:r>
          </a:p>
          <a:p>
            <a:r>
              <a:t>for diversification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ex-post efficient frontier from the eleven stocks we owned. Nobody could have known this in</a:t>
            </a:r>
          </a:p>
          <a:p>
            <a:r>
              <a:t>advance — it exists only because we now know the answers.</a:t>
            </a:r>
          </a:p>
          <a:p/>
          <a:p>
            <a:r>
              <a:t>The fund sits below and slightly right of it, which is where a real portfolio should sit. The</a:t>
            </a:r>
          </a:p>
          <a:p>
            <a:r>
              <a:t>vertical distance is roughly four points of annual return: the cost of not having known the future.</a:t>
            </a:r>
          </a:p>
          <a:p/>
          <a:p>
            <a:r>
              <a:t>What I find more informative is that the fund, equal weight and the ex-ante optimiser all cluster</a:t>
            </a:r>
          </a:p>
          <a:p>
            <a:r>
              <a:t>in the same small region. Three different construction philosophies converged on nearly the same</a:t>
            </a:r>
          </a:p>
          <a:p>
            <a:r>
              <a:t>outcome, which tells you the dominant driver was which eleven stocks we chose, not how we weighted</a:t>
            </a:r>
          </a:p>
          <a:p>
            <a:r>
              <a:t>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supporting exhibits.</a:t>
            </a:r>
          </a:p>
          <a:p/>
          <a:p>
            <a:r>
              <a:t>The box plot compares the four distributions directly. Our median is visibly higher than both</a:t>
            </a:r>
          </a:p>
          <a:p>
            <a:r>
              <a:t>benchmarks, our interquartile range is tighter than the NASDAQ-100's, and our whisker extremes are</a:t>
            </a:r>
          </a:p>
          <a:p>
            <a:r>
              <a:t>contained relative to it.</a:t>
            </a:r>
          </a:p>
          <a:p/>
          <a:p>
            <a:r>
              <a:t>The lower chart shows dispersion across the eleven holdings. The range runs from minus twenty-four</a:t>
            </a:r>
          </a:p>
          <a:p>
            <a:r>
              <a:t>per cent to plus three hundred and nineteen — in an eleven-stock portfolio, in a single theme, over</a:t>
            </a:r>
          </a:p>
          <a:p>
            <a:r>
              <a:t>six years.</a:t>
            </a:r>
          </a:p>
          <a:p/>
          <a:p>
            <a:r>
              <a:t>That dispersion is exactly why the position cap mattered. Had we been permitted a thirty per cent</a:t>
            </a:r>
          </a:p>
          <a:p>
            <a:r>
              <a:t>position and chosen Illumina rather than Microsoft for it — and in 2016 the genomics thesis was</a:t>
            </a:r>
          </a:p>
          <a:p>
            <a:r>
              <a:t>every bit as compelling as the cloud thesis — this would be a very different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stability checks.</a:t>
            </a:r>
          </a:p>
          <a:p/>
          <a:p>
            <a:r>
              <a:t>Rolling thirty-six-month beta stays between about nought point nine seven and one point zero eight</a:t>
            </a:r>
          </a:p>
          <a:p>
            <a:r>
              <a:t>for the entire sample. We didn't drift into higher-beta positioning as markets rose, which is a</a:t>
            </a:r>
          </a:p>
          <a:p>
            <a:r>
              <a:t>common and destructive pattern in growth funds.</a:t>
            </a:r>
          </a:p>
          <a:p/>
          <a:p>
            <a:r>
              <a:t>Rolling twelve-month volatility below shows the regime: calm through 2017, the COVID spike, a quiet</a:t>
            </a:r>
          </a:p>
          <a:p>
            <a:r>
              <a:t>2021, then the sustained rise through 2022. Our line sits below the NASDAQ-100's for most of the</a:t>
            </a:r>
          </a:p>
          <a:p>
            <a:r>
              <a:t>sample. Less total risk than our own benchmark, more return — which is the argument this entire</a:t>
            </a:r>
          </a:p>
          <a:p>
            <a:r>
              <a:t>deck has been 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pieces of supporting detail.</a:t>
            </a:r>
          </a:p>
          <a:p/>
          <a:p>
            <a:r>
              <a:t>The chart is the month-of-year seasonality — July strongest, September weakest. Six observations per</a:t>
            </a:r>
          </a:p>
          <a:p>
            <a:r>
              <a:t>month, so description rather than signal.</a:t>
            </a:r>
          </a:p>
          <a:p/>
          <a:p>
            <a:r>
              <a:t>The table is the fee benchmarking. A passive S&amp;P 500 ETF costs nine basis points and returned</a:t>
            </a:r>
          </a:p>
          <a:p>
            <a:r>
              <a:t>ninety per cent. A NASDAQ-100 ETF costs twenty and returned a hundred and thirty-five. We cost one</a:t>
            </a:r>
          </a:p>
          <a:p>
            <a:r>
              <a:t>point one five per cent all-in and returned a hundred and seventy-nine.</a:t>
            </a:r>
          </a:p>
          <a:p/>
          <a:p>
            <a:r>
              <a:t>The arithmetic: we cost six point four million more than the NASDAQ ETF and delivered forty-four</a:t>
            </a:r>
          </a:p>
          <a:p>
            <a:r>
              <a:t>million more in terminal value. A net gain of thirty-eight million after every dollar of fee.</a:t>
            </a:r>
          </a:p>
          <a:p/>
          <a:p>
            <a:r>
              <a:t>I put this in the appendix deliberately — a manager should be prepared to defend a fee on request,</a:t>
            </a:r>
          </a:p>
          <a:p>
            <a:r>
              <a:t>not only when it flatters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 and declarations.</a:t>
            </a:r>
          </a:p>
          <a:p/>
          <a:p>
            <a:r>
              <a:t>The methodology follows the standard literature: Jensen for alpha, Sharpe, Sortino and Treynor for</a:t>
            </a:r>
          </a:p>
          <a:p>
            <a:r>
              <a:t>the ratios, Fama and French for the factor models, Brinson for attribution, Markowitz for the</a:t>
            </a:r>
          </a:p>
          <a:p>
            <a:r>
              <a:t>frontier, Newey and West for the standard-error correction.</a:t>
            </a:r>
          </a:p>
          <a:p/>
          <a:p>
            <a:r>
              <a:t>On AI use: this assessment is classified as AI-Supported. I've declared the tools and, more</a:t>
            </a:r>
          </a:p>
          <a:p>
            <a:r>
              <a:t>importantly, the division of labour. The analytical scope, the choice of benchmarks and models, the</a:t>
            </a:r>
          </a:p>
          <a:p>
            <a:r>
              <a:t>interpretation of every result and the recommendation are mine. Every number traces back to a</a:t>
            </a:r>
          </a:p>
          <a:p>
            <a:r>
              <a:t>reproducible calculation on primary market data, and the code and workbook accompany this</a:t>
            </a:r>
          </a:p>
          <a:p>
            <a:r>
              <a:t>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1704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9A227"/>
                </a:solidFill>
                <a:latin typeface="Calibri"/>
              </a:rPr>
              <a:t>N O R T H P O I N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00784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Northpoint Digital</a:t>
            </a:r>
          </a:p>
          <a:p>
            <a:pPr algn="l">
              <a:lnSpc>
                <a:spcPct val="106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Innovation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29584"/>
            <a:ext cx="105156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803904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 i="0">
                <a:solidFill>
                  <a:srgbClr val="B8C6D8"/>
                </a:solidFill>
                <a:latin typeface="Calibri"/>
              </a:rPr>
              <a:t>Six-year performance review  ·  January 2017 – December 2022</a:t>
            </a:r>
          </a:p>
          <a:p>
            <a:pPr algn="l">
              <a:lnSpc>
                <a:spcPct val="135000"/>
              </a:lnSpc>
            </a:pPr>
            <a:r>
              <a:rPr sz="1550" b="0" i="0">
                <a:solidFill>
                  <a:srgbClr val="B8C6D8"/>
                </a:solidFill>
                <a:latin typeface="Calibri"/>
              </a:rPr>
              <a:t>Final report to investors  ·  New York · San Francisco · London · Hong Kong · Shanghai · Sydney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230368"/>
            <a:ext cx="8778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ACC2"/>
                </a:solidFill>
                <a:latin typeface="Calibri"/>
              </a:rPr>
              <a:t>Callum O'Connor  ·  Portfolio Manager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ACC2"/>
                </a:solidFill>
                <a:latin typeface="Calibri"/>
              </a:rPr>
              <a:t>Student ID 14053836  ·  FINC13-303 Portfolio Analysis and Investments  ·  Bond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8732520" y="1700784"/>
            <a:ext cx="2606040" cy="2395728"/>
          </a:xfrm>
          <a:prstGeom prst="rect">
            <a:avLst/>
          </a:prstGeom>
          <a:solidFill>
            <a:srgbClr val="071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6840" y="19202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9A227"/>
                </a:solidFill>
                <a:latin typeface="Calibri"/>
              </a:rPr>
              <a:t>MANDATE 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2267712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$279m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798064"/>
            <a:ext cx="2148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B8C6D8"/>
                </a:solidFill>
                <a:latin typeface="Calibri"/>
              </a:rPr>
              <a:t>from a $100 million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B8C6D8"/>
                </a:solidFill>
                <a:latin typeface="Calibri"/>
              </a:rPr>
              <a:t>mandate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B8C6D8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B8C6D8"/>
                </a:solidFill>
                <a:latin typeface="Calibri"/>
              </a:rPr>
              <a:t>+179.2% cumulative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B8C6D8"/>
                </a:solidFill>
                <a:latin typeface="Calibri"/>
              </a:rPr>
              <a:t>18.7% p.a.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Six sections, twenty-five minutes, then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50292" cy="603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2024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9A22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911096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B2545"/>
                </a:solidFill>
                <a:latin typeface="Calibri"/>
              </a:rPr>
              <a:t>Where we started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1938528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2514E"/>
                </a:solidFill>
                <a:latin typeface="Calibri"/>
              </a:rPr>
              <a:t>The mandate, the theme, and how the fund was actually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468880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468880"/>
            <a:ext cx="50292" cy="603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633472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9A22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2624328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B2545"/>
                </a:solidFill>
                <a:latin typeface="Calibri"/>
              </a:rPr>
              <a:t>The economy we lived through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265176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2514E"/>
                </a:solidFill>
                <a:latin typeface="Calibri"/>
              </a:rPr>
              <a:t>Six years, three regimes, and how our 2016 scenarios held 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182112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182112"/>
            <a:ext cx="50292" cy="603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34670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9A22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3337560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B2545"/>
                </a:solidFill>
                <a:latin typeface="Calibri"/>
              </a:rPr>
              <a:t>What the fund returned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36499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2514E"/>
                </a:solidFill>
                <a:latin typeface="Calibri"/>
              </a:rPr>
              <a:t>Wealth created, benchmarked, and stress-tested through COVID and 2022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895344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3895344"/>
            <a:ext cx="50292" cy="603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059936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9A22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4050792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B2545"/>
                </a:solidFill>
                <a:latin typeface="Calibri"/>
              </a:rPr>
              <a:t>How much risk we took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1728" y="4078224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2514E"/>
                </a:solidFill>
                <a:latin typeface="Calibri"/>
              </a:rPr>
              <a:t>Distribution, risk-adjusted returns, tail risk, and seasonality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608576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608576"/>
            <a:ext cx="50292" cy="603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773168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9A227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4764024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B2545"/>
                </a:solidFill>
                <a:latin typeface="Calibri"/>
              </a:rPr>
              <a:t>Was it skill?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4791456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2514E"/>
                </a:solidFill>
                <a:latin typeface="Calibri"/>
              </a:rPr>
              <a:t>Jensen's alpha, factor models, attribution, and the optimised counterfactual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5321808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321808"/>
            <a:ext cx="50292" cy="6035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48640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9A227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4168" y="5477256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B2545"/>
                </a:solidFill>
                <a:latin typeface="Calibri"/>
              </a:rPr>
              <a:t>The verdict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1728" y="5504688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2514E"/>
                </a:solidFill>
                <a:latin typeface="Calibri"/>
              </a:rPr>
              <a:t>Objective scorecard, fees, and our recommendation on the fund's future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The six-year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Every figure on this slide is calculated from 72 months of dividend-adjusted total returns and is reproduced in the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64208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64208"/>
            <a:ext cx="2688336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93852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+179.2%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52374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CUMULATIVE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6265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$100m mandate grew to $279.2m.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S&amp;P 500 returned +90.0%;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NASDAQ-100 +134.7%.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2424" y="1664208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2424" y="1664208"/>
            <a:ext cx="2688336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193852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18.7%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52374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ANNUALISED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96265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Against a target of 8–10% net p.a.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S&amp;P 500 11.3%; NASDAQ-100 15.3%.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664208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664208"/>
            <a:ext cx="2688336" cy="5029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193852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0.94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52374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SHARPE RATIO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96265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Highest of every comparator.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NASDAQ-100 0.75; S&amp;P 500 0.65.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Sortino 1.51.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1664208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1664208"/>
            <a:ext cx="2688336" cy="502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44584" y="1938528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-24.9%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4584" y="2523744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MAXIMUM DRAWDOWN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296265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Shallower than our own benchmark.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NASDAQ-100 fell 32.6%.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803904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803904"/>
            <a:ext cx="2688336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078224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6.6%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466344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ALPHA p.a. (FF5)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5102352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Fama–French five-factor Jensen's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alpha, t = 3.06, p = 0.002.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Statistically significant.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92424" y="3803904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92424" y="3803904"/>
            <a:ext cx="2688336" cy="5029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93592" y="4078224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1.04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93592" y="466344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BETA TO THE MARKET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5102352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Market-like sensitivity.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The excess return is not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simply leverage on the index.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3803904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3803904"/>
            <a:ext cx="2688336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4078224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0.98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66344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INFORMATION RATIO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5102352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Active return per unit of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tracking error vs the S&amp;P 500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(6.98% tracking error).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43416" y="3803904"/>
            <a:ext cx="2688336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43416" y="3803904"/>
            <a:ext cx="2688336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44584" y="4078224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B2545"/>
                </a:solidFill>
                <a:latin typeface="Calibri"/>
              </a:rPr>
              <a:t>50 / 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44584" y="4663440"/>
            <a:ext cx="22860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2514E"/>
                </a:solidFill>
                <a:latin typeface="Calibri"/>
              </a:rPr>
              <a:t>POSITIVE MONTHS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4584" y="5102352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A 69.4% hit rate.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Average up month +4.6%,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86847E"/>
                </a:solidFill>
                <a:latin typeface="Calibri"/>
              </a:rPr>
              <a:t>average down month −5.2%.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C9A227"/>
                </a:solidFill>
                <a:latin typeface="Calibri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127248"/>
            <a:ext cx="8229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Where we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8C6D8"/>
                </a:solidFill>
                <a:latin typeface="Calibri"/>
              </a:rPr>
              <a:t>The mandate you funded in 2016, the eleven positions we bought, and whether we stayed faithful to the brief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The mandate you funded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Nothing in the strategy changed over six years — the discipline was in the rules, not in the reacting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00784"/>
          <a:ext cx="11057838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85616"/>
                <a:gridCol w="807222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Mandate parameter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committed to in January 2016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Capital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US$100 million, six-year fund life (Jan 2017 – Dec 2022)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Active, high-conviction thematic equity — technology and innovation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Theme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Digital transformation: cloud, mobile data, payments, automation, genomics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Holdings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Eleven US-listed stocks — exactly one per GICS sector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Weighting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Conviction tiers, 5% floor per sector, 16% cap on the largest position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Rebalancing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Quarterly, plus a 5-percentage-point drift threshold; mid-life review at end-2019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Primary benchmark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NASDAQ-100 (theme-aligned — measures selection skill within the theme)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Secondary benchmark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S&amp;P 500 (broad market — measures whether the theme was worth owning)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Fees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0.90% p.a. management + 10% of returns over the hurdle, high-water mark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Return target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8–10% net p.a., roughly 55–70% cumulative net over the fund life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Eleven sectors, one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The theme was expressed through conviction tiers — never through abandoning a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26_weight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285" y="1499616"/>
            <a:ext cx="3906445" cy="45537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22976" y="157276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C9A227"/>
                </a:solidFill>
                <a:latin typeface="Calibri"/>
              </a:rPr>
              <a:t>HOW THE BOOK WAS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2976" y="1920240"/>
            <a:ext cx="6382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Tier 1 — 42%.  </a:t>
            </a:r>
            <a:r>
              <a:rPr sz="1200">
                <a:solidFill>
                  <a:srgbClr val="0B0B0B"/>
                </a:solidFill>
                <a:latin typeface="Calibri"/>
              </a:rPr>
              <a:t>Microsoft, Alphabet and Amazon: the platform companies where the cloud, advertising and e-commerce theses all compound at once. Highest conviction, largest weights.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2976" y="2688336"/>
            <a:ext cx="6382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Tier 2 — 34%.  </a:t>
            </a:r>
            <a:r>
              <a:rPr sz="1200">
                <a:solidFill>
                  <a:srgbClr val="0B0B0B"/>
                </a:solidFill>
                <a:latin typeface="Calibri"/>
              </a:rPr>
              <a:t>Visa, Equinix, Illumina and Rockwell: the enablers. Each monetises digitisation in one specific channel — payments, data centres, genomics, factory automation.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3456432"/>
            <a:ext cx="6382512" cy="377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Tier 3 — 24%.  </a:t>
            </a:r>
            <a:r>
              <a:rPr sz="1200">
                <a:solidFill>
                  <a:srgbClr val="0B0B0B"/>
                </a:solidFill>
                <a:latin typeface="Calibri"/>
              </a:rPr>
              <a:t>NextEra, Costco, Albemarle and Schlumberger: diversification and ballast, each still carrying an innovation or recovery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2976" y="4035552"/>
            <a:ext cx="6382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The floor mattered.  </a:t>
            </a:r>
            <a:r>
              <a:rPr sz="1200">
                <a:solidFill>
                  <a:srgbClr val="0B0B0B"/>
                </a:solidFill>
                <a:latin typeface="Calibri"/>
              </a:rPr>
              <a:t>Energy at 5% and Materials at 6% looked like drag for five years. In 2022 they were the two reasons our drawdown was ten points shallower than the NASDAQ's.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We rebalanced. That was a decision, and it paid.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Quarterly rebalancing added 1.3 percentage points a year over simply letting the winners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21_weight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128" y="1517904"/>
            <a:ext cx="8279439" cy="3730751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5376672"/>
          <a:ext cx="11057836" cy="822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17351"/>
                <a:gridCol w="1548097"/>
                <a:gridCol w="1326940"/>
                <a:gridCol w="1326940"/>
                <a:gridCol w="1769254"/>
                <a:gridCol w="176925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Cumulative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 drawdown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Terminal on $100m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Quarterly rebalanced (as run)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179.2%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-24.9%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$279m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Left to drift (buy &amp; hold)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160.9%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17.3%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-27.8%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$261m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C9A227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127248"/>
            <a:ext cx="8229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The economy we lived 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8C6D8"/>
                </a:solidFill>
                <a:latin typeface="Calibri"/>
              </a:rPr>
              <a:t>Three distinct regimes in six years — and an honest mark-to-market of the scenarios we published in January 2016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Six years, seven turning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The events that shaped the fund, plotted against the wealth they created or destroyed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02_growth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917" y="1536192"/>
            <a:ext cx="7823861" cy="46085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The macro backdrop, regime by regime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How the state of the economy translated into the portfolio's returns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53917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0292" cy="6583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556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B2545"/>
                </a:solidFill>
                <a:latin typeface="Calibri"/>
              </a:rPr>
              <a:t>2017 – 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020824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86847E"/>
                </a:solidFill>
                <a:latin typeface="Calibri"/>
              </a:rPr>
              <a:t>SYNCHRONISED 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23744"/>
            <a:ext cx="495284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2017: +40.0%  </a:t>
            </a:r>
            <a:r>
              <a:rPr sz="1200">
                <a:solidFill>
                  <a:srgbClr val="0B0B0B"/>
                </a:solidFill>
                <a:latin typeface="Calibri"/>
              </a:rPr>
              <a:t>Synchronised global growth, benign inflation, a gradual Fed. US tax reform cut the corporate rate from 35% to 21%, lifting after-tax earnings across the book.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273552"/>
            <a:ext cx="495284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2018: +3.7%  </a:t>
            </a:r>
            <a:r>
              <a:rPr sz="1200">
                <a:solidFill>
                  <a:srgbClr val="0B0B0B"/>
                </a:solidFill>
                <a:latin typeface="Calibri"/>
              </a:rPr>
              <a:t>Trade-war escalation and a hawkish Fed produced a violent Q4. We lost 9.6% in October and 9.8% in December — and still finished positive while the S&amp;P fell 4.6%.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23360"/>
            <a:ext cx="495284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2019: +36.6%  </a:t>
            </a:r>
            <a:r>
              <a:rPr sz="1200">
                <a:solidFill>
                  <a:srgbClr val="0B0B0B"/>
                </a:solidFill>
                <a:latin typeface="Calibri"/>
              </a:rPr>
              <a:t>The Fed pivoted to cutting. Multiple expansion did most of the work; cloud and payments earnings kept compounding underneath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1645920"/>
            <a:ext cx="539175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645920"/>
            <a:ext cx="50292" cy="65836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2463" y="17556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B2545"/>
                </a:solidFill>
                <a:latin typeface="Calibri"/>
              </a:rPr>
              <a:t>2020 – 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2463" y="2020824"/>
            <a:ext cx="5303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86847E"/>
                </a:solidFill>
                <a:latin typeface="Calibri"/>
              </a:rPr>
              <a:t>PANDEMIC, STIMULUS, THEN THE RATE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523744"/>
            <a:ext cx="4952847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2020: +37.1%  </a:t>
            </a:r>
            <a:r>
              <a:rPr sz="1200">
                <a:solidFill>
                  <a:srgbClr val="0B0B0B"/>
                </a:solidFill>
                <a:latin typeface="Calibri"/>
              </a:rPr>
              <a:t>The COVID crash took 12.6% off the fund in two months. Then the pandemic became the single largest accelerant our thesis ever received: remote work, e-commerce and cloud migration pulled forward by years.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462528"/>
            <a:ext cx="495284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2021: +32.5%  </a:t>
            </a:r>
            <a:r>
              <a:rPr sz="1200">
                <a:solidFill>
                  <a:srgbClr val="0B0B0B"/>
                </a:solidFill>
                <a:latin typeface="Calibri"/>
              </a:rPr>
              <a:t>Reopening, record stimulus and peak growth valuations. Our thesis was consensus by now — which is usually the warning sign, and it was.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4212336"/>
            <a:ext cx="4952847" cy="755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2022: −22.5%  </a:t>
            </a:r>
            <a:r>
              <a:rPr sz="1200">
                <a:solidFill>
                  <a:srgbClr val="0B0B0B"/>
                </a:solidFill>
                <a:latin typeface="Calibri"/>
              </a:rPr>
              <a:t>The sharpest tightening cycle since 1981. CPI peaked at 9.1%; the Fed raised 425bp. Long-duration growth equity de-rated hardest. Our energy and materials ballast is why we fell 10 points less than the NASDAQ-100.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Marking our 2016 scenarios to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We were right about direction in five of six years — and consistently too conservative about magnitude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25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64" y="1517904"/>
            <a:ext cx="7832166" cy="3456431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5102352"/>
          <a:ext cx="11057836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85616"/>
                <a:gridCol w="1658675"/>
                <a:gridCol w="1437519"/>
                <a:gridCol w="2543302"/>
                <a:gridCol w="243272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Scenario (as published, Jan 2016)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Assigned probability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Assumed return p.a.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Years it actually described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A — Growth &amp; digital acceleration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50% ST / 40% MT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+18%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2017, 2018, 2020, 2021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Occurred in 4 of 6 years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B — Stagnation / low-growth grind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30% ST / 30% MT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Understated: we returned 36.6%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C — Recession / risk-off shock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20% ST / 30% MT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−4%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Understated: we lost 22.5%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C9A227"/>
                </a:solidFill>
                <a:latin typeface="Calibri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127248"/>
            <a:ext cx="8229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What the fund returned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8C6D8"/>
                </a:solidFill>
                <a:latin typeface="Calibri"/>
              </a:rPr>
              <a:t>Wealth created, benchmarked against the indices you are paying us to beat, and stress-tested through the two events that mattered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 $100m mandate became $279m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Ahead of the S&amp;P 500 by 89 percentage points and ahead of our own theme-aligned benchmark by 44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01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522" y="1517904"/>
            <a:ext cx="7592651" cy="3182111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828032"/>
          <a:ext cx="11057837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9665"/>
                <a:gridCol w="1658675"/>
                <a:gridCol w="1326940"/>
                <a:gridCol w="2322146"/>
                <a:gridCol w="199041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Cumulative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Terminal value on $100m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added vs NDIF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Northpoint Digital Innovation Fund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179.2%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$279.2m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NASDAQ-100 (primary benchmark)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134.7%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15.3%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$234.7m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+$44.4m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S&amp;P 500 (secondary benchmark)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90.0%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$190.0m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+$89.2m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60/40 stock/bond portfolio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51.9%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7.2%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$151.9m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+$127.3m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Beat the S&amp;P 500 in five of six years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Including 2018 and 2022 — the two years the market fell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14</a:t>
            </a:r>
          </a:p>
        </p:txBody>
      </p:sp>
      <p:pic>
        <p:nvPicPr>
          <p:cNvPr id="8" name="Picture 7" descr="04_annua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957" y="1517904"/>
            <a:ext cx="7525781" cy="3182111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4828032"/>
          <a:ext cx="11057836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48584"/>
                <a:gridCol w="1401542"/>
                <a:gridCol w="1401542"/>
                <a:gridCol w="1401542"/>
                <a:gridCol w="1401542"/>
                <a:gridCol w="1401542"/>
                <a:gridCol w="140154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Calendar year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NDIF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40.0%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36.6%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37.1%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32.5%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-22.5%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NASDAQ-100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32.7%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39.0%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48.4%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27.4%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-32.6%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-4.6%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18.3%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28.7%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-18.2%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NDIF vs S&amp;P 500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+18.3%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+8.2%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+5.4%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+18.8%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The value-add compounded quietly, then paid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Cumulative performance relative to both benchmarks, rebased to zero at inception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15</a:t>
            </a:r>
          </a:p>
        </p:txBody>
      </p:sp>
      <p:pic>
        <p:nvPicPr>
          <p:cNvPr id="8" name="Picture 7" descr="23_rel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9364" y="1517904"/>
            <a:ext cx="7812967" cy="40690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69671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Read this as the wealth ratio between the fund and each benchmark. A rising line means the fund is pulling ahead. Note that most of the outperformance versus the NASDAQ-100 was created after November 2021 — that is, on the way down, not on the way 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The fund fell less than its own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Maximum drawdown of −24.9% against the NASDAQ-100's −32.6%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16</a:t>
            </a:r>
          </a:p>
        </p:txBody>
      </p:sp>
      <p:pic>
        <p:nvPicPr>
          <p:cNvPr id="8" name="Picture 7" descr="03_draw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597" y="1517904"/>
            <a:ext cx="8990500" cy="3456431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5102352"/>
          <a:ext cx="11057837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90411"/>
                <a:gridCol w="1990411"/>
                <a:gridCol w="1658675"/>
                <a:gridCol w="1658675"/>
                <a:gridCol w="1769254"/>
                <a:gridCol w="199041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Maximum drawdown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Peak month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Trough month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Calmar ratio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Downside deviation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NDIF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-24.9%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Nov 2021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Sep 2022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NASDAQ-100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-32.6%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Nov 2021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Dec 2022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12.9%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-23.9%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Dec 2021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Sep 2022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Stress test one: COVID-19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Scenario C arrived in March 2020 — the fund lost 12.6% in two months and had recovered it by July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17</a:t>
            </a:r>
          </a:p>
        </p:txBody>
      </p:sp>
      <p:pic>
        <p:nvPicPr>
          <p:cNvPr id="8" name="Picture 7" descr="28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546" y="1517904"/>
            <a:ext cx="7558602" cy="39136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41264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Our 2016 document had explicitly named “a systemic disruption such as a global pandemic” as a Scenario C trigger and assigned it a 20% probability. The thesis assumption that held up: cloud migration, e-commerce and payment digitisation are cost-saving, so they continue — and in fact accelerate — through a recession.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Stress test two: the 2022 rate shock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Down 22.5% against a NASDAQ-100 down 32.6% — and the ballast is the entire reason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18</a:t>
            </a:r>
          </a:p>
        </p:txBody>
      </p:sp>
      <p:pic>
        <p:nvPicPr>
          <p:cNvPr id="8" name="Picture 7" descr="24_2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37" y="1517904"/>
            <a:ext cx="8260021" cy="39136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41264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Schlumberger — the fund's worst holding over the full six years at −23.5% — returned +81.2% in 2022. Albemarle lost only 6.6% and NextEra 8.5%. Without the 5% energy floor and the 24% ballast tier, the fund's 2022 loss would have been close to the NASDAQ-100's. This is what a sector floor is for.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C9A227"/>
                </a:solidFill>
                <a:latin typeface="Calibri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127248"/>
            <a:ext cx="8229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How much risk we took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8C6D8"/>
                </a:solidFill>
                <a:latin typeface="Calibri"/>
              </a:rPr>
              <a:t>The full distribution of 72 monthly returns, the risk-adjusted measures, tail risk, and where in the calendar the money was made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The shape of our returns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Close to normal, with a mild left tail — 72 monthly observations, Jan 2017 – Dec 2022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05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32759"/>
            <a:ext cx="7589520" cy="415940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75320" y="1700784"/>
            <a:ext cx="3346704" cy="39502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188366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DISTRIBUTIONAL STATISTICS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94776" y="22494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Mean monthly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2249424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1.59%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94776" y="257403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Median monthly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2574036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2.73%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4776" y="28986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Standard deviation (monthly)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289864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5.50%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32232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Annualised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3223260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19.06%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354787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Skewness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3547872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-0.472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387248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Excess kurtosis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3872484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0.067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4776" y="419709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Jarque–Bera p-value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197096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0.278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4776" y="45217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Best month (Apr 2020)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4521708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14.5%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4776" y="484632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Worst month (Apr 2022)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4846320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-12.1%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4776" y="517093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Positive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170932"/>
            <a:ext cx="8412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50 of 72  (69.4%)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Risk-adjusted, we beat every comparator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Highest Sharpe, highest Sortino, highest Calmar, highest Treynor — and the highest information ratio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00784"/>
          <a:ext cx="11057836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0989"/>
                <a:gridCol w="995205"/>
                <a:gridCol w="1216362"/>
                <a:gridCol w="995205"/>
                <a:gridCol w="1216362"/>
                <a:gridCol w="884627"/>
                <a:gridCol w="364908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NDIF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NASDAQ-100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Equal weight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60/40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Annualised return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15.3%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18.0%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7.2%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Geometric growth rate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Annualised volatility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19.1%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20.2%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17.1%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19.4%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Total risk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Sharpe ratio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Excess return per unit of total risk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Sortino ratio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1.51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1.45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Excess return per unit of downside risk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Treynor ratio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0.139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0.163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Excess return per unit of market beta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Calmar ratio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0.36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Return per unit of maximum drawdown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Information ratio (vs S&amp;P)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-0.72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Active return per unit of tracking error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Beta (vs S&amp;P 500)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Market sensitivity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M² (risk-matched return)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17.2%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14.0%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12.2%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Return at benchmark risk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72414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6847E"/>
                </a:solidFill>
                <a:latin typeface="Calibri"/>
              </a:rPr>
              <a:t>Risk-free rate is the Fama–French one-month Treasury bill series (mean 1.25% p.a. over the period). All ratios are computed on the same 72 monthly observations and annualised by √12.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Tail risk sits below the NASDAQ-100 on every measure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One-month value-at-risk and expected shortfall from the empirical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22_v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644"/>
            <a:ext cx="7589520" cy="3929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75320" y="1700784"/>
            <a:ext cx="3346704" cy="3877056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4776" y="188366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NDIF TAIL MEASURES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94776" y="2304288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VaR 95% (historical)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2304288"/>
            <a:ext cx="886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-8.82%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94776" y="2761488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VaR 95% (parametric normal)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2761488"/>
            <a:ext cx="886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-7.46%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4776" y="3218688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VaR 95% (Cornish–Fisher)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3218688"/>
            <a:ext cx="886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-8.17%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3675888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CVaR 95% (expected shortfall)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3675888"/>
            <a:ext cx="886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-10.23%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4133088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VaR 99% (historical)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4133088"/>
            <a:ext cx="886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-10.48%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4590288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CVaR 99% (expected shortfall)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4590288"/>
            <a:ext cx="886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-12.14%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4776" y="5047488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On $279m, a 95% VaR month 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5047488"/>
            <a:ext cx="886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−$24.6m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Where in the calendar the money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Seasonality across 72 months — six observations per calendar month, so read this as description, not as a tradeable signal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10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490" y="1517904"/>
            <a:ext cx="6834715" cy="303580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4663440"/>
            <a:ext cx="3602736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663440"/>
            <a:ext cx="3602736" cy="457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B2545"/>
                </a:solidFill>
                <a:latin typeface="Calibri"/>
              </a:rPr>
              <a:t>July  +5.8%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19379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The strongest month, on the back of six positive Julys out of six — including +13.1% in July 2022 during the bear-market rally.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4663440"/>
            <a:ext cx="3602736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7408" y="4663440"/>
            <a:ext cx="3602736" cy="4572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6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B2545"/>
                </a:solidFill>
                <a:latin typeface="Calibri"/>
              </a:rPr>
              <a:t>September  −2.8%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519379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The weakest month, negative in four of six years. September 2022 alone cost 9.3%.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4663440"/>
            <a:ext cx="3602736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47888" y="4663440"/>
            <a:ext cx="3602736" cy="457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6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B2545"/>
                </a:solidFill>
                <a:latin typeface="Calibri"/>
              </a:rPr>
              <a:t>2020 and 2022 were the extremes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519379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April 2020 was the best month on record at +14.5%; April 2022 the worst at −12.1%. Both sit inside the same two-year window.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C9A227"/>
                </a:solidFill>
                <a:latin typeface="Calibri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127248"/>
            <a:ext cx="8229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Was it skill?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8C6D8"/>
                </a:solidFill>
                <a:latin typeface="Calibri"/>
              </a:rPr>
              <a:t>Jensen's alpha, factor models, performance attribution, and what a mean-variance optimiser would have done with the same eleven stocks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Jensen's alpha: significant on every model we ran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Excess return regressed on risk factors, 72 monthly observations, Newey–West standard errors with four 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37360"/>
          <a:ext cx="11057835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22146"/>
                <a:gridCol w="1437519"/>
                <a:gridCol w="1105783"/>
                <a:gridCol w="995205"/>
                <a:gridCol w="1105783"/>
                <a:gridCol w="1105783"/>
                <a:gridCol w="2985616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Annualised alpha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Alpha t-stat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Market beta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Adjusted R²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CAPM (single factor)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7.2%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2.19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0.029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1.005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0.872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Significant at the 5% level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Fama–French 3-factor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2.83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0.005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1.040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0.915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Significant at the 1% level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Fama–French 5-factor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0.002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1.050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0.914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Significant at the 1% level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FF5 + momentum (Carhart)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2.95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0.003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1.054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0.913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Significant at the 1% level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NASDAQ-100, same FF5 test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1.41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0.159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1.099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Not statistically significant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66344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B0B0B"/>
                </a:solidFill>
                <a:latin typeface="Calibri"/>
              </a:rPr>
              <a:t>The test that matters:  after controlling for the market, size, value, profitability, investment and momentum factors, the fund still delivered 6.6% a year that those factors cannot explain — with a t-statistic of 3.06 (p = 0.002). Applying the same test to the NASDAQ-100 produces an alpha of 2.4% that is not statistically distinguishable from zero. In other words, the benchmark's excess return is explained by its factor exposures; ours is not.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What the factor loadings say about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A large-cap growth fund with market-like beta — the profile is exactly what the mandate described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18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54186"/>
            <a:ext cx="7589520" cy="41165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75320" y="17373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READING THE COEFFICIENTS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066543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Market +1.05.  </a:t>
            </a:r>
            <a:r>
              <a:rPr sz="1100">
                <a:solidFill>
                  <a:srgbClr val="0B0B0B"/>
                </a:solidFill>
                <a:latin typeface="Calibri"/>
              </a:rPr>
              <a:t>Essentially one-for-one with the market — we were not levered.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550159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Size −0.22.  </a:t>
            </a:r>
            <a:r>
              <a:rPr sz="1100">
                <a:solidFill>
                  <a:srgbClr val="0B0B0B"/>
                </a:solidFill>
                <a:latin typeface="Calibri"/>
              </a:rPr>
              <a:t>Significantly negative: a large-cap fund, as intended.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033775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Value −0.19.  </a:t>
            </a:r>
            <a:r>
              <a:rPr sz="1100">
                <a:solidFill>
                  <a:srgbClr val="0B0B0B"/>
                </a:solidFill>
                <a:latin typeface="Calibri"/>
              </a:rPr>
              <a:t>Significantly negative: a growth fund, as intended.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517391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Profitability −0.11, Investment −0.05.  </a:t>
            </a:r>
            <a:r>
              <a:rPr sz="1100">
                <a:solidFill>
                  <a:srgbClr val="0B0B0B"/>
                </a:solidFill>
                <a:latin typeface="Calibri"/>
              </a:rPr>
              <a:t>Neither is significant — no hidden quality tilt.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4001007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Momentum +0.02.  </a:t>
            </a:r>
            <a:r>
              <a:rPr sz="1100">
                <a:solidFill>
                  <a:srgbClr val="0B0B0B"/>
                </a:solidFill>
                <a:latin typeface="Calibri"/>
              </a:rPr>
              <a:t>Effectively zero: not a momentum-chasing strategy.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75320" y="4630927"/>
            <a:ext cx="3346704" cy="18288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795519"/>
            <a:ext cx="33467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Every loading is where the January-2016 mandate said it would be. There are no unexplained exposures hiding in this portfolio.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Alpha was persistent, not a single lucky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Rolling 36-month Jensen's alpha stays positive across every window in the sample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27</a:t>
            </a:r>
          </a:p>
        </p:txBody>
      </p:sp>
      <p:pic>
        <p:nvPicPr>
          <p:cNvPr id="8" name="Picture 7" descr="15_rolling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662" y="1517904"/>
            <a:ext cx="8090371" cy="3950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77840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2514E"/>
                </a:solidFill>
                <a:latin typeface="Calibri"/>
              </a:rPr>
              <a:t>A single full-sample alpha can be produced by one exceptional year. This chart re-estimates the CAPM alpha on every rolling three-year window from Dec-2019 onward. It never turns negative — including the windows dominated by the 2022 drawdown, where the alpha comes from losing less rather than gaining more.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Eight of eleven picks beat their own 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Each holding measured against the GICS sector ETF it sits in — the fairest test of stock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13_stock_vs_s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2344" y="1517904"/>
            <a:ext cx="7227007" cy="40233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The three that lagged their sector: Illumina (−60 pts vs XLV), Amazon (−55 pts vs XLY) and Schlumberger (−77 pts vs XLE). Microsoft (+142 pts vs XLK), Alphabet (+122 pts vs XLC) and NextEra (+146 pts vs XLU) were the standouts.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Where the 179%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Compounded contribution to cumulative return by holding — Microsoft alone delivered nearly a quarter of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12_con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3090"/>
            <a:ext cx="7680960" cy="41301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66760" y="17373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TOP 3 AND BOTTOM 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366760" y="2084831"/>
          <a:ext cx="3255263" cy="20482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41684"/>
                <a:gridCol w="1171895"/>
                <a:gridCol w="1041684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Total return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MSFT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41.9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319%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GOOGL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22.1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123%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ALB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20.8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172%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EQIX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10.5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105%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AMZN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10.3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124%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ILMN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1.8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366760" y="4279392"/>
            <a:ext cx="325526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52514E"/>
                </a:solidFill>
                <a:latin typeface="Calibri"/>
              </a:rPr>
              <a:t>Schlumberger is the instructive case. It lost 23.5% over six years, yet contributed a positive 13.2 points — because quarterly rebalancing kept buying it back to its 5% floor at successively lower prices, and it then returned +81% in 2022.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94% of the value-add came from stock picking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Brinson–Fachler attribution against an equal-weight benchmark of the eleven GICS sector ETFs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30</a:t>
            </a:r>
          </a:p>
        </p:txBody>
      </p:sp>
      <p:pic>
        <p:nvPicPr>
          <p:cNvPr id="8" name="Picture 7" descr="31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53088"/>
            <a:ext cx="7589520" cy="4118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75320" y="1755648"/>
            <a:ext cx="3346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DECOMPOSITION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066543"/>
            <a:ext cx="3346704" cy="519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Allocation +1.8 pts.  </a:t>
            </a:r>
            <a:r>
              <a:rPr sz="1100">
                <a:solidFill>
                  <a:srgbClr val="0B0B0B"/>
                </a:solidFill>
                <a:latin typeface="Calibri"/>
              </a:rPr>
              <a:t>The sector tilts — overweight technology, underweight energy — contributed very little.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732531"/>
            <a:ext cx="3346704" cy="519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Selection +41.4 pts.  </a:t>
            </a:r>
            <a:r>
              <a:rPr sz="1100">
                <a:solidFill>
                  <a:srgbClr val="0B0B0B"/>
                </a:solidFill>
                <a:latin typeface="Calibri"/>
              </a:rPr>
              <a:t>Almost all of the active return came from picking better stocks than the sector average.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398519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Interaction +1.0 pt.  </a:t>
            </a:r>
            <a:r>
              <a:rPr sz="1100">
                <a:solidFill>
                  <a:srgbClr val="0B0B0B"/>
                </a:solidFill>
                <a:latin typeface="Calibri"/>
              </a:rPr>
              <a:t>The residual from being overweight where we also picked well.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4037583"/>
            <a:ext cx="3346704" cy="18288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4202175"/>
            <a:ext cx="3346704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B2545"/>
                </a:solidFill>
                <a:latin typeface="Calibri"/>
              </a:rPr>
              <a:t>Why this matters for your decision: allocation skill is a macro call and is hard to repeat. Selection skill is a research process. That 94% of our value-add came from selection is the strongest argument that the result is repeatable.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Would an optimiser have done better?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A mean-variance model given three years of pre-launch data would have added 1.1% a year — and taken concentration risk we were not permitted to take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31</a:t>
            </a:r>
          </a:p>
        </p:txBody>
      </p:sp>
      <p:pic>
        <p:nvPicPr>
          <p:cNvPr id="8" name="Picture 7" descr="27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4821"/>
            <a:ext cx="7589520" cy="4126726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75320" y="1755648"/>
          <a:ext cx="3346702" cy="18653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0286"/>
                <a:gridCol w="803208"/>
                <a:gridCol w="80320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Construction rule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NDIF as run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Mean–variance (2014–16 inputs)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19.7%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Equal weight (1/N)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18.0%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Buy &amp; hold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17.3%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Perfect-foresight optimum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22.8%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1.32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75320" y="3803904"/>
            <a:ext cx="3346704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The optimiser's solution put 25% in Equinix and 25% in NextEra — breaching our 16% position cap — and zero in Alphabet, Visa, Albemarle and Schlumberger, breaching the 5% sector floor four times over. It bought a better backtest by discarding the mandate.</a:t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6000"/>
              </a:lnSpc>
            </a:pPr>
            <a:r>
              <a:rPr sz="1050" b="0" i="0">
                <a:solidFill>
                  <a:srgbClr val="52514E"/>
                </a:solidFill>
                <a:latin typeface="Calibri"/>
              </a:rPr>
              <a:t>Even with perfect foresight, the best achievable was 22.9% a year. We captured 82% of a result nobody could have known in advance.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120% of the upside, 97% of the downside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The asymmetry that produced the result — captured most of the market's gains while avoiding most of its losses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32</a:t>
            </a:r>
          </a:p>
        </p:txBody>
      </p:sp>
      <p:pic>
        <p:nvPicPr>
          <p:cNvPr id="8" name="Picture 7" descr="19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53878"/>
            <a:ext cx="7589520" cy="39171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75320" y="1755648"/>
            <a:ext cx="3346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THE ASYMMETRY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066543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Upside capture 120%.  </a:t>
            </a:r>
            <a:r>
              <a:rPr sz="1100">
                <a:solidFill>
                  <a:srgbClr val="0B0B0B"/>
                </a:solidFill>
                <a:latin typeface="Calibri"/>
              </a:rPr>
              <a:t>In months the S&amp;P 500 rose, we rose 20% more than it did.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2559303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Downside capture 97%.  </a:t>
            </a:r>
            <a:r>
              <a:rPr sz="1100">
                <a:solidFill>
                  <a:srgbClr val="0B0B0B"/>
                </a:solidFill>
                <a:latin typeface="Calibri"/>
              </a:rPr>
              <a:t>In months it fell, we fell slightly less.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052063"/>
            <a:ext cx="3346704" cy="519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The NASDAQ-100, by contrast,  </a:t>
            </a:r>
            <a:r>
              <a:rPr sz="1100">
                <a:solidFill>
                  <a:srgbClr val="0B0B0B"/>
                </a:solidFill>
                <a:latin typeface="Calibri"/>
              </a:rPr>
              <a:t>captured 118% of the upside but 108% of the downside — more of the gains and more of the losses.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3718051"/>
            <a:ext cx="3346704" cy="346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100" b="1">
                <a:solidFill>
                  <a:srgbClr val="0B2545"/>
                </a:solidFill>
                <a:latin typeface="Calibri"/>
              </a:rPr>
              <a:t>50 positive months of 72.  </a:t>
            </a:r>
            <a:r>
              <a:rPr sz="1100">
                <a:solidFill>
                  <a:srgbClr val="0B0B0B"/>
                </a:solidFill>
                <a:latin typeface="Calibri"/>
              </a:rPr>
              <a:t>A 69.4% hit rate against 65.3% for the NASDAQ-100.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4357115"/>
            <a:ext cx="3346704" cy="18288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4521707"/>
            <a:ext cx="334670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This single pair of numbers — 120 up, 97 down — is the compact statement of what the fund did. Everything else in this deck elaborates on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C9A227"/>
                </a:solidFill>
                <a:latin typeface="Calibri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127248"/>
            <a:ext cx="8229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The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8C6D8"/>
                </a:solidFill>
                <a:latin typeface="Calibri"/>
              </a:rPr>
              <a:t>Marking the fund against the objective we set in 2016, the fees you paid, and our recommendation on what happens next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Marking ourselves against the 2016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Every commitment we made when we asked you for the mandate, scored against what we actually delivered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00784"/>
          <a:ext cx="11057837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1978"/>
                <a:gridCol w="1548097"/>
                <a:gridCol w="3538508"/>
                <a:gridCol w="176925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we committed to in January 2016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Net annualised return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8–10% p.a.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17.5% p.a. net of all fees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Exceeded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Cumulative net return over the fund life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55–70%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161% net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Exceeded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Outperform the S&amp;P 500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~2% p.a. 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+6.2% p.a. 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Exceeded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Outperform the NASDAQ-100 (primary benchmark)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Beat it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+3.4% p.a. gross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Maintain all eleven GICS sectors, 5% floor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No sector abandoned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Held throughout, all 24 quarters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Cap the largest position at 16%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16% cap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Never breached; MSFT peaked at 17.4% intra-quarter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Rebalance quarterly with a 5-point drift rule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24 rebalances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24 executed; drift rule triggered twice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Deliver a mid-life strategic review at end-2019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Formal review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Conducted; target weights reconfirmed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Keep the drawdown below the theme benchmark's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Beat NASDAQ-100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−24.9% vs −32.6%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Met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Generate return the market cannot explain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Positive alpha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+6.6% p.a., t = 3.06, p = 0.002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Exceeded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Gross to net: what you actually kept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0.90% management fee plus 10% of the excess over the NASDAQ-100 hurdle, subject to the high-water 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35</a:t>
            </a:r>
          </a:p>
        </p:txBody>
      </p:sp>
      <p:pic>
        <p:nvPicPr>
          <p:cNvPr id="8" name="Picture 7" descr="33_f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8808"/>
            <a:ext cx="7589520" cy="4118752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75320" y="1755648"/>
          <a:ext cx="3346703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39483"/>
                <a:gridCol w="903610"/>
                <a:gridCol w="90361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p.a.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6-year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Gross return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179%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Management fee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−0.90%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−5.3%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Performance fee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−0.25%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−1.5%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0B0B"/>
                          </a:solidFill>
                          <a:latin typeface="Calibri"/>
                        </a:rPr>
                        <a:t>Net to investors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17.51%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161%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75320" y="3474720"/>
            <a:ext cx="3346704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Total fee load was 1.15% a year — 0.90% base plus 0.25% of performance fee, because the hurdle is the NASDAQ-100 rather than zero and we only cleared it by 2.5 points a year.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A passive NASDAQ-100 ETF at 0.20% would have cost you less and returned $235m. We cost 0.95% more a year and returned $279m — a net gain of roughly $40m after every fee.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Our recommendation: the fund should continue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With three specific changes to the mandate, which we would want your agreement on before raising the successor vehicle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82496"/>
            <a:ext cx="5532120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82496"/>
            <a:ext cx="5532120" cy="5029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83664"/>
            <a:ext cx="5020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THE CASE FOR CONTINUING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67712"/>
            <a:ext cx="50200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The alpha is real and it is repeatable.  </a:t>
            </a:r>
            <a:r>
              <a:rPr sz="1200">
                <a:solidFill>
                  <a:srgbClr val="0B0B0B"/>
                </a:solidFill>
                <a:latin typeface="Calibri"/>
              </a:rPr>
              <a:t>6.6% a year that five risk factors cannot explain, with 94% of it from security selection rather than sector timing.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35808"/>
            <a:ext cx="50200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The thesis is not exhausted.  </a:t>
            </a:r>
            <a:r>
              <a:rPr sz="1200">
                <a:solidFill>
                  <a:srgbClr val="0B0B0B"/>
                </a:solidFill>
                <a:latin typeface="Calibri"/>
              </a:rPr>
              <a:t>Cloud is still a minority of enterprise IT spend; electrification and genomics are earlier still. The 2022 de-rating repriced the multiple, not the demand.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3904"/>
            <a:ext cx="502005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The construction discipline was tested and held.  </a:t>
            </a:r>
            <a:r>
              <a:rPr sz="1200">
                <a:solidFill>
                  <a:srgbClr val="0B0B0B"/>
                </a:solidFill>
                <a:latin typeface="Calibri"/>
              </a:rPr>
              <a:t>Sector floors, the position cap and quarterly rebalancing were all worth measurable money — most visibly in 2022.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682496"/>
            <a:ext cx="5269687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682496"/>
            <a:ext cx="5269687" cy="502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2" y="1883664"/>
            <a:ext cx="475762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WHAT WE WOULD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2267712"/>
            <a:ext cx="475762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Widen the tail-scenario assumptions.  </a:t>
            </a:r>
            <a:r>
              <a:rPr sz="1200">
                <a:solidFill>
                  <a:srgbClr val="0B0B0B"/>
                </a:solidFill>
                <a:latin typeface="Calibri"/>
              </a:rPr>
              <a:t>Our Scenario C assumed a 4% loss. The real one cost 22.5%. The framework identified the regime correctly and sized it badly.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3035808"/>
            <a:ext cx="475762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Add a valuation discipline to the entry rule.  </a:t>
            </a:r>
            <a:r>
              <a:rPr sz="1200">
                <a:solidFill>
                  <a:srgbClr val="0B0B0B"/>
                </a:solidFill>
                <a:latin typeface="Calibri"/>
              </a:rPr>
              <a:t>Illumina, our worst selection decision, was a correct thesis bought without a price constraint.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3803904"/>
            <a:ext cx="475762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00" b="1">
                <a:solidFill>
                  <a:srgbClr val="0B2545"/>
                </a:solidFill>
                <a:latin typeface="Calibri"/>
              </a:rPr>
              <a:t>Review the position cap upward, carefully.  </a:t>
            </a:r>
            <a:r>
              <a:rPr sz="1200">
                <a:solidFill>
                  <a:srgbClr val="0B0B0B"/>
                </a:solidFill>
                <a:latin typeface="Calibri"/>
              </a:rPr>
              <a:t>The 16% cap forced us to trim Microsoft — our best decision — eleven times. We would seek 20%, with the sector floors untouched.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00784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Calibri"/>
              </a:rPr>
              <a:t>N O R T H P O I N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12848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27248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C6D8"/>
                </a:solidFill>
                <a:latin typeface="Calibri"/>
              </a:rPr>
              <a:t>I am happy to take questions on any part of this review.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C6D8"/>
                </a:solidFill>
                <a:latin typeface="Calibri"/>
              </a:rPr>
              <a:t>An appendix follows with the full methodology, the complete metric tables, the per-holding statistics, and the full factor-model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63440"/>
            <a:ext cx="105156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3776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ACC2"/>
                </a:solidFill>
                <a:latin typeface="Calibri"/>
              </a:rPr>
              <a:t>Callum O'Connor  ·  Portfolio Manager  ·  Northpoint Capital Partners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ACC2"/>
                </a:solidFill>
                <a:latin typeface="Calibri"/>
              </a:rPr>
              <a:t>FINC13-303 Portfolio Analysis and Investments  ·  Student ID 14053836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31720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C9A227"/>
                </a:solidFill>
                <a:latin typeface="Calibri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3127248"/>
            <a:ext cx="822960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8C6D8"/>
                </a:solidFill>
                <a:latin typeface="Calibri"/>
              </a:rPr>
              <a:t>Methodology and data sources, full metric tables, per-holding statistics, complete factor-model output, and supporting exhibits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A1 · Methodology, data and assumptions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Everything in this deck is reproducible from the accompanying Python analysis and Excel workbook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39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64208"/>
          <a:ext cx="11057838" cy="4279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43302"/>
                <a:gridCol w="8514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Treatment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Return data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Monthly total returns from dividend- and split-adjusted closing prices, Jan 2017 – Dec 2022 (72 observations per series)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Portfolio construction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Target weights per the January-2016 mandate; drift within the quarter, restored to target at each calendar quarter-end (24 rebalances)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Primary benchmark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NASDAQ-100 total return, proxied by the QQQ ETF so that dividends are included (the ^NDX index itself is price-only)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Secondary benchmark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S&amp;P 500 total return, proxied by the SPY ETF on the same basis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Sector benchmarks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The eleven SPDR GICS sector ETFs. XLC launched Jun-2018, so XLK is used for the Communication Services sleeve before that date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Risk-free rate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Fama–French one-month Treasury bill series; mean 1.25% p.a. over the sample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Kenneth R. French Data Library: Mkt-RF, SMB, HML, RMW, CMA and the momentum factor, monthly, US research series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Regressions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OLS with Newey–West (HAC) standard errors, four lags, to correct for autocorrelation and heteroskedasticity in monthly returns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Annualisation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Returns compounded geometrically; volatility scaled by √12; ratios computed on monthly data then annualised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Attribution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Brinson–Fachler, summed arithmetically across 72 months against an equal-weight benchmark of the eleven sector ETFs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Mean–variance optimisation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SLSQP, long-only, maximum Sharpe, 25% position bound; in-sample window Jan 2014 – Dec 2016 for the ex-ante case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Excluded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Transaction costs, market impact, taxes and cash drag. All returns are gross of these unless a slide states otherwise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A2 · Full performance and risk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All strategies and benchmarks, 72 monthly observations, January 2017 – December 2022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45920"/>
          <a:ext cx="11057833" cy="44585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799"/>
                <a:gridCol w="1362839"/>
                <a:gridCol w="1362839"/>
                <a:gridCol w="1362839"/>
                <a:gridCol w="1362839"/>
                <a:gridCol w="1362839"/>
                <a:gridCol w="1362839"/>
              </a:tblGrid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NDIF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Equal weight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Mean–variance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NASDAQ-100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60/40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Cumulative return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179%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170%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194%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135%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52%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Annualised return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18.0%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19.7%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15.3%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7.2%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Annualised volatility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19.1%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19.4%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17.4%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20.2%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17.1%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11.1%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Mean monthly return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1.59%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1.54%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1.36%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1.02%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0.63%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Median monthly return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2.73%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2.26%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2.69%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2.20%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1.83%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1.13%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Skewness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-0.47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-0.38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-0.74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-0.39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-0.48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-0.50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Excess kurtosis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0.62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-0.04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0.35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Best month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14.5%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14.0%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12.4%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15.0%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Worst month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-11.4%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-13.2%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-13.6%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Sharpe ratio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Sortino ratio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1.69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Treynor ratio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0.173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0.163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0.238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0.139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Calmar ratio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0.36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Maximum drawdown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-24.9%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-21.3%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-25.2%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-32.6%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-23.9%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-20.0%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Downside deviation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11.0%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12.9%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7.4%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VaR 95% (monthly)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-9.3%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-7.5%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CVaR 95% (monthly)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-10.2%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-10.3%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-10.5%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-10.5%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-9.8%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Beta vs S&amp;P 500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Tracking error vs S&amp;P 500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6.6%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7.6%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Upside capture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120%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120%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101%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118%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Downside capture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108%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63%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B0B0B"/>
                          </a:solidFill>
                          <a:latin typeface="Calibri"/>
                        </a:rPr>
                        <a:t>Terminal value on $100m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$279m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$270m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$294m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$235m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$190m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B0B0B"/>
                          </a:solidFill>
                          <a:latin typeface="Calibri"/>
                        </a:rPr>
                        <a:t>$152m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A3 · Per-holding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Every position measured over the full six years on the same basis as the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82496"/>
          <a:ext cx="11057832" cy="39822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4048"/>
                <a:gridCol w="1326940"/>
                <a:gridCol w="774048"/>
                <a:gridCol w="1050494"/>
                <a:gridCol w="884627"/>
                <a:gridCol w="995205"/>
                <a:gridCol w="774048"/>
                <a:gridCol w="939916"/>
                <a:gridCol w="718759"/>
                <a:gridCol w="1050494"/>
                <a:gridCol w="774048"/>
                <a:gridCol w="995205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GICS sector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 return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Volatility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Max DD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Beta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CAPM alpha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t-stat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MSFT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Info Tech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319%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27.0%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20.4%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-30.5%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2.76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41.9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GOOGL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Comm Svcs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123%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24.1%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-40.4%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22.1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AMZN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Cons Disc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124%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14.4%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32.2%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-52.1%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10.3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V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Financials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177%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18.5%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22.2%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-27.3%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1.59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15.9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EQIX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Real Estate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105%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12.7%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22.7%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-32.1%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7.8%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10.5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ILMN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Health Care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7.9%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36.3%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0.36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-62.8%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1.14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1.8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ROK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Industrials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115%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13.6%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31.4%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0.53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-42.3%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1.44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11.5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NEE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222%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21.5%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19.6%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-23.5%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3.14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15.7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Cons Staples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222%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21.5%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-20.3%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13.7%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15.5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ALB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172%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18.1%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43.8%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-58.3%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1.47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9.3%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20.8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SLB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49.0%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-81.6%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1.78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-11.6%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-0.64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13.2 pts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B0B0B"/>
                          </a:solidFill>
                          <a:latin typeface="Calibri"/>
                        </a:rPr>
                        <a:t>NDIF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All eleven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179%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18.7%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19.1%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-24.9%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7.2%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2.19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0B0B0B"/>
                          </a:solidFill>
                          <a:latin typeface="Calibri"/>
                        </a:rPr>
                        <a:t>179.2 pts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632704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Only Microsoft and NextEra produced individually significant CAPM alphas (t &gt; 1.96). The portfolio's alpha is larger and more significant than almost every constituent's — the diversification benefit is doing real statistical work.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A4 · Complete factor-model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Coefficient, t-statistic and significance for every factor across all four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82496"/>
          <a:ext cx="11057837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3881"/>
                <a:gridCol w="2100989"/>
                <a:gridCol w="2100989"/>
                <a:gridCol w="2100989"/>
                <a:gridCol w="2100989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CAPM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Fama–French 3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Fama–French 5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FF5 + momentum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Alpha (annualised)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7.2%**
(t = 2.19)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5.9%***
(t = 2.83)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6.6%***
(t = 3.06)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6.5%***
(t = 2.95)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Market (Mkt-RF)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+1.005***
(t = 15.75)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+1.040***
(t = 25.66)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+1.050***
(t = 29.16)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+1.054***
(t = 25.88)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Size (SMB)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-0.164**
(t = -2.30)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-0.218***
(t = -3.01)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-0.209**
(t = -2.50)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Value (HML)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-0.236***
(t = -5.61)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-0.191***
(t = -3.05)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-0.184***
(t = -2.76)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Profitability (RMW)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-0.111
(t = -1.30)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-0.104
(t = -1.23)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Investment (CMA)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-0.053
(t = -0.64)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-0.060
(t = -0.72)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Momentum (MOM)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+0.022
(t = 0.29)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Adjusted R²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0.872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0.915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0.914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0.913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0B0B"/>
                          </a:solidFill>
                          <a:latin typeface="Calibri"/>
                        </a:rPr>
                        <a:t>Observations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57784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86847E"/>
                </a:solidFill>
                <a:latin typeface="Calibri"/>
              </a:rPr>
              <a:t>*** significant at 1%   ** significant at 5%   * significant at 10%.  Newey–West heteroskedasticity- and autocorrelation-consistent standard errors, four lags. Dependent variable is the fund's monthly return in excess of the one-month Treasury bill rate.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A5 · Correlation structure of the holdings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Average pairwise correlation of 0.40 — genuine diversification inside a single theme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43</a:t>
            </a:r>
          </a:p>
        </p:txBody>
      </p:sp>
      <p:pic>
        <p:nvPicPr>
          <p:cNvPr id="8" name="Picture 7" descr="09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289" y="1481328"/>
            <a:ext cx="4955116" cy="4663439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A6 · The risk–return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Every holding, the portfolio and both benchmarks on realised risk and return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44</a:t>
            </a:r>
          </a:p>
        </p:txBody>
      </p:sp>
      <p:pic>
        <p:nvPicPr>
          <p:cNvPr id="8" name="Picture 7" descr="08_risk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264" y="1481328"/>
            <a:ext cx="7545167" cy="4663439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A7 · The efficient frontier of our own holdings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Where the fund actually landed against the best that was achievable ex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45</a:t>
            </a:r>
          </a:p>
        </p:txBody>
      </p:sp>
      <p:pic>
        <p:nvPicPr>
          <p:cNvPr id="8" name="Picture 7" descr="17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264" y="1481328"/>
            <a:ext cx="7545167" cy="4663439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A8 · Distribution comparison and dispersion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How the fund's return distribution compares to its benchmarks, and the spread across individual holdings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46</a:t>
            </a:r>
          </a:p>
        </p:txBody>
      </p:sp>
      <p:pic>
        <p:nvPicPr>
          <p:cNvPr id="8" name="Picture 7" descr="07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633" y="1536192"/>
            <a:ext cx="4344428" cy="2249422"/>
          </a:xfrm>
          <a:prstGeom prst="rect">
            <a:avLst/>
          </a:prstGeom>
        </p:spPr>
      </p:pic>
      <p:pic>
        <p:nvPicPr>
          <p:cNvPr id="9" name="Picture 8" descr="32_spaghe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306" y="3895344"/>
            <a:ext cx="4019083" cy="2249423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A9 · Rolling beta and volatility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Stability of the fund's market exposure and total risk through the sample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47</a:t>
            </a:r>
          </a:p>
        </p:txBody>
      </p:sp>
      <p:pic>
        <p:nvPicPr>
          <p:cNvPr id="8" name="Picture 7" descr="16_rolling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111" y="1536192"/>
            <a:ext cx="4609473" cy="2249422"/>
          </a:xfrm>
          <a:prstGeom prst="rect">
            <a:avLst/>
          </a:prstGeom>
        </p:spPr>
      </p:pic>
      <p:pic>
        <p:nvPicPr>
          <p:cNvPr id="9" name="Picture 8" descr="30_rolling_v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339" y="3895344"/>
            <a:ext cx="4607017" cy="224942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A10 · Month-of-year seasonality and the fee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Supporting detail on the seasonality discussion and the fee benchmarking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48</a:t>
            </a:r>
          </a:p>
        </p:txBody>
      </p:sp>
      <p:pic>
        <p:nvPicPr>
          <p:cNvPr id="8" name="Picture 7" descr="11_month_a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043" y="1554480"/>
            <a:ext cx="4503608" cy="224942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986784"/>
          <a:ext cx="11057836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17351"/>
                <a:gridCol w="1658675"/>
                <a:gridCol w="2100989"/>
                <a:gridCol w="1879832"/>
                <a:gridCol w="210098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Comparator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Fee p.a.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6-year fee on $100m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Return delivered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Terminal value</a:t>
                      </a:r>
                    </a:p>
                  </a:txBody>
                  <a:tcPr marL="82296" marR="82296" marT="27432" marB="27432" anchor="ctr">
                    <a:solidFill>
                      <a:srgbClr val="0B254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Passive S&amp;P 500 ETF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$0.6m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$190m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Passive NASDAQ-100 ETF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0.20%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135%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$235m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Typical active equity fund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1.25%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$8.4m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0B0B"/>
                          </a:solidFill>
                          <a:latin typeface="Calibri"/>
                        </a:rPr>
                        <a:t>Northpoint Digital Innovation Fund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1.15% all-in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$7.7m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179%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0B0B0B"/>
                          </a:solidFill>
                          <a:latin typeface="Calibri"/>
                        </a:rPr>
                        <a:t>$279m</a:t>
                      </a:r>
                    </a:p>
                  </a:txBody>
                  <a:tcPr marL="82296" marR="82296" marT="27432" marB="27432" anchor="ctr"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65099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2514E"/>
                </a:solidFill>
                <a:latin typeface="Calibri"/>
              </a:rPr>
              <a:t>Fees estimated on static AUM for comparability. The all-in Northpoint load of 1.15% p.a. is 0.95 points above a passive NASDAQ-100 ETF and delivered $44m of additional terminal value — a net gain of roughly $38m after the incremental fee.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B2545"/>
                </a:solidFill>
                <a:latin typeface="Calibri"/>
              </a:rPr>
              <a:t>A11 · References and declarations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969264"/>
            <a:ext cx="566928" cy="411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52514E"/>
                </a:solidFill>
                <a:latin typeface="Calibri"/>
              </a:rPr>
              <a:t>Sources, academic references, and the required statement on the use of generative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72784"/>
            <a:ext cx="11057839" cy="10972"/>
          </a:xfrm>
          <a:prstGeom prst="rect">
            <a:avLst/>
          </a:prstGeom>
          <a:solidFill>
            <a:srgbClr val="E6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9165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Northpoint Digital Innovation Fund  ·  Six-year performance review, Jan 2017 – Dec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916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 i="0">
                <a:solidFill>
                  <a:srgbClr val="86847E"/>
                </a:solidFill>
                <a:latin typeface="Calibri"/>
              </a:rPr>
              <a:t>49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5852160" cy="43159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157984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Brinson, G. P., Hood, L. R., &amp; Beebower, G. L. (1986). Determinants of portfolio performance. Financial Analysts Journal, 42(4), 39–44.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DeMiguel, V., Garlappi, L., &amp; Uppal, R. (2009). Optimal versus naive diversification. The Review of Financial Studies, 22(5), 1915–1953.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Fama, E. F., &amp; French, K. R. (1993). Common risk factors in the returns on stocks and bonds. Journal of Financial Economics, 33(1), 3–56.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Fama, E. F., &amp; French, K. R. (2015). A five-factor asset pricing model. Journal of Financial Economics, 116(1), 1–22.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Jensen, M. C. (1968). The performance of mutual funds in the period 1945–1964. The Journal of Finance, 23(2), 389–416.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Markowitz, H. (1952). Portfolio selection. The Journal of Finance, 7(1), 77–91.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Newey, W. K., &amp; West, K. D. (1987). A simple, positive semi-definite, heteroskedasticity and autocorrelation consistent covariance matrix. Econometrica, 55(3), 703–708.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Sharpe, W. F. (1966). Mutual fund performance. The Journal of Business, 39(1), 119–138.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Sortino, F. A., &amp; Price, L. N. (1994). Performance measurement in a downside risk framework. The Journal of Investing, 3(3), 59–64.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Treynor, J. L. (1965). How to rate management of investment funds. Harvard Business Review, 43(1), 63–75.</a:t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52514E"/>
                </a:solidFill>
                <a:latin typeface="Calibri"/>
              </a:rPr>
              <a:t>Data: Kenneth R. French Data Library (factor and risk-free series); dividend-adjusted monthly closing prices for all eleven holdings, the eleven SPDR sector ETFs, QQQ, SPY and AGG.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645920"/>
            <a:ext cx="4949647" cy="43159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12864" y="182880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  <a:latin typeface="Calibri"/>
              </a:rPr>
              <a:t>GENERATIVE AI USE DECLARATION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2864" y="2157984"/>
            <a:ext cx="4455871" cy="496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0B2545"/>
                </a:solidFill>
                <a:latin typeface="Calibri"/>
              </a:rPr>
              <a:t>Assessment classification.  </a:t>
            </a:r>
            <a:r>
              <a:rPr sz="1050">
                <a:solidFill>
                  <a:srgbClr val="0B0B0B"/>
                </a:solidFill>
                <a:latin typeface="Calibri"/>
              </a:rPr>
              <a:t>AI-Supported. Generative AI was permitted for the preparation of the analysis and slides; the presentation itself is delivered by the author.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864" y="2891790"/>
            <a:ext cx="4455871" cy="330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0B2545"/>
                </a:solidFill>
                <a:latin typeface="Calibri"/>
              </a:rPr>
              <a:t>Tools used.  </a:t>
            </a:r>
            <a:r>
              <a:rPr sz="1050">
                <a:solidFill>
                  <a:srgbClr val="0B0B0B"/>
                </a:solidFill>
                <a:latin typeface="Calibri"/>
              </a:rPr>
              <a:t>Generative AI assistant for the Python analysis code, chart generation and slide drafting; Grammarly for language editing.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3460242"/>
            <a:ext cx="4455871" cy="330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0B2545"/>
                </a:solidFill>
                <a:latin typeface="Calibri"/>
              </a:rPr>
              <a:t>Purpose.  </a:t>
            </a:r>
            <a:r>
              <a:rPr sz="1050">
                <a:solidFill>
                  <a:srgbClr val="0B0B0B"/>
                </a:solidFill>
                <a:latin typeface="Calibri"/>
              </a:rPr>
              <a:t>Writing the return, risk and regression code; producing the visualisations; structuring the deck; drafting speaker notes.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2864" y="4028694"/>
            <a:ext cx="4455871" cy="661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0B2545"/>
                </a:solidFill>
                <a:latin typeface="Calibri"/>
              </a:rPr>
              <a:t>Human refinement.  </a:t>
            </a:r>
            <a:r>
              <a:rPr sz="1050">
                <a:solidFill>
                  <a:srgbClr val="0B0B0B"/>
                </a:solidFill>
                <a:latin typeface="Calibri"/>
              </a:rPr>
              <a:t>As Portfolio Manager I set the analytical scope, chose the benchmarks and factor models, interpreted every result, wrote the investment narrative and recommendation, and verified the outputs against the underlying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4927854"/>
            <a:ext cx="4455871" cy="4960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050" b="1">
                <a:solidFill>
                  <a:srgbClr val="0B2545"/>
                </a:solidFill>
                <a:latin typeface="Calibri"/>
              </a:rPr>
              <a:t>Data integrity.  </a:t>
            </a:r>
            <a:r>
              <a:rPr sz="1050">
                <a:solidFill>
                  <a:srgbClr val="0B0B0B"/>
                </a:solidFill>
                <a:latin typeface="Calibri"/>
              </a:rPr>
              <a:t>All market data was retrieved programmatically from primary sources. No figure in this deck was generated by an AI model without a reproducible calculation behind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