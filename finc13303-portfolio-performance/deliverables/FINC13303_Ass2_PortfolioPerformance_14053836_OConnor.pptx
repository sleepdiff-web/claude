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afternoon or evening, depending on where you're joining me from. I'm Callum</a:t>
            </a:r>
          </a:p>
          <a:p>
            <a:r>
              <a:t>O'Connor, Portfolio Manager of the Northpoint Digital Innovation Fund.</a:t>
            </a:r>
          </a:p>
          <a:p/>
          <a:p>
            <a:r>
              <a:t>Six years ago you gave this fund a hundred million dollars and one instruction: own the winners of</a:t>
            </a:r>
          </a:p>
          <a:p>
            <a:r>
              <a:t>digital transformation across the whole economy, and do it with discipline. Today I'm closing the</a:t>
            </a:r>
          </a:p>
          <a:p>
            <a:r>
              <a:t>book on that mandate.</a:t>
            </a:r>
          </a:p>
          <a:p/>
          <a:p>
            <a:r>
              <a:t>The headline is on the right of your screen. That hundred million is now two hundred and</a:t>
            </a:r>
          </a:p>
          <a:p>
            <a:r>
              <a:t>seventy-nine million. A hundred and seventy-nine per cent cumulative, or eighteen point seven per</a:t>
            </a:r>
          </a:p>
          <a:p>
            <a:r>
              <a:t>cent a year, through a trade war, a pandemic, the fastest bear market in history and the sharpest</a:t>
            </a:r>
          </a:p>
          <a:p>
            <a:r>
              <a:t>rate shock in forty years.</a:t>
            </a:r>
          </a:p>
          <a:p/>
          <a:p>
            <a:r>
              <a:t>Over the next twenty-five minutes I'll show you where that money came from, how much risk we took</a:t>
            </a:r>
          </a:p>
          <a:p>
            <a:r>
              <a:t>to get it, whether it was skill or simply a rising market, and what I think you should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sections.</a:t>
            </a:r>
          </a:p>
          <a:p/>
          <a:p>
            <a:r>
              <a:t>Where we started, the mandate, and whether we stuck to it. The economy, three regimes in six</a:t>
            </a:r>
          </a:p>
          <a:p>
            <a:r>
              <a:t>years, and an honest mark against the scenarios we published in 2016. What the fund returned, and</a:t>
            </a:r>
          </a:p>
          <a:p>
            <a:r>
              <a:t>how it behaved in the two moments that mattered. How much risk we took. Then the section I care</a:t>
            </a:r>
          </a:p>
          <a:p>
            <a:r>
              <a:t>most about: was any of this skill? And finally the verdict, the fees, and my recommendation.</a:t>
            </a:r>
          </a:p>
          <a:p/>
          <a:p>
            <a:r>
              <a:t>Questions at the end. There's a full appendix behind the deck with the workings.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six years on one slide.</a:t>
            </a:r>
          </a:p>
          <a:p/>
          <a:p>
            <a:r>
              <a:t>Top left: a hundred and seventy-nine per cent cumulative. The S&amp;P 500 returned ninety over the same</a:t>
            </a:r>
          </a:p>
          <a:p>
            <a:r>
              <a:t>window; the NASDAQ-100, our primary benchmark and the harder test, returned a hundred and</a:t>
            </a:r>
          </a:p>
          <a:p>
            <a:r>
              <a:t>thirty-five. Annualised, eighteen point seven per cent against a target of eight to ten.</a:t>
            </a:r>
          </a:p>
          <a:p/>
          <a:p>
            <a:r>
              <a:t>But look at the second row as much as the first. A Sharpe ratio of nought point nine four, the</a:t>
            </a:r>
          </a:p>
          <a:p>
            <a:r>
              <a:t>highest of every comparator I tested. A maximum drawdown of minus twenty-four point nine per cent,</a:t>
            </a:r>
          </a:p>
          <a:p>
            <a:r>
              <a:t>shallower than the NASDAQ-100's thirty-two point six. We didn't simply take more risk to get more</a:t>
            </a:r>
          </a:p>
          <a:p>
            <a:r>
              <a:t>return.</a:t>
            </a:r>
          </a:p>
          <a:p/>
          <a:p>
            <a:r>
              <a:t>And the number I'd draw your attention to above all: six point six per cent annualised alpha on a</a:t>
            </a:r>
          </a:p>
          <a:p>
            <a:r>
              <a:t>five-factor model, t-statistic three point zero six. The probability that's luck is about two in a</a:t>
            </a:r>
          </a:p>
          <a:p>
            <a:r>
              <a:t>thousand, with a beta of one, so it wasn't leverage either.</a:t>
            </a:r>
          </a:p>
          <a:p/>
          <a:p>
            <a:r>
              <a:t>I'll earn every one of those claims.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contract, unedited, because the first test of a manager isn't performance. It's</a:t>
            </a:r>
          </a:p>
          <a:p>
            <a:r>
              <a:t>whether the thing you bought is the thing you got.</a:t>
            </a:r>
          </a:p>
          <a:p/>
          <a:p>
            <a:r>
              <a:t>An active, high-conviction thematic equity fund. The theme: digital transformation. Eleven</a:t>
            </a:r>
          </a:p>
          <a:p>
            <a:r>
              <a:t>holdings, one per GICS sector. A pure technology fund would have been an easier story to sell, but</a:t>
            </a:r>
          </a:p>
          <a:p>
            <a:r>
              <a:t>it would have failed the diversification requirement, and as you'll see it would have hurt badly</a:t>
            </a:r>
          </a:p>
          <a:p>
            <a:r>
              <a:t>in 2022.</a:t>
            </a:r>
          </a:p>
          <a:p/>
          <a:p>
            <a:r>
              <a:t>Two hard constraints on the weights: a five per cent floor in every sector, and a sixteen per cent</a:t>
            </a:r>
          </a:p>
          <a:p>
            <a:r>
              <a:t>cap on the largest position. Quarterly rebalancing with a five-point drift threshold.</a:t>
            </a:r>
          </a:p>
          <a:p/>
          <a:p>
            <a:r>
              <a:t>And the target: eight to ten per cent net a year. Hold that number, I'm going to mark ourselves</a:t>
            </a:r>
          </a:p>
          <a:p>
            <a:r>
              <a:t>against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 coloured by conviction tier.</a:t>
            </a:r>
          </a:p>
          <a:p/>
          <a:p>
            <a:r>
              <a:t>Tier one: forty-two per cent in three platform companies where several parts of the thesis compound</a:t>
            </a:r>
          </a:p>
          <a:p>
            <a:r>
              <a:t>at once. Microsoft at sixteen per cent was our largest position and our highest-conviction idea.</a:t>
            </a:r>
          </a:p>
          <a:p/>
          <a:p>
            <a:r>
              <a:t>Tier two, thirty-four per cent: the enablers. Each monetises digitisation through one channel —</a:t>
            </a:r>
          </a:p>
          <a:p>
            <a:r>
              <a:t>Visa is payments, Equinix is data centres, Illumina is genomics, Rockwell is factory automation.</a:t>
            </a:r>
          </a:p>
          <a:p/>
          <a:p>
            <a:r>
              <a:t>Tier three, twenty-four per cent: ballast.</a:t>
            </a:r>
          </a:p>
          <a:p/>
          <a:p>
            <a:r>
              <a:t>Now, the fourth point is the one I'd ask you to remember. For five of these six years, holding</a:t>
            </a:r>
          </a:p>
          <a:p>
            <a:r>
              <a:t>Schlumberger at five per cent looked like a tax on the portfolio. I was asked repeatedly why we</a:t>
            </a:r>
          </a:p>
          <a:p>
            <a:r>
              <a:t>didn't just drop the sector. We didn't, because the mandate said every sector keeps a floor. In</a:t>
            </a:r>
          </a:p>
          <a:p>
            <a:r>
              <a:t>2022 that discipline is exactly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detour on process, because this is where funds quietly drift from their mandate.</a:t>
            </a:r>
          </a:p>
          <a:p/>
          <a:p>
            <a:r>
              <a:t>On the left: what would have happened if we'd bought the eleven stocks and never touched them. Tier</a:t>
            </a:r>
          </a:p>
          <a:p>
            <a:r>
              <a:t>one would have grown from forty-two per cent of the book to forty-eight, with Microsoft alone at</a:t>
            </a:r>
          </a:p>
          <a:p>
            <a:r>
              <a:t>twenty-five per cent. You'd have ended up owning a concentrated mega-cap technology fund that no</a:t>
            </a:r>
          </a:p>
          <a:p>
            <a:r>
              <a:t>longer resembled the mandate you signed.</a:t>
            </a:r>
          </a:p>
          <a:p/>
          <a:p>
            <a:r>
              <a:t>On the right: what we actually did.</a:t>
            </a:r>
          </a:p>
          <a:p/>
          <a:p>
            <a:r>
              <a:t>And look at the table. Rebalancing wasn't governance theatre. It was worth eighteen million</a:t>
            </a:r>
          </a:p>
          <a:p>
            <a:r>
              <a:t>dollars. Two seventy-nine versus two sixty-one. One point three points a year of extra return, a</a:t>
            </a:r>
          </a:p>
          <a:p>
            <a:r>
              <a:t>higher Sharpe, and a drawdown three points shallower, because rebalancing systematically trimmed</a:t>
            </a:r>
          </a:p>
          <a:p>
            <a:r>
              <a:t>winners at highs and topped up laggards at 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six years in one line.</a:t>
            </a:r>
          </a:p>
          <a:p/>
          <a:p>
            <a:r>
              <a:t>We opened in January 2017 with the Dow crossing twenty thousand. Through 2017 the fund returned</a:t>
            </a:r>
          </a:p>
          <a:p>
            <a:r>
              <a:t>forty per cent, driven by the December tax reform and by cloud adoption accelerating exactly as</a:t>
            </a:r>
          </a:p>
          <a:p>
            <a:r>
              <a:t>we'd argued.</a:t>
            </a:r>
          </a:p>
          <a:p/>
          <a:p>
            <a:r>
              <a:t>2018 was our first hard year, the trade war escalated and the fourth quarter was brutal. We lost</a:t>
            </a:r>
          </a:p>
          <a:p>
            <a:r>
              <a:t>nine point six per cent in October and nine point eight in December, and still finished up three</a:t>
            </a:r>
          </a:p>
          <a:p>
            <a:r>
              <a:t>point seven while the S&amp;P fell four and a half.</a:t>
            </a:r>
          </a:p>
          <a:p/>
          <a:p>
            <a:r>
              <a:t>2019 was the recovery on the Fed's pivot to cutting. Then March 2020, which I'll come back to.</a:t>
            </a:r>
          </a:p>
          <a:p/>
          <a:p>
            <a:r>
              <a:t>The fund peaked in December 2021 at three hundred and sixty million dollars, within weeks of the</a:t>
            </a:r>
          </a:p>
          <a:p>
            <a:r>
              <a:t>Fed abandoning the word "transitory". 2022 gave a chunk of it back.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economic narrative, because you're not paying me to read a line chart to you.</a:t>
            </a:r>
          </a:p>
          <a:p/>
          <a:p>
            <a:r>
              <a:t>The first three years were broadly the world we said we expected: moderate growth, contained</a:t>
            </a:r>
          </a:p>
          <a:p>
            <a:r>
              <a:t>inflation, a gradual Fed, and spending shifting steadily toward cloud, mobile and payments. 2018</a:t>
            </a:r>
          </a:p>
          <a:p>
            <a:r>
              <a:t>was the exception: the trade war was a risk we'd flagged but sized wrongly.</a:t>
            </a:r>
          </a:p>
          <a:p/>
          <a:p>
            <a:r>
              <a:t>The second three years are more interesting. If you go back to our 2016 Scenario C, we wrote, and</a:t>
            </a:r>
          </a:p>
          <a:p>
            <a:r>
              <a:t>I quote, "another systemic disruption such as a global pandemic." We put twenty per cent on it.</a:t>
            </a:r>
          </a:p>
          <a:p>
            <a:r>
              <a:t>It happened.</a:t>
            </a:r>
          </a:p>
          <a:p/>
          <a:p>
            <a:r>
              <a:t>And here's the part we got right for the right reason. We argued that even in a recession, cloud</a:t>
            </a:r>
          </a:p>
          <a:p>
            <a:r>
              <a:t>migration and payment digitisation continue, because they're cost-saving. COVID didn't slow our</a:t>
            </a:r>
          </a:p>
          <a:p>
            <a:r>
              <a:t>theme. It accelerated it by years.</a:t>
            </a:r>
          </a:p>
          <a:p/>
          <a:p>
            <a:r>
              <a:t>2022 tested the diversification rather than the theme. When the discount rate goes from zero to</a:t>
            </a:r>
          </a:p>
          <a:p>
            <a:r>
              <a:t>four and a quarter, long-duration growth equity is repriced. There was nowhere to hide inside the</a:t>
            </a:r>
          </a:p>
          <a:p>
            <a:r>
              <a:t>theme, only the ballast helped.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managers avoid this next slide. It holds up our own forecast and marks it against reality.</a:t>
            </a:r>
          </a:p>
          <a:p/>
          <a:p>
            <a:r>
              <a:t>In 2016 we published three scenarios with explicit probabilities and returns. The pale bars are</a:t>
            </a:r>
          </a:p>
          <a:p>
            <a:r>
              <a:t>what we said. The dark bars are what happened.</a:t>
            </a:r>
          </a:p>
          <a:p/>
          <a:p>
            <a:r>
              <a:t>Two honest observations. We got the direction right in five of six years. But we were</a:t>
            </a:r>
          </a:p>
          <a:p>
            <a:r>
              <a:t>systematically too conservative about magnitude in both directions. In 2017 we assumed eighteen</a:t>
            </a:r>
          </a:p>
          <a:p>
            <a:r>
              <a:t>per cent and delivered forty; in 2019 we thought we were in a stagnation world worth nine and</a:t>
            </a:r>
          </a:p>
          <a:p>
            <a:r>
              <a:t>delivered thirty-seven; and in 2022 we'd assumed a recession would cost four per cent, and it cost</a:t>
            </a:r>
          </a:p>
          <a:p>
            <a:r>
              <a:t>twenty-two and a half.</a:t>
            </a:r>
          </a:p>
          <a:p/>
          <a:p>
            <a:r>
              <a:t>The lesson: scenario frameworks are good at identifying which state of the world you're in, and</a:t>
            </a:r>
          </a:p>
          <a:p>
            <a:r>
              <a:t>poor at telling you how violent it will be.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chart the whole review rests on.</a:t>
            </a:r>
          </a:p>
          <a:p/>
          <a:p>
            <a:r>
              <a:t>Blue is the fund, orange the NASDAQ-100, green the S&amp;P 500.</a:t>
            </a:r>
          </a:p>
          <a:p/>
          <a:p>
            <a:r>
              <a:t>Three things. First, we're above the NASDAQ-100 for essentially the whole period, and the gap</a:t>
            </a:r>
          </a:p>
          <a:p>
            <a:r>
              <a:t>widens rather than narrows. Second, look at where the lines separate most: the right-hand end, in 2022. On the way up we tracked the benchmark closely; on the way down we fell much less. That</a:t>
            </a:r>
          </a:p>
          <a:p>
            <a:r>
              <a:t>asymmetry is the whole argument for the construction.</a:t>
            </a:r>
          </a:p>
          <a:p/>
          <a:p>
            <a:r>
              <a:t>Third, the table. Against the S&amp;P 500, which any of you could have bought for nine basis points —</a:t>
            </a:r>
          </a:p>
          <a:p>
            <a:r>
              <a:t>we added eighty-nine million dollars. Against the NASDAQ-100, the tougher test because it shares</a:t>
            </a:r>
          </a:p>
          <a:p>
            <a:r>
              <a:t>our theme, forty-four million. Against a conventional sixty-forty, a hundred and twenty-seven</a:t>
            </a:r>
          </a:p>
          <a:p>
            <a:r>
              <a:t>million.</a:t>
            </a:r>
          </a:p>
          <a:p/>
          <a:p>
            <a:r>
              <a:t>I'm not going to pretend all of that is skill. Section five separates the two properly.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returns.</a:t>
            </a:r>
          </a:p>
          <a:p/>
          <a:p>
            <a:r>
              <a:t>The pattern to take away isn't the size of the good years. It's the shape of the bad ones. In a</a:t>
            </a:r>
          </a:p>
          <a:p>
            <a:r>
              <a:t>bull market a technology-tilted fund is supposed to have good years; there's nothing clever about</a:t>
            </a:r>
          </a:p>
          <a:p>
            <a:r>
              <a:t>that.</a:t>
            </a:r>
          </a:p>
          <a:p/>
          <a:p>
            <a:r>
              <a:t>The interesting years are 2018 and 2022. In 2018 the S&amp;P lost four point six per cent and the</a:t>
            </a:r>
          </a:p>
          <a:p>
            <a:r>
              <a:t>NASDAQ-100 was flat; we made three point seven. In 2022 the S&amp;P lost eighteen and the NASDAQ-100</a:t>
            </a:r>
          </a:p>
          <a:p>
            <a:r>
              <a:t>lost thirty-two point six; we lost twenty-two and a half.</a:t>
            </a:r>
          </a:p>
          <a:p/>
          <a:p>
            <a:r>
              <a:t>Now, we underperformed the S&amp;P by four points that year, and I won't dress that up. A</a:t>
            </a:r>
          </a:p>
          <a:p>
            <a:r>
              <a:t>technology-tilted fund should lag the broad market when growth de-rates. But against our own theme</a:t>
            </a:r>
          </a:p>
          <a:p>
            <a:r>
              <a:t>benchmark we outperformed by ten full points.</a:t>
            </a:r>
          </a:p>
          <a:p/>
          <a:p>
            <a:r>
              <a:t>The only year we lagged the NASDAQ-100 was 2020, because concentration was rewarded and our sector</a:t>
            </a:r>
          </a:p>
          <a:p>
            <a:r>
              <a:t>floors held us back. That's the cost of diversification, and 2022 is where you got paid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strips out the market and shows only relative performance.</a:t>
            </a:r>
          </a:p>
          <a:p/>
          <a:p>
            <a:r>
              <a:t>Against the S&amp;P 500, in green, the line rises steadily. That's the theme working.</a:t>
            </a:r>
          </a:p>
          <a:p/>
          <a:p>
            <a:r>
              <a:t>The orange line tells you something you won't get anywhere else. Against the NASDAQ-100 we were</a:t>
            </a:r>
          </a:p>
          <a:p>
            <a:r>
              <a:t>roughly flat for the first four and a half years. We only decisively pulled ahead from November</a:t>
            </a:r>
          </a:p>
          <a:p>
            <a:r>
              <a:t>2021.</a:t>
            </a:r>
          </a:p>
          <a:p/>
          <a:p>
            <a:r>
              <a:t>Be clear about what that means. For most of this fund's life we did not beat our primary</a:t>
            </a:r>
          </a:p>
          <a:p>
            <a:r>
              <a:t>benchmark, we tracked it. All of the outperformance against it was earned in the 2022 drawdown, by</a:t>
            </a:r>
          </a:p>
          <a:p>
            <a:r>
              <a:t>falling less.</a:t>
            </a:r>
          </a:p>
          <a:p/>
          <a:p>
            <a:r>
              <a:t>Some managers would present that as a weakness. I'd argue the opposite. Anyone can hold technology</a:t>
            </a:r>
          </a:p>
          <a:p>
            <a:r>
              <a:t>stocks in a technology bull market. Capital preservation when the regime turns is the part that</a:t>
            </a:r>
          </a:p>
          <a:p>
            <a:r>
              <a:t>requires an actual discipline, and 2022 is the year the fee earned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Drawdown determines whether an investor stays in a fund, so I will take it head on.</a:t>
            </a:r>
          </a:p>
          <a:p/>
          <a:p>
            <a:r>
              <a:t>Our worst peak-to-trough loss was twenty-four point nine per cent, from November 2021 to September</a:t>
            </a:r>
          </a:p>
          <a:p>
            <a:r>
              <a:t>2022. The NASDAQ-100 lost thirty-two point six. The S&amp;P lost twenty-three point nine.</a:t>
            </a:r>
          </a:p>
          <a:p/>
          <a:p>
            <a:r>
              <a:t>So we sat between the two, worse than the broad market, materially better than our own benchmark.</a:t>
            </a:r>
          </a:p>
          <a:p>
            <a:r>
              <a:t>For a fund with a deliberate technology tilt, that is the right place to be.</a:t>
            </a:r>
          </a:p>
          <a:p/>
          <a:p>
            <a:r>
              <a:t>The Calmar ratio in the table is return per unit of maximum drawdown: nought point seven five for</a:t>
            </a:r>
          </a:p>
          <a:p>
            <a:r>
              <a:t>us against nought point four seven for both indices. A sixty per cent improvement in return per</a:t>
            </a:r>
          </a:p>
          <a:p>
            <a:r>
              <a:t>unit of worst-case pain.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stress test.</a:t>
            </a:r>
          </a:p>
          <a:p/>
          <a:p>
            <a:r>
              <a:t>February and March 2020 cost us twelve point six per cent. It felt considerably worse at the time,</a:t>
            </a:r>
          </a:p>
          <a:p>
            <a:r>
              <a:t>because these are month-end figures.</a:t>
            </a:r>
          </a:p>
          <a:p/>
          <a:p>
            <a:r>
              <a:t>Then look what happens. April 2020 was the best month in the fund's history at plus fourteen and a</a:t>
            </a:r>
          </a:p>
          <a:p>
            <a:r>
              <a:t>half per cent. By May we were back above the January high, and 2020 finished up thirty-seven per</a:t>
            </a:r>
          </a:p>
          <a:p>
            <a:r>
              <a:t>cent.</a:t>
            </a:r>
          </a:p>
          <a:p/>
          <a:p>
            <a:r>
              <a:t>Two things follow from that. First, our 2016 document had literally named a global pandemic as a</a:t>
            </a:r>
          </a:p>
          <a:p>
            <a:r>
              <a:t>Scenario C trigger. I'm not claiming we predicted COVID, I'm claiming that a framework which</a:t>
            </a:r>
          </a:p>
          <a:p>
            <a:r>
              <a:t>forces you to name tail events stops you building a portfolio that only survives the base case.</a:t>
            </a:r>
          </a:p>
          <a:p/>
          <a:p>
            <a:r>
              <a:t>Second, and more substantive: our core assumption was that digital transformation is cost-saving</a:t>
            </a:r>
          </a:p>
          <a:p>
            <a:r>
              <a:t>and therefore continues in a recession. COVID tested that harder than anything we could have</a:t>
            </a:r>
          </a:p>
          <a:p>
            <a:r>
              <a:t>designed, and the answer came back emphatically.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stress test, and the more instructive one.</a:t>
            </a:r>
          </a:p>
          <a:p/>
          <a:p>
            <a:r>
              <a:t>2022 was the sharpest tightening since 1981, the Fed raised four hundred and twenty-five basis</a:t>
            </a:r>
          </a:p>
          <a:p>
            <a:r>
              <a:t>points in a calendar year. When the discount rate moves that fast, long-duration growth equity gets</a:t>
            </a:r>
          </a:p>
          <a:p>
            <a:r>
              <a:t>repriced, and there's no clever way around it.</a:t>
            </a:r>
          </a:p>
          <a:p/>
          <a:p>
            <a:r>
              <a:t>We lost twenty-two and a half per cent. The NASDAQ-100 lost thirty-two point six.</a:t>
            </a:r>
          </a:p>
          <a:p/>
          <a:p>
            <a:r>
              <a:t>The right-hand panel explains the ten-point difference. At the bottom: Amazon minus fifty, Illumina</a:t>
            </a:r>
          </a:p>
          <a:p>
            <a:r>
              <a:t>minus forty-seven, Alphabet minus thirty-nine. Our thesis names were hit exactly as hard as you'd</a:t>
            </a:r>
          </a:p>
          <a:p>
            <a:r>
              <a:t>expect.</a:t>
            </a:r>
          </a:p>
          <a:p/>
          <a:p>
            <a:r>
              <a:t>Now look at the top. Schlumberger, plus eighty-one per cent. Visa down three. Albemarle down seven.</a:t>
            </a:r>
          </a:p>
          <a:p/>
          <a:p>
            <a:r>
              <a:t>Schlumberger was, over six years, the worst holding in this fund. For five years it was the</a:t>
            </a:r>
          </a:p>
          <a:p>
            <a:r>
              <a:t>position I was asked to justify most often. It was there for one reason: the mandate said every</a:t>
            </a:r>
          </a:p>
          <a:p>
            <a:r>
              <a:t>sector gets a floor. In the worst year of the fund's life, that unloved five per cent returned</a:t>
            </a:r>
          </a:p>
          <a:p>
            <a:r>
              <a:t>eighty-one per cent. That's what diversification is, and it's why the constraint was written into</a:t>
            </a:r>
          </a:p>
          <a:p>
            <a:r>
              <a:t>the mandate rather than left to my discretion.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quantitative section. Start with the raw distribution rather than a summary statistic, because a</a:t>
            </a:r>
          </a:p>
          <a:p>
            <a:r>
              <a:t>summary statistic can hide a lot.</a:t>
            </a:r>
          </a:p>
          <a:p/>
          <a:p>
            <a:r>
              <a:t>Seventy-two observations. Mean monthly return one point five nine per cent, median two point seven</a:t>
            </a:r>
          </a:p>
          <a:p>
            <a:r>
              <a:t>three. The median well above the mean tells you immediately there's a left tail.</a:t>
            </a:r>
          </a:p>
          <a:p/>
          <a:p>
            <a:r>
              <a:t>Skewness confirms it at minus nought point four seven, mild negative skew, normal for equities.</a:t>
            </a:r>
          </a:p>
          <a:p>
            <a:r>
              <a:t>Excess kurtosis is essentially zero, so no fat tails. And Jarque-Bera returns a p-value of nought</a:t>
            </a:r>
          </a:p>
          <a:p>
            <a:r>
              <a:t>point two eight, meaning we can't reject normality.</a:t>
            </a:r>
          </a:p>
          <a:p/>
          <a:p>
            <a:r>
              <a:t>That matters practically: the parametric risk measures, standard deviation, Sharpe, normal-based</a:t>
            </a:r>
          </a:p>
          <a:p>
            <a:r>
              <a:t>VaR, are trustworthy for this fund. That isn't true of every strategy.</a:t>
            </a:r>
          </a:p>
          <a:p/>
          <a:p>
            <a:r>
              <a:t>Best month, April 2020, plus fourteen and a half. Worst, April 2022, minus twelve point one. Fifty</a:t>
            </a:r>
          </a:p>
          <a:p>
            <a:r>
              <a:t>of seventy-two months positive.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keep one slide from today, keep this one.</a:t>
            </a:r>
          </a:p>
          <a:p/>
          <a:p>
            <a:r>
              <a:t>Read down the NDIF column against the benchmarks.</a:t>
            </a:r>
          </a:p>
          <a:p/>
          <a:p>
            <a:r>
              <a:t>Sharpe: nought point nine four against nought point seven five and nought point six five. Sortino,</a:t>
            </a:r>
          </a:p>
          <a:p>
            <a:r>
              <a:t>which penalises only downside volatility: one point five one against one point one eight, a bigger</a:t>
            </a:r>
          </a:p>
          <a:p>
            <a:r>
              <a:t>improvement than on Sharpe, which tells you our volatility was disproportionately upside</a:t>
            </a:r>
          </a:p>
          <a:p>
            <a:r>
              <a:t>volatility. Treynor highest. Calmar sixty per cent better than both indices.</a:t>
            </a:r>
          </a:p>
          <a:p/>
          <a:p>
            <a:r>
              <a:t>Information ratio against the S&amp;P is nought point nine eight. As a rule of thumb, above nought</a:t>
            </a:r>
          </a:p>
          <a:p>
            <a:r>
              <a:t>point five over a multi-year period is good and above one is excellent.</a:t>
            </a:r>
          </a:p>
          <a:p/>
          <a:p>
            <a:r>
              <a:t>And the last row, M-squared: if you levered this fund to exactly the S&amp;P's volatility it would have</a:t>
            </a:r>
          </a:p>
          <a:p>
            <a:r>
              <a:t>returned seventeen point two per cent a year against the index's eleven point three. A like-for-like</a:t>
            </a:r>
          </a:p>
          <a:p>
            <a:r>
              <a:t>comparison, and a six-point gap.</a:t>
            </a:r>
          </a:p>
          <a:p/>
          <a:p>
            <a:r>
              <a:t>Note also that we beat the naive equal-weight portfolio of the same eleven stocks on every one of</a:t>
            </a:r>
          </a:p>
          <a:p>
            <a:r>
              <a:t>these. That's a famously hard benchmark to beat.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Value-at-risk and expected shortfall, what your risk committees will ask for.</a:t>
            </a:r>
          </a:p>
          <a:p/>
          <a:p>
            <a:r>
              <a:t>Our ninety-five per cent one-month VaR is minus eight point eight two per cent. In the worst month</a:t>
            </a:r>
          </a:p>
          <a:p>
            <a:r>
              <a:t>in twenty we'd expect to lose at least that. On two hundred and seventy-nine million, a</a:t>
            </a:r>
          </a:p>
          <a:p>
            <a:r>
              <a:t>twenty-four point six million dollar month.</a:t>
            </a:r>
          </a:p>
          <a:p/>
          <a:p>
            <a:r>
              <a:t>Note the historical, parametric and Cornish-Fisher estimates all cluster between seven and nine per</a:t>
            </a:r>
          </a:p>
          <a:p>
            <a:r>
              <a:t>cent, another confirmation the distribution is close to normal.</a:t>
            </a:r>
          </a:p>
          <a:p/>
          <a:p>
            <a:r>
              <a:t>The number I'd actually watch is CVaR, because VaR only tells you the threshold, not how bad it</a:t>
            </a:r>
          </a:p>
          <a:p>
            <a:r>
              <a:t>gets beyond it. Ours is minus ten point two per cent.</a:t>
            </a:r>
          </a:p>
          <a:p/>
          <a:p>
            <a:r>
              <a:t>Compare the NASDAQ-100: essentially the same VaR threshold, but a worse CVaR and a worse</a:t>
            </a:r>
          </a:p>
          <a:p>
            <a:r>
              <a:t>ninety-nine per cent VaR. Same threshold risk, thinner tail beyond it. Again, that's</a:t>
            </a:r>
          </a:p>
          <a:p>
            <a:r>
              <a:t>diversification rather than anything clever in timing.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Seasonality, and I will frame this carefully, because seasonality is easy to over-read.</a:t>
            </a:r>
          </a:p>
          <a:p/>
          <a:p>
            <a:r>
              <a:t>Blue is positive, red negative, intensity is magnitude.</a:t>
            </a:r>
          </a:p>
          <a:p/>
          <a:p>
            <a:r>
              <a:t>July was our strongest month at plus five point eight per cent average, positive in all six years.</a:t>
            </a:r>
          </a:p>
          <a:p>
            <a:r>
              <a:t>September was weakest at minus two point eight, dragged there by three heavy losses in 2020,</a:t>
            </a:r>
          </a:p>
          <a:p>
            <a:r>
              <a:t>2021 and 2022.</a:t>
            </a:r>
          </a:p>
          <a:p/>
          <a:p>
            <a:r>
              <a:t>But here's why I wouldn't build a strategy on it. Six observations per calendar month is nowhere</a:t>
            </a:r>
          </a:p>
          <a:p>
            <a:r>
              <a:t>near enough to separate a real seasonal effect from noise, the standard error on any monthly mean</a:t>
            </a:r>
          </a:p>
          <a:p>
            <a:r>
              <a:t>is over two per cent. Almost none of these differences would survive a significance test.</a:t>
            </a:r>
          </a:p>
          <a:p/>
          <a:p>
            <a:r>
              <a:t>What the grid does show usefully is the concentration of extremes. Look at the 2020 and 2022</a:t>
            </a:r>
          </a:p>
          <a:p>
            <a:r>
              <a:t>rows. The best month in the fund's history and the worst sit within twenty-four months of each</a:t>
            </a:r>
          </a:p>
          <a:p>
            <a:r>
              <a:t>other. That's the volatility regime we were managing through.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you should be asking: was this skill, or did we simply own high-beta growth</a:t>
            </a:r>
          </a:p>
          <a:p>
            <a:r>
              <a:t>stocks in a decade that rewarded them?</a:t>
            </a:r>
          </a:p>
          <a:p/>
          <a:p>
            <a:r>
              <a:t>You answer that with a factor regression. Take the fund's excess return, regress it on known risk</a:t>
            </a:r>
          </a:p>
          <a:p>
            <a:r>
              <a:t>factors, and see what's left over. That leftover is Jensen's alpha.</a:t>
            </a:r>
          </a:p>
          <a:p/>
          <a:p>
            <a:r>
              <a:t>Start with the CAPM: alpha of seven point two per cent, t of two point one nine. But the CAPM only</a:t>
            </a:r>
          </a:p>
          <a:p>
            <a:r>
              <a:t>controls for market risk, so a sceptic would say a growth tilt is doing the work.</a:t>
            </a:r>
          </a:p>
          <a:p/>
          <a:p>
            <a:r>
              <a:t>Add size and value: five point nine per cent, t of two point eight three. Add profitability and</a:t>
            </a:r>
          </a:p>
          <a:p>
            <a:r>
              <a:t>investment: six point six per cent, t of three point zero six, p-value nought point zero zero two.</a:t>
            </a:r>
          </a:p>
          <a:p>
            <a:r>
              <a:t>With momentum, unchanged.</a:t>
            </a:r>
          </a:p>
          <a:p/>
          <a:p>
            <a:r>
              <a:t>Ninety-two per cent of our variance is explained by the factors. The remaining six point six per</a:t>
            </a:r>
          </a:p>
          <a:p>
            <a:r>
              <a:t>cent a year is not.</a:t>
            </a:r>
          </a:p>
          <a:p/>
          <a:p>
            <a:r>
              <a:t>Now the bottom row, the one I'd spend most time on. I ran the same test on the NASDAQ-100 itself.</a:t>
            </a:r>
          </a:p>
          <a:p>
            <a:r>
              <a:t>Its alpha is two point four per cent with a t of one point four one: statistically</a:t>
            </a:r>
          </a:p>
          <a:p>
            <a:r>
              <a:t>indistinguishable from zero.</a:t>
            </a:r>
          </a:p>
          <a:p/>
          <a:p>
            <a:r>
              <a:t>The benchmark's strong decade is fully explained by its factor exposures. Ours is not. That</a:t>
            </a:r>
          </a:p>
          <a:p>
            <a:r>
              <a:t>difference is what you paid a management fee for.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Those five coefficients describe the fund more honestly than any marketing document could.</a:t>
            </a:r>
          </a:p>
          <a:p/>
          <a:p>
            <a:r>
              <a:t>Market loading, one point zero five, one-for-one with the market. Not levered.</a:t>
            </a:r>
          </a:p>
          <a:p/>
          <a:p>
            <a:r>
              <a:t>Size, minus nought point two two and significant: large-cap. Value, minus nought point one nine and</a:t>
            </a:r>
          </a:p>
          <a:p>
            <a:r>
              <a:t>significant: growth. Both correct and intended.</a:t>
            </a:r>
          </a:p>
          <a:p/>
          <a:p>
            <a:r>
              <a:t>Profitability and investment are both small and insignificant. That matters, because a common criticism of</a:t>
            </a:r>
          </a:p>
          <a:p>
            <a:r>
              <a:t>"technology alpha" is that it is really a quality tilt in disguise. Here it is not.</a:t>
            </a:r>
          </a:p>
          <a:p/>
          <a:p>
            <a:r>
              <a:t>Momentum is effectively zero, this wasn't a momentum-chasing strategy that would blow up on the</a:t>
            </a:r>
          </a:p>
          <a:p>
            <a:r>
              <a:t>first reversal.</a:t>
            </a:r>
          </a:p>
          <a:p/>
          <a:p>
            <a:r>
              <a:t>So: a large-cap growth fund with market-like beta, no leverage, no hidden factor bets. Precisely</a:t>
            </a:r>
          </a:p>
          <a:p>
            <a:r>
              <a:t>the description in the mandate I showed you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robustness check, because a full-sample alpha can always be produced by a single</a:t>
            </a:r>
          </a:p>
          <a:p>
            <a:r>
              <a:t>extraordinary year buried in the middle.</a:t>
            </a:r>
          </a:p>
          <a:p/>
          <a:p>
            <a:r>
              <a:t>I've re-estimated the CAPM alpha on every rolling thirty-six-month window. The line never goes</a:t>
            </a:r>
          </a:p>
          <a:p>
            <a:r>
              <a:t>below zero.</a:t>
            </a:r>
          </a:p>
          <a:p/>
          <a:p>
            <a:r>
              <a:t>Alpha was earned in the growth years of 2017 to 2019, and in the very different windows dominated</a:t>
            </a:r>
          </a:p>
          <a:p>
            <a:r>
              <a:t>by 2020's crash-and-recovery and 2022's rate shock.</a:t>
            </a:r>
          </a:p>
          <a:p/>
          <a:p>
            <a:r>
              <a:t>The shape of the line is worth a moment. It declines through the middle of the sample and recovers</a:t>
            </a:r>
          </a:p>
          <a:p>
            <a:r>
              <a:t>at the right. The middle windows are 2020 and 2021, when the NASDAQ-100 was extremely hard to beat.</a:t>
            </a:r>
          </a:p>
          <a:p>
            <a:r>
              <a:t>The recovery at the right is 2022.</a:t>
            </a:r>
          </a:p>
          <a:p/>
          <a:p>
            <a:r>
              <a:t>So the source of alpha changed character, security selection early, downside protection late.</a:t>
            </a:r>
          </a:p>
          <a:p>
            <a:r>
              <a:t>That's healthy rather than worrying: it means the fund wasn't dependent on one market regime.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get underneath the portfolio number, because ultimately you hired me to pick eleven stocks.</a:t>
            </a:r>
          </a:p>
          <a:p/>
          <a:p>
            <a:r>
              <a:t>The fairest test isn't whether a pick went up. It's whether it beat the sector it sits in, because</a:t>
            </a:r>
          </a:p>
          <a:p>
            <a:r>
              <a:t>if I pick a technology stock in a decade when all technology stocks rose, I've demonstrated</a:t>
            </a:r>
          </a:p>
          <a:p>
            <a:r>
              <a:t>nothing.</a:t>
            </a:r>
          </a:p>
          <a:p/>
          <a:p>
            <a:r>
              <a:t>Blue is the stock, orange is its sector ETF. Eight of eleven picks beat their sector.</a:t>
            </a:r>
          </a:p>
          <a:p/>
          <a:p>
            <a:r>
              <a:t>The standouts: Costco beat consumer staples by a hundred and fifty-two points, NextEra beat</a:t>
            </a:r>
          </a:p>
          <a:p>
            <a:r>
              <a:t>utilities by a hundred and forty-six, and Microsoft beat the technology sector by a hundred and</a:t>
            </a:r>
          </a:p>
          <a:p>
            <a:r>
              <a:t>forty-two. That last one matters most, because it happened in our largest position.</a:t>
            </a:r>
          </a:p>
          <a:p/>
          <a:p>
            <a:r>
              <a:t>Two misses. Illumina, where the thesis was right but the GRAIL acquisition and the regulatory</a:t>
            </a:r>
          </a:p>
          <a:p>
            <a:r>
              <a:t>fight around it destroyed value. And Schlumberger, which lost money against an energy sector that</a:t>
            </a:r>
          </a:p>
          <a:p>
            <a:r>
              <a:t>gained fifty-four per cent.</a:t>
            </a:r>
          </a:p>
          <a:p/>
          <a:p>
            <a:r>
              <a:t>I own both. But nine of eleven, weighted toward our largest positions, is why the portfolio</a:t>
            </a:r>
          </a:p>
          <a:p>
            <a:r>
              <a:t>worked.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each holding's weight and return compounded into the total.</a:t>
            </a:r>
          </a:p>
          <a:p/>
          <a:p>
            <a:r>
              <a:t>Microsoft contributed forty-one point nine points of the fund's hundred and seventy-nine. That's</a:t>
            </a:r>
          </a:p>
          <a:p>
            <a:r>
              <a:t>twenty-three per cent of everything the fund made, from a sixteen per cent position. Sizing your</a:t>
            </a:r>
          </a:p>
          <a:p>
            <a:r>
              <a:t>highest-conviction idea largest is the most consequential decision a manager makes, and this is</a:t>
            </a:r>
          </a:p>
          <a:p>
            <a:r>
              <a:t>what it looks like when it goes right.</a:t>
            </a:r>
          </a:p>
          <a:p/>
          <a:p>
            <a:r>
              <a:t>Alphabet twenty-two points, Albemarle twenty-one, the surprise, a six per cent materials position</a:t>
            </a:r>
          </a:p>
          <a:p>
            <a:r>
              <a:t>riding the lithium and EV supply chain. Illumina is the clear disappointment: eight per cent of the</a:t>
            </a:r>
          </a:p>
          <a:p>
            <a:r>
              <a:t>book delivered under two points.</a:t>
            </a:r>
          </a:p>
          <a:p/>
          <a:p>
            <a:r>
              <a:t>But the panel on the right contains the most interesting finding in this review. Schlumberger lost</a:t>
            </a:r>
          </a:p>
          <a:p>
            <a:r>
              <a:t>twenty-three and a half per cent over six years, and yet contributed a positive thirteen points.</a:t>
            </a:r>
          </a:p>
          <a:p/>
          <a:p>
            <a:r>
              <a:t>How? Every quarter it fell, the rebalancing rule bought more at a lower price. Then in 2022 it</a:t>
            </a:r>
          </a:p>
          <a:p>
            <a:r>
              <a:t>returned eighty-one per cent, and by then we owned considerably more shares. A losing stock made</a:t>
            </a:r>
          </a:p>
          <a:p>
            <a:r>
              <a:t>money for this fund because of a mechanical process rule.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Brinson attribution answers a specific question: how much came from being in the right sectors, and</a:t>
            </a:r>
          </a:p>
          <a:p>
            <a:r>
              <a:t>how much from picking the right stocks within them?</a:t>
            </a:r>
          </a:p>
          <a:p/>
          <a:p>
            <a:r>
              <a:t>To isolate that, I built a benchmark with exactly our sector coverage at neutral weights and no</a:t>
            </a:r>
          </a:p>
          <a:p>
            <a:r>
              <a:t>stock selection, an equal-weight portfolio of the eleven sector ETFs. It returned eighty-five per</a:t>
            </a:r>
          </a:p>
          <a:p>
            <a:r>
              <a:t>cent against our hundred and seventy-nine.</a:t>
            </a:r>
          </a:p>
          <a:p/>
          <a:p>
            <a:r>
              <a:t>Allocation, our sector tilts, contributed one point eight points. Almost nothing. Selection</a:t>
            </a:r>
          </a:p>
          <a:p>
            <a:r>
              <a:t>contributed forty-one point four. Interaction, one.</a:t>
            </a:r>
          </a:p>
          <a:p/>
          <a:p>
            <a:r>
              <a:t>So ninety-four per cent of our active return came from security selection.</a:t>
            </a:r>
          </a:p>
          <a:p/>
          <a:p>
            <a:r>
              <a:t>Why that matters for your decision: allocation skill is a macro forecasting call, and the evidence</a:t>
            </a:r>
          </a:p>
          <a:p>
            <a:r>
              <a:t>that anyone repeats macro calls is weak. Selection skill is the output of a research process. You</a:t>
            </a:r>
          </a:p>
          <a:p>
            <a:r>
              <a:t>can describe it, staff it, and repeat it. If our outperformance had come from sector timing, I'd be</a:t>
            </a:r>
          </a:p>
          <a:p>
            <a:r>
              <a:t>much less confident recommending this fund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challenge to everything I've said is: fine, but a model could have done better. So I</a:t>
            </a:r>
          </a:p>
          <a:p>
            <a:r>
              <a:t>tested it.</a:t>
            </a:r>
          </a:p>
          <a:p/>
          <a:p>
            <a:r>
              <a:t>I took three years of data ending December 2016, which is the information a manager actually had</a:t>
            </a:r>
          </a:p>
          <a:p>
            <a:r>
              <a:t>at launch. I fed it to a mean-variance optimiser and ran the weights forward on the same</a:t>
            </a:r>
          </a:p>
          <a:p>
            <a:r>
              <a:t>rebalancing rule.</a:t>
            </a:r>
          </a:p>
          <a:p/>
          <a:p>
            <a:r>
              <a:t>The result: nineteen point seven per cent a year against our eighteen point seven. So yes, it wins,</a:t>
            </a:r>
          </a:p>
          <a:p>
            <a:r>
              <a:t>by a point a year.</a:t>
            </a:r>
          </a:p>
          <a:p/>
          <a:p>
            <a:r>
              <a:t>But look at what it had to do. Twenty-five per cent in Equinix and twenty-five in NextEra, both</a:t>
            </a:r>
          </a:p>
          <a:p>
            <a:r>
              <a:t>breaching our sixteen per cent cap. And zero in Alphabet, Visa, Albemarle and Schlumberger,</a:t>
            </a:r>
          </a:p>
          <a:p>
            <a:r>
              <a:t>breaching the sector floor four times over.</a:t>
            </a:r>
          </a:p>
          <a:p/>
          <a:p>
            <a:r>
              <a:t>The optimiser didn't beat our strategy. It declined to run it, it bought a better backtest by</a:t>
            </a:r>
          </a:p>
          <a:p>
            <a:r>
              <a:t>discarding the constraints that, as we saw in 2022, protected you. And there's a known reason to</a:t>
            </a:r>
          </a:p>
          <a:p>
            <a:r>
              <a:t>distrust it anyway: DeMiguel, Garlappi and Uppal showed in 2009 that naive equal weighting</a:t>
            </a:r>
          </a:p>
          <a:p>
            <a:r>
              <a:t>frequently beats optimisation out of sample, because small input errors produce wildly concentrated</a:t>
            </a:r>
          </a:p>
          <a:p>
            <a:r>
              <a:t>portfolios.</a:t>
            </a:r>
          </a:p>
          <a:p/>
          <a:p>
            <a:r>
              <a:t>The last row is the humbling one. With perfect hindsight the best achievable was twenty-two point</a:t>
            </a:r>
          </a:p>
          <a:p>
            <a:r>
              <a:t>nine per cent. We captured eighty-two per cent of a number nobody could have known.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had to reduce this whole presentation to two numbers, it would be these.</a:t>
            </a:r>
          </a:p>
          <a:p/>
          <a:p>
            <a:r>
              <a:t>Upside capture of a hundred and twenty per cent: in months the S&amp;P rose, we rose twenty per cent</a:t>
            </a:r>
          </a:p>
          <a:p>
            <a:r>
              <a:t>more. Downside capture of ninety-seven: in months it fell, we fell slightly less.</a:t>
            </a:r>
          </a:p>
          <a:p/>
          <a:p>
            <a:r>
              <a:t>That asymmetry is the engine of the result. You don't need to be right about market direction to</a:t>
            </a:r>
          </a:p>
          <a:p>
            <a:r>
              <a:t>compound at eighteen per cent a year if you participate disproportionately in the good months and</a:t>
            </a:r>
          </a:p>
          <a:p>
            <a:r>
              <a:t>proportionately in the bad ones.</a:t>
            </a:r>
          </a:p>
          <a:p/>
          <a:p>
            <a:r>
              <a:t>Contrast the NASDAQ-100: a hundred and eighteen per cent of the upside, very similar, but a</a:t>
            </a:r>
          </a:p>
          <a:p>
            <a:r>
              <a:t>hundred and eight per cent of the downside. More of the gains and more of the losses. That</a:t>
            </a:r>
          </a:p>
          <a:p>
            <a:r>
              <a:t>eleven-point difference, compounded over seventy-two months, is essentially the entire gap between</a:t>
            </a:r>
          </a:p>
          <a:p>
            <a:r>
              <a:t>our two seventy-nine and its two thirty-five.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accountability slide. Ten commitments, marked against what happened.</a:t>
            </a:r>
          </a:p>
          <a:p/>
          <a:p>
            <a:r>
              <a:t>We said eight to ten per cent net a year; we delivered seventeen and a half net. We said fifty-five</a:t>
            </a:r>
          </a:p>
          <a:p>
            <a:r>
              <a:t>to seventy per cent cumulative; we delivered a hundred and sixty-three.</a:t>
            </a:r>
          </a:p>
          <a:p/>
          <a:p>
            <a:r>
              <a:t>I'll be careful how I present that, because doubling your target isn't automatically a compliment</a:t>
            </a:r>
          </a:p>
          <a:p>
            <a:r>
              <a:t>to the manager. Part of it is that this was an unusually strong period for our theme. The honest</a:t>
            </a:r>
          </a:p>
          <a:p>
            <a:r>
              <a:t>framing: our central estimate was reasonable and our distribution around it was too narrow.</a:t>
            </a:r>
          </a:p>
          <a:p/>
          <a:p>
            <a:r>
              <a:t>Then the process commitments, which matter as much. All eleven sectors held through all twenty-four</a:t>
            </a:r>
          </a:p>
          <a:p>
            <a:r>
              <a:t>quarters. Twenty-four rebalances executed on schedule. The largest drift we ever ran was two point</a:t>
            </a:r>
          </a:p>
          <a:p>
            <a:r>
              <a:t>nine points, comfortably inside the five-point threshold, so the drift rule never had to fire. And</a:t>
            </a:r>
          </a:p>
          <a:p>
            <a:r>
              <a:t>the mid-life review was delivered at the end of 2019.</a:t>
            </a:r>
          </a:p>
          <a:p/>
          <a:p>
            <a:r>
              <a:t>Ten commitments. Four exceeded, six met, none missed.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Fees in full, because you're entitled to see the bridge.</a:t>
            </a:r>
          </a:p>
          <a:p/>
          <a:p>
            <a:r>
              <a:t>Gross, the fund compounded at eighteen point seven per cent. The management fee is ninety basis</a:t>
            </a:r>
          </a:p>
          <a:p>
            <a:r>
              <a:t>points, flat.</a:t>
            </a:r>
          </a:p>
          <a:p/>
          <a:p>
            <a:r>
              <a:t>The performance fee is where the structure earns its keep. We charge ten per cent of returns above</a:t>
            </a:r>
          </a:p>
          <a:p>
            <a:r>
              <a:t>the hurdle, and the hurdle is the NASDAQ-100, not zero. Because that benchmark itself returned fifteen point three per cent a year, we cleared it by</a:t>
            </a:r>
          </a:p>
          <a:p>
            <a:r>
              <a:t>only two and a half points. So the performance fee is twenty-five basis points, against the one</a:t>
            </a:r>
          </a:p>
          <a:p>
            <a:r>
              <a:t>point eight per cent a zero-hurdle fund would have charged.</a:t>
            </a:r>
          </a:p>
          <a:p/>
          <a:p>
            <a:r>
              <a:t>Total load: one point one five per cent a year. Net to you, seventeen point five one per cent a</a:t>
            </a:r>
          </a:p>
          <a:p>
            <a:r>
              <a:t>year, or a hundred and sixty-three per cent cumulative.</a:t>
            </a:r>
          </a:p>
          <a:p/>
          <a:p>
            <a:r>
              <a:t>The honest alternative: a NASDAQ-100 ETF at twenty basis points would have returned two hundred and</a:t>
            </a:r>
          </a:p>
          <a:p>
            <a:r>
              <a:t>thirty-five million and cost five point seven million less. After paying us every dollar of fee you</a:t>
            </a:r>
          </a:p>
          <a:p>
            <a:r>
              <a:t>are thirty-eight point seven million ahead of the cheap passive option. That is the only fee test</a:t>
            </a:r>
          </a:p>
          <a:p>
            <a:r>
              <a:t>that matters, and we pass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should this fund continue?</a:t>
            </a:r>
          </a:p>
          <a:p/>
          <a:p>
            <a:r>
              <a:t>My recommendation is yes, for three specific reasons rather than a general expression of</a:t>
            </a:r>
          </a:p>
          <a:p>
            <a:r>
              <a:t>confidence.</a:t>
            </a:r>
          </a:p>
          <a:p/>
          <a:p>
            <a:r>
              <a:t>First, the alpha is real and repeatable, six point six per cent a year that five established</a:t>
            </a:r>
          </a:p>
          <a:p>
            <a:r>
              <a:t>factors can't explain, and ninety-four per cent of it from selection rather than sector timing.</a:t>
            </a:r>
          </a:p>
          <a:p>
            <a:r>
              <a:t>Selection skill is a process; macro timing is a guess.</a:t>
            </a:r>
          </a:p>
          <a:p/>
          <a:p>
            <a:r>
              <a:t>Second, the thesis isn't exhausted. Cloud is still a minority of enterprise IT spend, six years</a:t>
            </a:r>
          </a:p>
          <a:p>
            <a:r>
              <a:t>after we argued it was early. 2022 repriced the multiple, not the demand.</a:t>
            </a:r>
          </a:p>
          <a:p/>
          <a:p>
            <a:r>
              <a:t>Third, the construction discipline was tested by the two hardest events in twenty years and held.</a:t>
            </a:r>
          </a:p>
          <a:p/>
          <a:p>
            <a:r>
              <a:t>But I'd be doing you a disservice if I asked for renewal without saying what I'd change.</a:t>
            </a:r>
          </a:p>
          <a:p/>
          <a:p>
            <a:r>
              <a:t>We need wider tail-scenario assumptions. We said a recession would cost four per cent; it cost</a:t>
            </a:r>
          </a:p>
          <a:p>
            <a:r>
              <a:t>twenty-two and a half. We need a valuation discipline on entry: Illumina was a correct thesis</a:t>
            </a:r>
          </a:p>
          <a:p>
            <a:r>
              <a:t>bought with no margin of safety. And I would ask you to consider raising the position cap from</a:t>
            </a:r>
          </a:p>
          <a:p>
            <a:r>
              <a:t>sixteen to twenty per cent. That cap forced us to trim Microsoft, our single best decision, at</a:t>
            </a:r>
          </a:p>
          <a:p>
            <a:r>
              <a:t>nineteen of the twenty-four rebalances. The sector floors I would leave untouched, because those</a:t>
            </a:r>
          </a:p>
          <a:p>
            <a:r>
              <a:t>are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review.</a:t>
            </a:r>
          </a:p>
          <a:p/>
          <a:p>
            <a:r>
              <a:t>Three sentences: a hundred million became two hundred and seventy-nine million; we did it with less</a:t>
            </a:r>
          </a:p>
          <a:p>
            <a:r>
              <a:t>drawdown than our own benchmark and a higher Sharpe than any comparator I could construct; and</a:t>
            </a:r>
          </a:p>
          <a:p>
            <a:r>
              <a:t>after controlling for every standard risk factor, six point six per cent a year remains unexplained</a:t>
            </a:r>
          </a:p>
          <a:p>
            <a:r>
              <a:t>by anything other than the decisions we made.</a:t>
            </a:r>
          </a:p>
          <a:p/>
          <a:p>
            <a:r>
              <a:t>I recommend the fund continues, with the three mandate changes I've set out.</a:t>
            </a:r>
          </a:p>
          <a:p/>
          <a:p>
            <a:r>
              <a:t>Happy to take questions, and there's a substantial appendix if you want to go deeper on the</a:t>
            </a:r>
          </a:p>
          <a:p>
            <a:r>
              <a:t>methodology, the holdings or the regressions. Thank you for six years of patient capital.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so anyone can reproduce every number in the deck.</a:t>
            </a:r>
          </a:p>
          <a:p/>
          <a:p>
            <a:r>
              <a:t>Two points I'd flag. First, I've used QQQ and SPY rather than the raw index levels, because the raw</a:t>
            </a:r>
          </a:p>
          <a:p>
            <a:r>
              <a:t>series are price-only. Comparing our dividend-inclusive return against a price-only index would</a:t>
            </a:r>
          </a:p>
          <a:p>
            <a:r>
              <a:t>have flattered us by roughly two per cent a year. Using the ETFs makes it apples-to-apples, and</a:t>
            </a:r>
          </a:p>
          <a:p>
            <a:r>
              <a:t>investable.</a:t>
            </a:r>
          </a:p>
          <a:p/>
          <a:p>
            <a:r>
              <a:t>Second, these returns are gross of transaction costs and taxes. With twenty-four rebalances of</a:t>
            </a:r>
          </a:p>
          <a:p>
            <a:r>
              <a:t>eleven liquid mega-caps, realistic round-trip costs are a few basis points a year, immaterial, but</a:t>
            </a:r>
          </a:p>
          <a:p>
            <a:r>
              <a:t>I'd rather state it than have it discovered.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 metric table.</a:t>
            </a:r>
          </a:p>
          <a:p/>
          <a:p>
            <a:r>
              <a:t>The comparison I'd encourage you to make is NDIF against equal weight, in the first two data</a:t>
            </a:r>
          </a:p>
          <a:p>
            <a:r>
              <a:t>columns, a hard benchmark to beat.</a:t>
            </a:r>
          </a:p>
          <a:p/>
          <a:p>
            <a:r>
              <a:t>We beat it on cumulative return, annualised return, Sharpe, Sortino, Treynor and information ratio.</a:t>
            </a:r>
          </a:p>
          <a:p>
            <a:r>
              <a:t>Equal weight beat us on maximum drawdown and Calmar, because it held less in the mega-caps that</a:t>
            </a:r>
          </a:p>
          <a:p>
            <a:r>
              <a:t>fell hardest in 2022.</a:t>
            </a:r>
          </a:p>
          <a:p/>
          <a:p>
            <a:r>
              <a:t>So conviction weighting added return and risk-adjusted return while costing a little on worst-case</a:t>
            </a:r>
          </a:p>
          <a:p>
            <a:r>
              <a:t>drawdown. That's a fair characterisation of what active weighting bought you.</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holding on the same basis as the portfolio.</a:t>
            </a:r>
          </a:p>
          <a:p/>
          <a:p>
            <a:r>
              <a:t>The interesting part is in the last two columns and the bottom row.</a:t>
            </a:r>
          </a:p>
          <a:p/>
          <a:p>
            <a:r>
              <a:t>Only two holdings, Microsoft and NextEra, produced a statistically significant CAPM alpha on their</a:t>
            </a:r>
          </a:p>
          <a:p>
            <a:r>
              <a:t>own. Costco misses the threshold by a whisker at one point nine five. Everything else is below two.</a:t>
            </a:r>
          </a:p>
          <a:p/>
          <a:p>
            <a:r>
              <a:t>But the portfolio's alpha has a t of two point one nine on the CAPM and three point zero six on the</a:t>
            </a:r>
          </a:p>
          <a:p>
            <a:r>
              <a:t>five-factor. The portfolio is more significant than almost every stock in it.</a:t>
            </a:r>
          </a:p>
          <a:p/>
          <a:p>
            <a:r>
              <a:t>That's not a paradox, it's diversification. Combining eleven imperfectly correlated positions</a:t>
            </a:r>
          </a:p>
          <a:p>
            <a:r>
              <a:t>cancels idiosyncratic noise while retaining the common component of the selection skill. The signal</a:t>
            </a:r>
          </a:p>
          <a:p>
            <a:r>
              <a:t>survives; much of the noise doesn't.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regression output.</a:t>
            </a:r>
          </a:p>
          <a:p/>
          <a:p>
            <a:r>
              <a:t>Read across the alpha row: seven point two, five point nine, six point six, six point five. The alpha is stable across</a:t>
            </a:r>
          </a:p>
          <a:p>
            <a:r>
              <a:t>specifications, and that matters: an alpha that collapses when you add a factor was never alpha.</a:t>
            </a:r>
          </a:p>
          <a:p>
            <a:r>
              <a:t>It was an unmeasured exposure.</a:t>
            </a:r>
          </a:p>
          <a:p/>
          <a:p>
            <a:r>
              <a:t>Market loading between one and one point zero five in every model, always with a t above fifteen.</a:t>
            </a:r>
          </a:p>
          <a:p/>
          <a:p>
            <a:r>
              <a:t>Size and value significantly negative throughout. Profitability, investment and momentum all</a:t>
            </a:r>
          </a:p>
          <a:p>
            <a:r>
              <a:t>insignificant, a meaningful negative result, because it means our excess return isn't a repackaged</a:t>
            </a:r>
          </a:p>
          <a:p>
            <a:r>
              <a:t>quality factor.</a:t>
            </a:r>
          </a:p>
          <a:p/>
          <a:p>
            <a:r>
              <a:t>Adjusted R-squared runs from nought point eight seven to nought point nine one five. Newey-West</a:t>
            </a:r>
          </a:p>
          <a:p>
            <a:r>
              <a:t>standard errors with four lags throughout, which is the conservative choice, ordinary OLS errors</a:t>
            </a:r>
          </a:p>
          <a:p>
            <a:r>
              <a:t>would have produced higher t-statistics.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matrix.</a:t>
            </a:r>
          </a:p>
          <a:p/>
          <a:p>
            <a:r>
              <a:t>Average pairwise correlation is nought point four zero. For eleven stocks inside a single theme</a:t>
            </a:r>
          </a:p>
          <a:p>
            <a:r>
              <a:t>that is low.</a:t>
            </a:r>
          </a:p>
          <a:p/>
          <a:p>
            <a:r>
              <a:t>The structure is intuitive. The three platforms cluster tightly. Microsoft and Alphabet at nought</a:t>
            </a:r>
          </a:p>
          <a:p>
            <a:r>
              <a:t>point seven four. That's the concentration risk in tier one, and why the position cap mattered.</a:t>
            </a:r>
          </a:p>
          <a:p/>
          <a:p>
            <a:r>
              <a:t>At the other end, the genuine diversifiers: NextEra against Schlumberger is minus nought point one</a:t>
            </a:r>
          </a:p>
          <a:p>
            <a:r>
              <a:t>two, actually negatively correlated. That bottom-right corner is where the ballast lives, and</a:t>
            </a:r>
          </a:p>
          <a:p>
            <a:r>
              <a:t>those low correlations produced the ten-point drawdown advantage in 2022.</a:t>
            </a:r>
          </a:p>
          <a:p/>
          <a:p>
            <a:r>
              <a:t>It's also why the portfolio's volatility of nineteen per cent sits well below the average</a:t>
            </a:r>
          </a:p>
          <a:p>
            <a:r>
              <a:t>constituent volatility of about twenty-nine.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risk-return scatter, each bubble sized by target weight.</a:t>
            </a:r>
          </a:p>
          <a:p/>
          <a:p>
            <a:r>
              <a:t>The most important feature is where the star sits, upper-left of almost every individual holding.</a:t>
            </a:r>
          </a:p>
          <a:p/>
          <a:p>
            <a:r>
              <a:t>Only Microsoft, NextEra and Costco sit above the portfolio on return, all at comparable or higher</a:t>
            </a:r>
          </a:p>
          <a:p>
            <a:r>
              <a:t>volatility. Meanwhile Schlumberger at forty-nine per cent volatility and Albemarle at forty-four</a:t>
            </a:r>
          </a:p>
          <a:p>
            <a:r>
              <a:t>are far out to the right.</a:t>
            </a:r>
          </a:p>
          <a:p/>
          <a:p>
            <a:r>
              <a:t>The portfolio ran lower volatility than every one of its eleven constituents. Combining assets</a:t>
            </a:r>
          </a:p>
          <a:p>
            <a:r>
              <a:t>that individually carried twenty to forty-nine per cent volatility produced something that carried</a:t>
            </a:r>
          </a:p>
          <a:p>
            <a:r>
              <a:t>nineteen. That is the argument for diversification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ex-post efficient frontier from the eleven stocks we owned. Nobody could have known this in</a:t>
            </a:r>
          </a:p>
          <a:p>
            <a:r>
              <a:t>advance, it exists only because we now know the answers.</a:t>
            </a:r>
          </a:p>
          <a:p/>
          <a:p>
            <a:r>
              <a:t>The fund sits below and slightly right of it, which is where a real portfolio should sit. The</a:t>
            </a:r>
          </a:p>
          <a:p>
            <a:r>
              <a:t>vertical distance at our realised volatility is about seven points of annual return. That is the</a:t>
            </a:r>
          </a:p>
          <a:p>
            <a:r>
              <a:t>price of not having known the future.</a:t>
            </a:r>
          </a:p>
          <a:p/>
          <a:p>
            <a:r>
              <a:t>What I find more informative is that the fund, equal weight and the ex-ante optimiser all cluster</a:t>
            </a:r>
          </a:p>
          <a:p>
            <a:r>
              <a:t>in the same small region. Three different construction philosophies converged on nearly the same</a:t>
            </a:r>
          </a:p>
          <a:p>
            <a:r>
              <a:t>outcome, which tells you the dominant driver was which eleven stocks we chose, not how we weighted</a:t>
            </a:r>
          </a:p>
          <a:p>
            <a:r>
              <a:t>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supporting exhibits.</a:t>
            </a:r>
          </a:p>
          <a:p/>
          <a:p>
            <a:r>
              <a:t>The box plot compares the four distributions directly. Our median is visibly higher than both</a:t>
            </a:r>
          </a:p>
          <a:p>
            <a:r>
              <a:t>benchmarks, our interquartile range is tighter than the NASDAQ-100's, and our whisker extremes are</a:t>
            </a:r>
          </a:p>
          <a:p>
            <a:r>
              <a:t>contained relative to it.</a:t>
            </a:r>
          </a:p>
          <a:p/>
          <a:p>
            <a:r>
              <a:t>The lower chart shows dispersion across the eleven holdings. The range runs from minus twenty-four</a:t>
            </a:r>
          </a:p>
          <a:p>
            <a:r>
              <a:t>per cent to plus three hundred and nineteen, in an eleven-stock portfolio, in a single theme, over</a:t>
            </a:r>
          </a:p>
          <a:p>
            <a:r>
              <a:t>six years.</a:t>
            </a:r>
          </a:p>
          <a:p/>
          <a:p>
            <a:r>
              <a:t>That dispersion is exactly why the position cap mattered. Suppose we had been permitted a thirty</a:t>
            </a:r>
          </a:p>
          <a:p>
            <a:r>
              <a:t>per cent position and had put it into Illumina rather than Microsoft. In 2016 the genomics thesis</a:t>
            </a:r>
          </a:p>
          <a:p>
            <a:r>
              <a:t>was every bit as compelling as the cloud thesis, so that was a live possibility. This would be a</a:t>
            </a:r>
          </a:p>
          <a:p>
            <a:r>
              <a:t>very different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stability checks.</a:t>
            </a:r>
          </a:p>
          <a:p/>
          <a:p>
            <a:r>
              <a:t>Rolling thirty-six-month beta stays between about nought point nine seven and one point zero eight</a:t>
            </a:r>
          </a:p>
          <a:p>
            <a:r>
              <a:t>for the entire sample. We didn't drift into higher-beta positioning as markets rose, which is a</a:t>
            </a:r>
          </a:p>
          <a:p>
            <a:r>
              <a:t>common and destructive pattern in growth funds.</a:t>
            </a:r>
          </a:p>
          <a:p/>
          <a:p>
            <a:r>
              <a:t>Rolling twelve-month volatility below shows the regime: calm through 2017, the COVID spike, a quiet</a:t>
            </a:r>
          </a:p>
          <a:p>
            <a:r>
              <a:t>2021, then the sustained rise through 2022. Our line sits below the NASDAQ-100's for most of the</a:t>
            </a:r>
          </a:p>
          <a:p>
            <a:r>
              <a:t>sample. Less total risk than our own benchmark, more return, which is the argument this entire</a:t>
            </a:r>
          </a:p>
          <a:p>
            <a:r>
              <a:t>deck has been making.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pieces of supporting detail.</a:t>
            </a:r>
          </a:p>
          <a:p/>
          <a:p>
            <a:r>
              <a:t>The chart is the month-of-year seasonality. July strongest, September weakest. Six observations per</a:t>
            </a:r>
          </a:p>
          <a:p>
            <a:r>
              <a:t>month, so description rather than signal.</a:t>
            </a:r>
          </a:p>
          <a:p/>
          <a:p>
            <a:r>
              <a:t>The table is the fee benchmarking. A passive S&amp;P 500 ETF costs nine basis points and returned</a:t>
            </a:r>
          </a:p>
          <a:p>
            <a:r>
              <a:t>ninety per cent. A NASDAQ-100 ETF costs twenty and returned a hundred and thirty-five. We cost one</a:t>
            </a:r>
          </a:p>
          <a:p>
            <a:r>
              <a:t>point one five per cent all-in and returned a hundred and seventy-nine.</a:t>
            </a:r>
          </a:p>
          <a:p/>
          <a:p>
            <a:r>
              <a:t>The arithmetic: we cost five point seven million more than the NASDAQ ETF and delivered</a:t>
            </a:r>
          </a:p>
          <a:p>
            <a:r>
              <a:t>forty-four point four million more in terminal value. Investors kept thirty-eight point seven</a:t>
            </a:r>
          </a:p>
          <a:p>
            <a:r>
              <a:t>million after every dollar of fee.</a:t>
            </a:r>
          </a:p>
          <a:p/>
          <a:p>
            <a:r>
              <a:t>I put this in the appendix deliberately, a manager should be prepared to defend a fee on request,</a:t>
            </a:r>
          </a:p>
          <a:p>
            <a:r>
              <a:t>not only when it flatters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and declarations.</a:t>
            </a:r>
          </a:p>
          <a:p/>
          <a:p>
            <a:r>
              <a:t>The methodology follows the standard literature: Jensen for alpha, Sharpe, Sortino and Treynor for</a:t>
            </a:r>
          </a:p>
          <a:p>
            <a:r>
              <a:t>the ratios, Fama and French for the factor models, Brinson for attribution, Markowitz for the</a:t>
            </a:r>
          </a:p>
          <a:p>
            <a:r>
              <a:t>frontier, Newey and West for the standard-error correction.</a:t>
            </a:r>
          </a:p>
          <a:p/>
          <a:p>
            <a:r>
              <a:t>On AI use: this assessment is classified as AI-Supported. I've declared the tools and, more</a:t>
            </a:r>
          </a:p>
          <a:p>
            <a:r>
              <a:t>importantly, the division of labour. The analytical scope, the choice of benchmarks and models, the</a:t>
            </a:r>
          </a:p>
          <a:p>
            <a:r>
              <a:t>interpretation of every result and the recommendation are mine. Every number traces back to a</a:t>
            </a:r>
          </a:p>
          <a:p>
            <a:r>
              <a:t>reproducible calculation on primary market data, and the code and workbook accompany this</a:t>
            </a:r>
          </a:p>
          <a:p>
            <a:r>
              <a:t>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1115568"/>
            <a:ext cx="8229600" cy="365760"/>
          </a:xfrm>
          <a:prstGeom prst="rect">
            <a:avLst/>
          </a:prstGeom>
          <a:noFill/>
        </p:spPr>
        <p:txBody>
          <a:bodyPr wrap="square" lIns="0" rIns="0" tIns="0" bIns="0" anchor="t">
            <a:spAutoFit/>
          </a:bodyPr>
          <a:lstStyle/>
          <a:p>
            <a:pPr algn="l">
              <a:lnSpc>
                <a:spcPct val="105000"/>
              </a:lnSpc>
            </a:pPr>
            <a:r>
              <a:rPr sz="1200" b="0" i="0" spc="340">
                <a:solidFill>
                  <a:srgbClr val="C4551A"/>
                </a:solidFill>
                <a:latin typeface="Corbel"/>
              </a:rPr>
              <a:t>NORTHPOINT</a:t>
            </a:r>
          </a:p>
        </p:txBody>
      </p:sp>
      <p:sp>
        <p:nvSpPr>
          <p:cNvPr id="4" name="TextBox 3"/>
          <p:cNvSpPr txBox="1"/>
          <p:nvPr/>
        </p:nvSpPr>
        <p:spPr>
          <a:xfrm>
            <a:off x="960120" y="1591056"/>
            <a:ext cx="7863840" cy="1920240"/>
          </a:xfrm>
          <a:prstGeom prst="rect">
            <a:avLst/>
          </a:prstGeom>
          <a:noFill/>
        </p:spPr>
        <p:txBody>
          <a:bodyPr wrap="square" lIns="0" rIns="0" tIns="0" bIns="0" anchor="t">
            <a:spAutoFit/>
          </a:bodyPr>
          <a:lstStyle/>
          <a:p>
            <a:pPr algn="l">
              <a:lnSpc>
                <a:spcPct val="106000"/>
              </a:lnSpc>
            </a:pPr>
            <a:r>
              <a:rPr sz="5000" b="0" i="0">
                <a:solidFill>
                  <a:srgbClr val="F2ECDE"/>
                </a:solidFill>
                <a:latin typeface="Georgia"/>
              </a:rPr>
              <a:t>Northpoint Digital</a:t>
            </a:r>
          </a:p>
          <a:p>
            <a:pPr algn="l">
              <a:lnSpc>
                <a:spcPct val="106000"/>
              </a:lnSpc>
            </a:pPr>
            <a:r>
              <a:rPr sz="5000" b="0" i="0">
                <a:solidFill>
                  <a:srgbClr val="F2ECDE"/>
                </a:solidFill>
                <a:latin typeface="Georgia"/>
              </a:rPr>
              <a:t>Innovation Fund</a:t>
            </a:r>
          </a:p>
        </p:txBody>
      </p:sp>
      <p:sp>
        <p:nvSpPr>
          <p:cNvPr id="5" name="Rectangle 4"/>
          <p:cNvSpPr/>
          <p:nvPr/>
        </p:nvSpPr>
        <p:spPr>
          <a:xfrm>
            <a:off x="1024128" y="3529584"/>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858768"/>
            <a:ext cx="7680960" cy="914400"/>
          </a:xfrm>
          <a:prstGeom prst="rect">
            <a:avLst/>
          </a:prstGeom>
          <a:noFill/>
        </p:spPr>
        <p:txBody>
          <a:bodyPr wrap="square" lIns="0" rIns="0" tIns="0" bIns="0" anchor="t">
            <a:spAutoFit/>
          </a:bodyPr>
          <a:lstStyle/>
          <a:p>
            <a:pPr algn="l">
              <a:lnSpc>
                <a:spcPct val="138000"/>
              </a:lnSpc>
            </a:pPr>
            <a:r>
              <a:rPr sz="1450" b="0" i="0">
                <a:solidFill>
                  <a:srgbClr val="A9BEB8"/>
                </a:solidFill>
                <a:latin typeface="Corbel"/>
              </a:rPr>
              <a:t>Six-year performance review  ·  January 2017 – December 2022</a:t>
            </a:r>
          </a:p>
          <a:p>
            <a:pPr algn="l">
              <a:lnSpc>
                <a:spcPct val="138000"/>
              </a:lnSpc>
            </a:pPr>
            <a:r>
              <a:rPr sz="1450" b="0" i="0">
                <a:solidFill>
                  <a:srgbClr val="A9BEB8"/>
                </a:solidFill>
                <a:latin typeface="Corbel"/>
              </a:rPr>
              <a:t>Final report to investors  ·  New York · San Francisco · London · Hong Kong · Shanghai · Sydney</a:t>
            </a:r>
          </a:p>
        </p:txBody>
      </p:sp>
      <p:sp>
        <p:nvSpPr>
          <p:cNvPr id="7" name="TextBox 6"/>
          <p:cNvSpPr txBox="1"/>
          <p:nvPr/>
        </p:nvSpPr>
        <p:spPr>
          <a:xfrm>
            <a:off x="987552" y="5358384"/>
            <a:ext cx="7680960" cy="1005840"/>
          </a:xfrm>
          <a:prstGeom prst="rect">
            <a:avLst/>
          </a:prstGeom>
          <a:noFill/>
        </p:spPr>
        <p:txBody>
          <a:bodyPr wrap="square" lIns="0" rIns="0" tIns="0" bIns="0" anchor="t">
            <a:spAutoFit/>
          </a:bodyPr>
          <a:lstStyle/>
          <a:p>
            <a:pPr algn="l">
              <a:lnSpc>
                <a:spcPct val="138000"/>
              </a:lnSpc>
            </a:pPr>
            <a:r>
              <a:rPr sz="1150" b="0" i="0">
                <a:solidFill>
                  <a:srgbClr val="7E9994"/>
                </a:solidFill>
                <a:latin typeface="Corbel"/>
              </a:rPr>
              <a:t>Callum O'Connor  ·  Portfolio Manager</a:t>
            </a:r>
          </a:p>
          <a:p>
            <a:pPr algn="l">
              <a:lnSpc>
                <a:spcPct val="138000"/>
              </a:lnSpc>
            </a:pPr>
            <a:r>
              <a:rPr sz="1150" b="0" i="0">
                <a:solidFill>
                  <a:srgbClr val="7E9994"/>
                </a:solidFill>
                <a:latin typeface="Corbel"/>
              </a:rPr>
              <a:t>Student ID 14053836  ·  FINC13-303 Portfolio Analysis and Investments  ·  Bond University</a:t>
            </a:r>
          </a:p>
        </p:txBody>
      </p:sp>
      <p:sp>
        <p:nvSpPr>
          <p:cNvPr id="8" name="Rectangle 7"/>
          <p:cNvSpPr/>
          <p:nvPr/>
        </p:nvSpPr>
        <p:spPr>
          <a:xfrm>
            <a:off x="9162288" y="1700784"/>
            <a:ext cx="12801" cy="2834640"/>
          </a:xfrm>
          <a:prstGeom prst="rect">
            <a:avLst/>
          </a:prstGeom>
          <a:solidFill>
            <a:srgbClr val="1B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54896" y="1755648"/>
            <a:ext cx="2377440" cy="274320"/>
          </a:xfrm>
          <a:prstGeom prst="rect">
            <a:avLst/>
          </a:prstGeom>
          <a:noFill/>
        </p:spPr>
        <p:txBody>
          <a:bodyPr wrap="square" lIns="0" rIns="0" tIns="0" bIns="0" anchor="t">
            <a:spAutoFit/>
          </a:bodyPr>
          <a:lstStyle/>
          <a:p>
            <a:pPr algn="l">
              <a:lnSpc>
                <a:spcPct val="105000"/>
              </a:lnSpc>
            </a:pPr>
            <a:r>
              <a:rPr sz="850" b="0" i="0" spc="180">
                <a:solidFill>
                  <a:srgbClr val="C4551A"/>
                </a:solidFill>
                <a:latin typeface="Corbel"/>
              </a:rPr>
              <a:t>MANDATE OUTCOME</a:t>
            </a:r>
          </a:p>
        </p:txBody>
      </p:sp>
      <p:sp>
        <p:nvSpPr>
          <p:cNvPr id="10" name="TextBox 9"/>
          <p:cNvSpPr txBox="1"/>
          <p:nvPr/>
        </p:nvSpPr>
        <p:spPr>
          <a:xfrm>
            <a:off x="9418320" y="2103120"/>
            <a:ext cx="2560320" cy="731520"/>
          </a:xfrm>
          <a:prstGeom prst="rect">
            <a:avLst/>
          </a:prstGeom>
          <a:noFill/>
        </p:spPr>
        <p:txBody>
          <a:bodyPr wrap="square" lIns="0" rIns="0" tIns="0" bIns="0" anchor="t">
            <a:spAutoFit/>
          </a:bodyPr>
          <a:lstStyle/>
          <a:p>
            <a:pPr algn="l">
              <a:lnSpc>
                <a:spcPct val="105000"/>
              </a:lnSpc>
            </a:pPr>
            <a:r>
              <a:rPr sz="4400" b="0" i="0">
                <a:solidFill>
                  <a:srgbClr val="F2ECDE"/>
                </a:solidFill>
                <a:latin typeface="Georgia"/>
              </a:rPr>
              <a:t>$279m</a:t>
            </a:r>
          </a:p>
        </p:txBody>
      </p:sp>
      <p:sp>
        <p:nvSpPr>
          <p:cNvPr id="11" name="TextBox 10"/>
          <p:cNvSpPr txBox="1"/>
          <p:nvPr/>
        </p:nvSpPr>
        <p:spPr>
          <a:xfrm>
            <a:off x="9454896" y="2889504"/>
            <a:ext cx="2468880" cy="1554480"/>
          </a:xfrm>
          <a:prstGeom prst="rect">
            <a:avLst/>
          </a:prstGeom>
          <a:noFill/>
        </p:spPr>
        <p:txBody>
          <a:bodyPr wrap="square" lIns="0" rIns="0" tIns="0" bIns="0" anchor="t">
            <a:spAutoFit/>
          </a:bodyPr>
          <a:lstStyle/>
          <a:p>
            <a:pPr algn="l">
              <a:lnSpc>
                <a:spcPct val="142000"/>
              </a:lnSpc>
            </a:pPr>
            <a:r>
              <a:rPr sz="1150" b="0" i="0">
                <a:solidFill>
                  <a:srgbClr val="A9BEB8"/>
                </a:solidFill>
                <a:latin typeface="Corbel"/>
              </a:rPr>
              <a:t>from a $100 million mandate</a:t>
            </a:r>
          </a:p>
          <a:p>
            <a:pPr algn="l">
              <a:lnSpc>
                <a:spcPct val="142000"/>
              </a:lnSpc>
            </a:pPr>
            <a:r>
              <a:rPr sz="1150" b="0" i="0">
                <a:solidFill>
                  <a:srgbClr val="A9BEB8"/>
                </a:solidFill>
                <a:latin typeface="Corbel"/>
              </a:rPr>
              <a:t/>
            </a:r>
          </a:p>
          <a:p>
            <a:pPr algn="l">
              <a:lnSpc>
                <a:spcPct val="142000"/>
              </a:lnSpc>
            </a:pPr>
            <a:r>
              <a:rPr sz="1150" b="0" i="0">
                <a:solidFill>
                  <a:srgbClr val="A9BEB8"/>
                </a:solidFill>
                <a:latin typeface="Corbel"/>
              </a:rPr>
              <a:t>+179.2% cumulative</a:t>
            </a:r>
          </a:p>
          <a:p>
            <a:pPr algn="l">
              <a:lnSpc>
                <a:spcPct val="142000"/>
              </a:lnSpc>
            </a:pPr>
            <a:r>
              <a:rPr sz="1150" b="0" i="0">
                <a:solidFill>
                  <a:srgbClr val="A9BEB8"/>
                </a:solidFill>
                <a:latin typeface="Corbel"/>
              </a:rPr>
              <a:t>18.7% a year</a:t>
            </a:r>
          </a:p>
          <a:p>
            <a:pPr algn="l">
              <a:lnSpc>
                <a:spcPct val="142000"/>
              </a:lnSpc>
            </a:pPr>
            <a:r>
              <a:rPr sz="1150" b="0" i="0">
                <a:solidFill>
                  <a:srgbClr val="A9BEB8"/>
                </a:solidFill>
                <a:latin typeface="Corbel"/>
              </a:rPr>
              <a:t/>
            </a:r>
          </a:p>
          <a:p>
            <a:pPr algn="l">
              <a:lnSpc>
                <a:spcPct val="142000"/>
              </a:lnSpc>
            </a:pPr>
            <a:r>
              <a:rPr sz="1150" b="0" i="0">
                <a:solidFill>
                  <a:srgbClr val="A9BEB8"/>
                </a:solidFill>
                <a:latin typeface="Corbel"/>
              </a:rPr>
              <a:t>6.6% alpha, t = 3.06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02</a:t>
            </a:r>
          </a:p>
        </p:txBody>
      </p:sp>
      <p:sp>
        <p:nvSpPr>
          <p:cNvPr id="4" name="TextBox 3"/>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Agenda</a:t>
            </a:r>
          </a:p>
        </p:txBody>
      </p:sp>
      <p:sp>
        <p:nvSpPr>
          <p:cNvPr id="5" name="TextBox 4"/>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Six sections, twenty-five minutes, then questions</a:t>
            </a:r>
          </a:p>
        </p:txBody>
      </p:sp>
      <p:sp>
        <p:nvSpPr>
          <p:cNvPr id="6" name="Rectangle 5"/>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8" name="TextBox 7"/>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9" name="Rectangle 8"/>
          <p:cNvSpPr/>
          <p:nvPr/>
        </p:nvSpPr>
        <p:spPr>
          <a:xfrm>
            <a:off x="1298448" y="175564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8448" y="193852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1</a:t>
            </a:r>
          </a:p>
        </p:txBody>
      </p:sp>
      <p:sp>
        <p:nvSpPr>
          <p:cNvPr id="11" name="TextBox 10"/>
          <p:cNvSpPr txBox="1"/>
          <p:nvPr/>
        </p:nvSpPr>
        <p:spPr>
          <a:xfrm>
            <a:off x="1865376" y="199339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Where we started</a:t>
            </a:r>
          </a:p>
        </p:txBody>
      </p:sp>
      <p:sp>
        <p:nvSpPr>
          <p:cNvPr id="12" name="TextBox 11"/>
          <p:cNvSpPr txBox="1"/>
          <p:nvPr/>
        </p:nvSpPr>
        <p:spPr>
          <a:xfrm>
            <a:off x="5614416" y="202996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The mandate, the theme, and how the fund was actually run</a:t>
            </a:r>
          </a:p>
        </p:txBody>
      </p:sp>
      <p:sp>
        <p:nvSpPr>
          <p:cNvPr id="13" name="Rectangle 12"/>
          <p:cNvSpPr/>
          <p:nvPr/>
        </p:nvSpPr>
        <p:spPr>
          <a:xfrm>
            <a:off x="1298448" y="248716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267004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2</a:t>
            </a:r>
          </a:p>
        </p:txBody>
      </p:sp>
      <p:sp>
        <p:nvSpPr>
          <p:cNvPr id="15" name="TextBox 14"/>
          <p:cNvSpPr txBox="1"/>
          <p:nvPr/>
        </p:nvSpPr>
        <p:spPr>
          <a:xfrm>
            <a:off x="1865376" y="272491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The economy we lived through</a:t>
            </a:r>
          </a:p>
        </p:txBody>
      </p:sp>
      <p:sp>
        <p:nvSpPr>
          <p:cNvPr id="16" name="TextBox 15"/>
          <p:cNvSpPr txBox="1"/>
          <p:nvPr/>
        </p:nvSpPr>
        <p:spPr>
          <a:xfrm>
            <a:off x="5614416" y="276148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Six years, three regimes, and how our 2016 scenarios held up</a:t>
            </a:r>
          </a:p>
        </p:txBody>
      </p:sp>
      <p:sp>
        <p:nvSpPr>
          <p:cNvPr id="17" name="Rectangle 16"/>
          <p:cNvSpPr/>
          <p:nvPr/>
        </p:nvSpPr>
        <p:spPr>
          <a:xfrm>
            <a:off x="1298448" y="321868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340156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3</a:t>
            </a:r>
          </a:p>
        </p:txBody>
      </p:sp>
      <p:sp>
        <p:nvSpPr>
          <p:cNvPr id="19" name="TextBox 18"/>
          <p:cNvSpPr txBox="1"/>
          <p:nvPr/>
        </p:nvSpPr>
        <p:spPr>
          <a:xfrm>
            <a:off x="1865376" y="345643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What the fund returned</a:t>
            </a:r>
          </a:p>
        </p:txBody>
      </p:sp>
      <p:sp>
        <p:nvSpPr>
          <p:cNvPr id="20" name="TextBox 19"/>
          <p:cNvSpPr txBox="1"/>
          <p:nvPr/>
        </p:nvSpPr>
        <p:spPr>
          <a:xfrm>
            <a:off x="5614416" y="349300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Wealth created, benchmarked, and stress-tested through COVID and 2022</a:t>
            </a:r>
          </a:p>
        </p:txBody>
      </p:sp>
      <p:sp>
        <p:nvSpPr>
          <p:cNvPr id="21" name="Rectangle 20"/>
          <p:cNvSpPr/>
          <p:nvPr/>
        </p:nvSpPr>
        <p:spPr>
          <a:xfrm>
            <a:off x="1298448" y="395020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98448" y="413308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4</a:t>
            </a:r>
          </a:p>
        </p:txBody>
      </p:sp>
      <p:sp>
        <p:nvSpPr>
          <p:cNvPr id="23" name="TextBox 22"/>
          <p:cNvSpPr txBox="1"/>
          <p:nvPr/>
        </p:nvSpPr>
        <p:spPr>
          <a:xfrm>
            <a:off x="1865376" y="418795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How much risk we took</a:t>
            </a:r>
          </a:p>
        </p:txBody>
      </p:sp>
      <p:sp>
        <p:nvSpPr>
          <p:cNvPr id="24" name="TextBox 23"/>
          <p:cNvSpPr txBox="1"/>
          <p:nvPr/>
        </p:nvSpPr>
        <p:spPr>
          <a:xfrm>
            <a:off x="5614416" y="422452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Distribution, risk-adjusted returns, tail risk, and seasonality</a:t>
            </a:r>
          </a:p>
        </p:txBody>
      </p:sp>
      <p:sp>
        <p:nvSpPr>
          <p:cNvPr id="25" name="Rectangle 24"/>
          <p:cNvSpPr/>
          <p:nvPr/>
        </p:nvSpPr>
        <p:spPr>
          <a:xfrm>
            <a:off x="1298448" y="468172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98448" y="486460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5</a:t>
            </a:r>
          </a:p>
        </p:txBody>
      </p:sp>
      <p:sp>
        <p:nvSpPr>
          <p:cNvPr id="27" name="TextBox 26"/>
          <p:cNvSpPr txBox="1"/>
          <p:nvPr/>
        </p:nvSpPr>
        <p:spPr>
          <a:xfrm>
            <a:off x="1865376" y="491947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Was it skill?</a:t>
            </a:r>
          </a:p>
        </p:txBody>
      </p:sp>
      <p:sp>
        <p:nvSpPr>
          <p:cNvPr id="28" name="TextBox 27"/>
          <p:cNvSpPr txBox="1"/>
          <p:nvPr/>
        </p:nvSpPr>
        <p:spPr>
          <a:xfrm>
            <a:off x="5614416" y="495604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Jensen's alpha, factor models, attribution, and the optimised counterfactual</a:t>
            </a:r>
          </a:p>
        </p:txBody>
      </p:sp>
      <p:sp>
        <p:nvSpPr>
          <p:cNvPr id="29" name="Rectangle 28"/>
          <p:cNvSpPr/>
          <p:nvPr/>
        </p:nvSpPr>
        <p:spPr>
          <a:xfrm>
            <a:off x="1298448" y="541324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559612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6</a:t>
            </a:r>
          </a:p>
        </p:txBody>
      </p:sp>
      <p:sp>
        <p:nvSpPr>
          <p:cNvPr id="31" name="TextBox 30"/>
          <p:cNvSpPr txBox="1"/>
          <p:nvPr/>
        </p:nvSpPr>
        <p:spPr>
          <a:xfrm>
            <a:off x="1865376" y="565099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The verdict</a:t>
            </a:r>
          </a:p>
        </p:txBody>
      </p:sp>
      <p:sp>
        <p:nvSpPr>
          <p:cNvPr id="32" name="TextBox 31"/>
          <p:cNvSpPr txBox="1"/>
          <p:nvPr/>
        </p:nvSpPr>
        <p:spPr>
          <a:xfrm>
            <a:off x="5614416" y="568756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Objective scorecard, fees, and our recommendation on the fund's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03</a:t>
            </a:r>
          </a:p>
        </p:txBody>
      </p:sp>
      <p:sp>
        <p:nvSpPr>
          <p:cNvPr id="4" name="TextBox 3"/>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six-year result</a:t>
            </a:r>
          </a:p>
        </p:txBody>
      </p:sp>
      <p:sp>
        <p:nvSpPr>
          <p:cNvPr id="5" name="TextBox 4"/>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figure on this slide is calculated from 72 months of dividend-adjusted total returns and is reproduced in the appendix</a:t>
            </a:r>
          </a:p>
        </p:txBody>
      </p:sp>
      <p:sp>
        <p:nvSpPr>
          <p:cNvPr id="6" name="Rectangle 5"/>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8" name="TextBox 7"/>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9" name="Rectangle 8"/>
          <p:cNvSpPr/>
          <p:nvPr/>
        </p:nvSpPr>
        <p:spPr>
          <a:xfrm>
            <a:off x="1298448" y="1664208"/>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8448"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+179.2%</a:t>
            </a:r>
          </a:p>
        </p:txBody>
      </p:sp>
      <p:sp>
        <p:nvSpPr>
          <p:cNvPr id="11" name="TextBox 10"/>
          <p:cNvSpPr txBox="1"/>
          <p:nvPr/>
        </p:nvSpPr>
        <p:spPr>
          <a:xfrm>
            <a:off x="1298448"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CUMULATIVE RETURN</a:t>
            </a:r>
          </a:p>
        </p:txBody>
      </p:sp>
      <p:sp>
        <p:nvSpPr>
          <p:cNvPr id="12" name="TextBox 11"/>
          <p:cNvSpPr txBox="1"/>
          <p:nvPr/>
        </p:nvSpPr>
        <p:spPr>
          <a:xfrm>
            <a:off x="1298448"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$100m mandate grew to $279.2m.</a:t>
            </a:r>
          </a:p>
          <a:p>
            <a:pPr algn="l">
              <a:lnSpc>
                <a:spcPct val="122000"/>
              </a:lnSpc>
            </a:pPr>
            <a:r>
              <a:rPr sz="900" b="0" i="0">
                <a:solidFill>
                  <a:srgbClr val="8C8478"/>
                </a:solidFill>
                <a:latin typeface="Corbel"/>
              </a:rPr>
              <a:t>S&amp;P 500 returned +90.0%;</a:t>
            </a:r>
          </a:p>
          <a:p>
            <a:pPr algn="l">
              <a:lnSpc>
                <a:spcPct val="122000"/>
              </a:lnSpc>
            </a:pPr>
            <a:r>
              <a:rPr sz="900" b="0" i="0">
                <a:solidFill>
                  <a:srgbClr val="8C8478"/>
                </a:solidFill>
                <a:latin typeface="Corbel"/>
              </a:rPr>
              <a:t>NASDAQ-100 +134.7%.</a:t>
            </a:r>
          </a:p>
        </p:txBody>
      </p:sp>
      <p:sp>
        <p:nvSpPr>
          <p:cNvPr id="13" name="Rectangle 12"/>
          <p:cNvSpPr/>
          <p:nvPr/>
        </p:nvSpPr>
        <p:spPr>
          <a:xfrm>
            <a:off x="3921175" y="1664208"/>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21175"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18.7%</a:t>
            </a:r>
          </a:p>
        </p:txBody>
      </p:sp>
      <p:sp>
        <p:nvSpPr>
          <p:cNvPr id="15" name="TextBox 14"/>
          <p:cNvSpPr txBox="1"/>
          <p:nvPr/>
        </p:nvSpPr>
        <p:spPr>
          <a:xfrm>
            <a:off x="3921175"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ANNUALISED RETURN</a:t>
            </a:r>
          </a:p>
        </p:txBody>
      </p:sp>
      <p:sp>
        <p:nvSpPr>
          <p:cNvPr id="16" name="TextBox 15"/>
          <p:cNvSpPr txBox="1"/>
          <p:nvPr/>
        </p:nvSpPr>
        <p:spPr>
          <a:xfrm>
            <a:off x="3921175"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Against a target of 8–10% net p.a.</a:t>
            </a:r>
          </a:p>
          <a:p>
            <a:pPr algn="l">
              <a:lnSpc>
                <a:spcPct val="122000"/>
              </a:lnSpc>
            </a:pPr>
            <a:r>
              <a:rPr sz="900" b="0" i="0">
                <a:solidFill>
                  <a:srgbClr val="8C8478"/>
                </a:solidFill>
                <a:latin typeface="Corbel"/>
              </a:rPr>
              <a:t>S&amp;P 500 11.3%; NASDAQ-100 15.3%.</a:t>
            </a:r>
          </a:p>
        </p:txBody>
      </p:sp>
      <p:sp>
        <p:nvSpPr>
          <p:cNvPr id="17" name="Rectangle 16"/>
          <p:cNvSpPr/>
          <p:nvPr/>
        </p:nvSpPr>
        <p:spPr>
          <a:xfrm>
            <a:off x="6543902" y="1664208"/>
            <a:ext cx="2348407" cy="18288"/>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43902"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0.94</a:t>
            </a:r>
          </a:p>
        </p:txBody>
      </p:sp>
      <p:sp>
        <p:nvSpPr>
          <p:cNvPr id="19" name="TextBox 18"/>
          <p:cNvSpPr txBox="1"/>
          <p:nvPr/>
        </p:nvSpPr>
        <p:spPr>
          <a:xfrm>
            <a:off x="6543902"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SHARPE RATIO</a:t>
            </a:r>
          </a:p>
        </p:txBody>
      </p:sp>
      <p:sp>
        <p:nvSpPr>
          <p:cNvPr id="20" name="TextBox 19"/>
          <p:cNvSpPr txBox="1"/>
          <p:nvPr/>
        </p:nvSpPr>
        <p:spPr>
          <a:xfrm>
            <a:off x="6543902"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Highest of every comparator.</a:t>
            </a:r>
          </a:p>
          <a:p>
            <a:pPr algn="l">
              <a:lnSpc>
                <a:spcPct val="122000"/>
              </a:lnSpc>
            </a:pPr>
            <a:r>
              <a:rPr sz="900" b="0" i="0">
                <a:solidFill>
                  <a:srgbClr val="8C8478"/>
                </a:solidFill>
                <a:latin typeface="Corbel"/>
              </a:rPr>
              <a:t>NASDAQ-100 0.75; S&amp;P 500 0.65.</a:t>
            </a:r>
          </a:p>
          <a:p>
            <a:pPr algn="l">
              <a:lnSpc>
                <a:spcPct val="122000"/>
              </a:lnSpc>
            </a:pPr>
            <a:r>
              <a:rPr sz="900" b="0" i="0">
                <a:solidFill>
                  <a:srgbClr val="8C8478"/>
                </a:solidFill>
                <a:latin typeface="Corbel"/>
              </a:rPr>
              <a:t>Sortino 1.51.</a:t>
            </a:r>
          </a:p>
        </p:txBody>
      </p:sp>
      <p:sp>
        <p:nvSpPr>
          <p:cNvPr id="21" name="Rectangle 20"/>
          <p:cNvSpPr/>
          <p:nvPr/>
        </p:nvSpPr>
        <p:spPr>
          <a:xfrm>
            <a:off x="9166629" y="1664208"/>
            <a:ext cx="2348407" cy="18288"/>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66629"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-24.9%</a:t>
            </a:r>
          </a:p>
        </p:txBody>
      </p:sp>
      <p:sp>
        <p:nvSpPr>
          <p:cNvPr id="23" name="TextBox 22"/>
          <p:cNvSpPr txBox="1"/>
          <p:nvPr/>
        </p:nvSpPr>
        <p:spPr>
          <a:xfrm>
            <a:off x="9166629"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MAXIMUM DRAWDOWN</a:t>
            </a:r>
          </a:p>
        </p:txBody>
      </p:sp>
      <p:sp>
        <p:nvSpPr>
          <p:cNvPr id="24" name="TextBox 23"/>
          <p:cNvSpPr txBox="1"/>
          <p:nvPr/>
        </p:nvSpPr>
        <p:spPr>
          <a:xfrm>
            <a:off x="9166629"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Shallower than our own benchmark.</a:t>
            </a:r>
          </a:p>
          <a:p>
            <a:pPr algn="l">
              <a:lnSpc>
                <a:spcPct val="122000"/>
              </a:lnSpc>
            </a:pPr>
            <a:r>
              <a:rPr sz="900" b="0" i="0">
                <a:solidFill>
                  <a:srgbClr val="8C8478"/>
                </a:solidFill>
                <a:latin typeface="Corbel"/>
              </a:rPr>
              <a:t>NASDAQ-100 fell 32.6%.</a:t>
            </a:r>
          </a:p>
        </p:txBody>
      </p:sp>
      <p:sp>
        <p:nvSpPr>
          <p:cNvPr id="25" name="Rectangle 24"/>
          <p:cNvSpPr/>
          <p:nvPr/>
        </p:nvSpPr>
        <p:spPr>
          <a:xfrm>
            <a:off x="1298448" y="3803904"/>
            <a:ext cx="2348407" cy="18288"/>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98448"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6.6%</a:t>
            </a:r>
          </a:p>
        </p:txBody>
      </p:sp>
      <p:sp>
        <p:nvSpPr>
          <p:cNvPr id="27" name="TextBox 26"/>
          <p:cNvSpPr txBox="1"/>
          <p:nvPr/>
        </p:nvSpPr>
        <p:spPr>
          <a:xfrm>
            <a:off x="1298448"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ALPHA P.A. (FF5)</a:t>
            </a:r>
          </a:p>
        </p:txBody>
      </p:sp>
      <p:sp>
        <p:nvSpPr>
          <p:cNvPr id="28" name="TextBox 27"/>
          <p:cNvSpPr txBox="1"/>
          <p:nvPr/>
        </p:nvSpPr>
        <p:spPr>
          <a:xfrm>
            <a:off x="1298448"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Fama–French five-factor Jensen's</a:t>
            </a:r>
          </a:p>
          <a:p>
            <a:pPr algn="l">
              <a:lnSpc>
                <a:spcPct val="122000"/>
              </a:lnSpc>
            </a:pPr>
            <a:r>
              <a:rPr sz="900" b="0" i="0">
                <a:solidFill>
                  <a:srgbClr val="8C8478"/>
                </a:solidFill>
                <a:latin typeface="Corbel"/>
              </a:rPr>
              <a:t>alpha, t = 3.06, p = 0.002.</a:t>
            </a:r>
          </a:p>
          <a:p>
            <a:pPr algn="l">
              <a:lnSpc>
                <a:spcPct val="122000"/>
              </a:lnSpc>
            </a:pPr>
            <a:r>
              <a:rPr sz="900" b="0" i="0">
                <a:solidFill>
                  <a:srgbClr val="8C8478"/>
                </a:solidFill>
                <a:latin typeface="Corbel"/>
              </a:rPr>
              <a:t>Statistically significant.</a:t>
            </a:r>
          </a:p>
        </p:txBody>
      </p:sp>
      <p:sp>
        <p:nvSpPr>
          <p:cNvPr id="29" name="Rectangle 28"/>
          <p:cNvSpPr/>
          <p:nvPr/>
        </p:nvSpPr>
        <p:spPr>
          <a:xfrm>
            <a:off x="3921175" y="3803904"/>
            <a:ext cx="2348407" cy="18288"/>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21175"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1.04</a:t>
            </a:r>
          </a:p>
        </p:txBody>
      </p:sp>
      <p:sp>
        <p:nvSpPr>
          <p:cNvPr id="31" name="TextBox 30"/>
          <p:cNvSpPr txBox="1"/>
          <p:nvPr/>
        </p:nvSpPr>
        <p:spPr>
          <a:xfrm>
            <a:off x="3921175"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BETA TO THE MARKET</a:t>
            </a:r>
          </a:p>
        </p:txBody>
      </p:sp>
      <p:sp>
        <p:nvSpPr>
          <p:cNvPr id="32" name="TextBox 31"/>
          <p:cNvSpPr txBox="1"/>
          <p:nvPr/>
        </p:nvSpPr>
        <p:spPr>
          <a:xfrm>
            <a:off x="3921175"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Market-like sensitivity.</a:t>
            </a:r>
          </a:p>
          <a:p>
            <a:pPr algn="l">
              <a:lnSpc>
                <a:spcPct val="122000"/>
              </a:lnSpc>
            </a:pPr>
            <a:r>
              <a:rPr sz="900" b="0" i="0">
                <a:solidFill>
                  <a:srgbClr val="8C8478"/>
                </a:solidFill>
                <a:latin typeface="Corbel"/>
              </a:rPr>
              <a:t>The excess return is not</a:t>
            </a:r>
          </a:p>
          <a:p>
            <a:pPr algn="l">
              <a:lnSpc>
                <a:spcPct val="122000"/>
              </a:lnSpc>
            </a:pPr>
            <a:r>
              <a:rPr sz="900" b="0" i="0">
                <a:solidFill>
                  <a:srgbClr val="8C8478"/>
                </a:solidFill>
                <a:latin typeface="Corbel"/>
              </a:rPr>
              <a:t>simply leverage on the index.</a:t>
            </a:r>
          </a:p>
        </p:txBody>
      </p:sp>
      <p:sp>
        <p:nvSpPr>
          <p:cNvPr id="33" name="Rectangle 32"/>
          <p:cNvSpPr/>
          <p:nvPr/>
        </p:nvSpPr>
        <p:spPr>
          <a:xfrm>
            <a:off x="6543902" y="3803904"/>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43902"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0.98</a:t>
            </a:r>
          </a:p>
        </p:txBody>
      </p:sp>
      <p:sp>
        <p:nvSpPr>
          <p:cNvPr id="35" name="TextBox 34"/>
          <p:cNvSpPr txBox="1"/>
          <p:nvPr/>
        </p:nvSpPr>
        <p:spPr>
          <a:xfrm>
            <a:off x="6543902"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INFORMATION RATIO</a:t>
            </a:r>
          </a:p>
        </p:txBody>
      </p:sp>
      <p:sp>
        <p:nvSpPr>
          <p:cNvPr id="36" name="TextBox 35"/>
          <p:cNvSpPr txBox="1"/>
          <p:nvPr/>
        </p:nvSpPr>
        <p:spPr>
          <a:xfrm>
            <a:off x="6543902"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Active return per unit of</a:t>
            </a:r>
          </a:p>
          <a:p>
            <a:pPr algn="l">
              <a:lnSpc>
                <a:spcPct val="122000"/>
              </a:lnSpc>
            </a:pPr>
            <a:r>
              <a:rPr sz="900" b="0" i="0">
                <a:solidFill>
                  <a:srgbClr val="8C8478"/>
                </a:solidFill>
                <a:latin typeface="Corbel"/>
              </a:rPr>
              <a:t>tracking error vs the S&amp;P 500</a:t>
            </a:r>
          </a:p>
          <a:p>
            <a:pPr algn="l">
              <a:lnSpc>
                <a:spcPct val="122000"/>
              </a:lnSpc>
            </a:pPr>
            <a:r>
              <a:rPr sz="900" b="0" i="0">
                <a:solidFill>
                  <a:srgbClr val="8C8478"/>
                </a:solidFill>
                <a:latin typeface="Corbel"/>
              </a:rPr>
              <a:t>(6.98% tracking error).</a:t>
            </a:r>
          </a:p>
        </p:txBody>
      </p:sp>
      <p:sp>
        <p:nvSpPr>
          <p:cNvPr id="37" name="Rectangle 36"/>
          <p:cNvSpPr/>
          <p:nvPr/>
        </p:nvSpPr>
        <p:spPr>
          <a:xfrm>
            <a:off x="9166629" y="3803904"/>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66629"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50 / 72</a:t>
            </a:r>
          </a:p>
        </p:txBody>
      </p:sp>
      <p:sp>
        <p:nvSpPr>
          <p:cNvPr id="39" name="TextBox 38"/>
          <p:cNvSpPr txBox="1"/>
          <p:nvPr/>
        </p:nvSpPr>
        <p:spPr>
          <a:xfrm>
            <a:off x="9166629"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POSITIVE MONTHS</a:t>
            </a:r>
          </a:p>
        </p:txBody>
      </p:sp>
      <p:sp>
        <p:nvSpPr>
          <p:cNvPr id="40" name="TextBox 39"/>
          <p:cNvSpPr txBox="1"/>
          <p:nvPr/>
        </p:nvSpPr>
        <p:spPr>
          <a:xfrm>
            <a:off x="9166629"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 69.4% hit rate.</a:t>
            </a:r>
          </a:p>
          <a:p>
            <a:pPr algn="l">
              <a:lnSpc>
                <a:spcPct val="122000"/>
              </a:lnSpc>
            </a:pPr>
            <a:r>
              <a:rPr sz="900" b="0" i="0">
                <a:solidFill>
                  <a:srgbClr val="8C8478"/>
                </a:solidFill>
                <a:latin typeface="Corbel"/>
              </a:rPr>
              <a:t>Average up month +4.6%,</a:t>
            </a:r>
          </a:p>
          <a:p>
            <a:pPr algn="l">
              <a:lnSpc>
                <a:spcPct val="122000"/>
              </a:lnSpc>
            </a:pPr>
            <a:r>
              <a:rPr sz="900" b="0" i="0">
                <a:solidFill>
                  <a:srgbClr val="8C8478"/>
                </a:solidFill>
                <a:latin typeface="Corbel"/>
              </a:rPr>
              <a:t>average down month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01</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Where we started</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The mandate you funded in 2016, the eleven positions we bought, and whether we stayed faithful to the brief</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mandate you funded</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Nothing in the strategy changed over six years. The discipline was in the rules, not in the reacting</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6" cy="4023360"/>
        </p:xfrm>
        <a:graphic>
          <a:graphicData uri="http://schemas.openxmlformats.org/drawingml/2006/table">
            <a:tbl>
              <a:tblPr>
                <a:tableStyleId>{5C22544A-7EE6-4342-B048-85BDC9FD1C3A}</a:tableStyleId>
              </a:tblPr>
              <a:tblGrid>
                <a:gridCol w="2793043"/>
                <a:gridCol w="7551563"/>
              </a:tblGrid>
              <a:tr h="365760">
                <a:tc>
                  <a:txBody>
                    <a:bodyPr wrap="square"/>
                    <a:lstStyle/>
                    <a:p>
                      <a:pPr algn="l"/>
                      <a:r>
                        <a:rPr sz="1000" b="1" spc="130">
                          <a:solidFill>
                            <a:srgbClr val="4A443C"/>
                          </a:solidFill>
                          <a:latin typeface="Corbel"/>
                        </a:rPr>
                        <a:t>MANDATE PARAMETER</a:t>
                      </a:r>
                    </a:p>
                  </a:txBody>
                  <a:tcPr marL="18288" marR="91440" marT="27432" marB="27432" anchor="ctr">
                    <a:noFill/>
                    <a:lnB w="6350" cap="flat">
                      <a:solidFill>
                        <a:srgbClr val="16130F"/>
                      </a:solidFill>
                    </a:lnB>
                  </a:tcPr>
                </a:tc>
                <a:tc>
                  <a:txBody>
                    <a:bodyPr wrap="square"/>
                    <a:lstStyle/>
                    <a:p>
                      <a:pPr algn="l"/>
                      <a:r>
                        <a:rPr sz="1000" b="1" spc="130">
                          <a:solidFill>
                            <a:srgbClr val="4A443C"/>
                          </a:solidFill>
                          <a:latin typeface="Corbel"/>
                        </a:rPr>
                        <a:t>WHAT WE COMMITTED TO IN JANUARY 2016</a:t>
                      </a:r>
                    </a:p>
                  </a:txBody>
                  <a:tcPr marL="91440" marR="91440" marT="27432" marB="27432" anchor="ctr">
                    <a:noFill/>
                    <a:lnB w="6350" cap="flat">
                      <a:solidFill>
                        <a:srgbClr val="16130F"/>
                      </a:solidFill>
                    </a:lnB>
                  </a:tcPr>
                </a:tc>
              </a:tr>
              <a:tr h="365760">
                <a:tc>
                  <a:txBody>
                    <a:bodyPr wrap="square"/>
                    <a:lstStyle/>
                    <a:p>
                      <a:pPr algn="l"/>
                      <a:r>
                        <a:rPr sz="1150" b="0">
                          <a:solidFill>
                            <a:srgbClr val="16130F"/>
                          </a:solidFill>
                          <a:latin typeface="Corbel"/>
                        </a:rPr>
                        <a:t>Capital</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US$100 million, six-year fund life (Jan 2017 – Dec 2022)</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Strategy</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Active, high-conviction thematic equity — technology and innovation</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Theme</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Digital transformation: cloud, mobile data, payments, automation, genomics</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Holdings</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Eleven US-listed stocks — exactly one per GICS sector</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Weighting</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Conviction tiers, 5% floor per sector, 16% cap on the largest position</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Rebalancing</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Quarterly, plus a 5-percentage-point drift threshold; mid-life review at end-2019</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Primary benchmark</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NASDAQ-100 (theme-aligned — measures selection skill within the theme)</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Secondary benchmark</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S&amp;P 500 (broad market — measures whether the theme was worth owning)</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Fees</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0.90% p.a. management + 10% of returns over the hurdle, high-water mark</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Return target</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8–10% net p.a., roughly 55–70% cumulative net over the fund life</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Eleven sectors, one idea</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theme was expressed through conviction tiers, never by abandoning a sector</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6_weights_donut.png"/>
          <p:cNvPicPr>
            <a:picLocks noChangeAspect="1"/>
          </p:cNvPicPr>
          <p:nvPr/>
        </p:nvPicPr>
        <p:blipFill>
          <a:blip r:embed="rId2"/>
          <a:stretch>
            <a:fillRect/>
          </a:stretch>
        </p:blipFill>
        <p:spPr>
          <a:xfrm>
            <a:off x="2551878" y="1517904"/>
            <a:ext cx="3855073" cy="4498847"/>
          </a:xfrm>
          <a:prstGeom prst="rect">
            <a:avLst/>
          </a:prstGeom>
        </p:spPr>
      </p:pic>
      <p:sp>
        <p:nvSpPr>
          <p:cNvPr id="12" name="TextBox 11"/>
          <p:cNvSpPr txBox="1"/>
          <p:nvPr/>
        </p:nvSpPr>
        <p:spPr>
          <a:xfrm>
            <a:off x="7934701" y="155448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THE BOOK WAS BUILT</a:t>
            </a:r>
          </a:p>
        </p:txBody>
      </p:sp>
      <p:sp>
        <p:nvSpPr>
          <p:cNvPr id="13" name="TextBox 12"/>
          <p:cNvSpPr txBox="1"/>
          <p:nvPr/>
        </p:nvSpPr>
        <p:spPr>
          <a:xfrm>
            <a:off x="7934701" y="1920240"/>
            <a:ext cx="3708354" cy="944880"/>
          </a:xfrm>
          <a:prstGeom prst="rect">
            <a:avLst/>
          </a:prstGeom>
          <a:noFill/>
        </p:spPr>
        <p:txBody>
          <a:bodyPr wrap="square" lIns="0" rIns="0" tIns="0" bIns="0">
            <a:spAutoFit/>
          </a:bodyPr>
          <a:lstStyle/>
          <a:p>
            <a:pPr>
              <a:lnSpc>
                <a:spcPct val="122000"/>
              </a:lnSpc>
            </a:pPr>
            <a:r>
              <a:rPr sz="1200" b="1">
                <a:solidFill>
                  <a:srgbClr val="0D3B38"/>
                </a:solidFill>
                <a:latin typeface="Corbel"/>
              </a:rPr>
              <a:t>Tier 1, 42%.  </a:t>
            </a:r>
            <a:r>
              <a:rPr sz="1200">
                <a:solidFill>
                  <a:srgbClr val="16130F"/>
                </a:solidFill>
                <a:latin typeface="Corbel"/>
              </a:rPr>
              <a:t>Microsoft, Alphabet and Amazon: the platform companies where the cloud, advertising and e-commerce theses all compound at once. Highest conviction, largest weights.</a:t>
            </a:r>
          </a:p>
        </p:txBody>
      </p:sp>
      <p:sp>
        <p:nvSpPr>
          <p:cNvPr id="14" name="TextBox 13"/>
          <p:cNvSpPr txBox="1"/>
          <p:nvPr/>
        </p:nvSpPr>
        <p:spPr>
          <a:xfrm>
            <a:off x="7934701" y="3066288"/>
            <a:ext cx="3708354"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Tier 2, 34%.  </a:t>
            </a:r>
            <a:r>
              <a:rPr sz="1200">
                <a:solidFill>
                  <a:srgbClr val="16130F"/>
                </a:solidFill>
                <a:latin typeface="Corbel"/>
              </a:rPr>
              <a:t>Visa, Equinix, Illumina and Rockwell: the enablers. Each monetises digitisation in one specific channel — payments, data centres, genomics, factory automation.</a:t>
            </a:r>
          </a:p>
        </p:txBody>
      </p:sp>
      <p:sp>
        <p:nvSpPr>
          <p:cNvPr id="15" name="TextBox 14"/>
          <p:cNvSpPr txBox="1"/>
          <p:nvPr/>
        </p:nvSpPr>
        <p:spPr>
          <a:xfrm>
            <a:off x="7934701" y="4023360"/>
            <a:ext cx="3708354"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Tier 3, 24%.  </a:t>
            </a:r>
            <a:r>
              <a:rPr sz="1200">
                <a:solidFill>
                  <a:srgbClr val="16130F"/>
                </a:solidFill>
                <a:latin typeface="Corbel"/>
              </a:rPr>
              <a:t>NextEra, Costco, Albemarle and Schlumberger: diversification and ballast, each still carrying an innovation or recovery angle.</a:t>
            </a:r>
          </a:p>
        </p:txBody>
      </p:sp>
      <p:sp>
        <p:nvSpPr>
          <p:cNvPr id="16" name="TextBox 15"/>
          <p:cNvSpPr txBox="1"/>
          <p:nvPr/>
        </p:nvSpPr>
        <p:spPr>
          <a:xfrm>
            <a:off x="7934701" y="4980432"/>
            <a:ext cx="3708354" cy="944880"/>
          </a:xfrm>
          <a:prstGeom prst="rect">
            <a:avLst/>
          </a:prstGeom>
          <a:noFill/>
        </p:spPr>
        <p:txBody>
          <a:bodyPr wrap="square" lIns="0" rIns="0" tIns="0" bIns="0">
            <a:spAutoFit/>
          </a:bodyPr>
          <a:lstStyle/>
          <a:p>
            <a:pPr>
              <a:lnSpc>
                <a:spcPct val="122000"/>
              </a:lnSpc>
            </a:pPr>
            <a:r>
              <a:rPr sz="1200" b="1">
                <a:solidFill>
                  <a:srgbClr val="0D3B38"/>
                </a:solidFill>
                <a:latin typeface="Corbel"/>
              </a:rPr>
              <a:t>The floor mattered.  </a:t>
            </a:r>
            <a:r>
              <a:rPr sz="1200">
                <a:solidFill>
                  <a:srgbClr val="16130F"/>
                </a:solidFill>
                <a:latin typeface="Corbel"/>
              </a:rPr>
              <a:t>Energy at 5% and Materials at 6% looked like drag for five years. In 2022 they were the two reasons our drawdown ran ten points shallower than the NASDAQ's.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We rebalanced. That was a decision, and it paid.</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Quarterly rebalancing added 1.3 percentage points a year over letting the winners run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1_weight_drift.png"/>
          <p:cNvPicPr>
            <a:picLocks noChangeAspect="1"/>
          </p:cNvPicPr>
          <p:nvPr/>
        </p:nvPicPr>
        <p:blipFill>
          <a:blip r:embed="rId2"/>
          <a:stretch>
            <a:fillRect/>
          </a:stretch>
        </p:blipFill>
        <p:spPr>
          <a:xfrm>
            <a:off x="2024287" y="1517904"/>
            <a:ext cx="8892928" cy="3730751"/>
          </a:xfrm>
          <a:prstGeom prst="rect">
            <a:avLst/>
          </a:prstGeom>
        </p:spPr>
      </p:pic>
      <p:graphicFrame>
        <p:nvGraphicFramePr>
          <p:cNvPr id="12" name="Table 11"/>
          <p:cNvGraphicFramePr>
            <a:graphicFrameLocks noGrp="1"/>
          </p:cNvGraphicFramePr>
          <p:nvPr/>
        </p:nvGraphicFramePr>
        <p:xfrm>
          <a:off x="1298448" y="5376672"/>
          <a:ext cx="10344604" cy="822960"/>
        </p:xfrm>
        <a:graphic>
          <a:graphicData uri="http://schemas.openxmlformats.org/drawingml/2006/table">
            <a:tbl>
              <a:tblPr>
                <a:tableStyleId>{5C22544A-7EE6-4342-B048-85BDC9FD1C3A}</a:tableStyleId>
              </a:tblPr>
              <a:tblGrid>
                <a:gridCol w="3103382"/>
                <a:gridCol w="1448244"/>
                <a:gridCol w="1241352"/>
                <a:gridCol w="1241352"/>
                <a:gridCol w="1655137"/>
                <a:gridCol w="1655137"/>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CUMULATIVE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SHARPE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MAX DRAWDOWN</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TERMINAL ON $100M</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Quarterly rebalanced (as run)</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179.2%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$279m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Left to drift (buy &amp; hold)</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160.9%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17.3%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0.88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$261m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02</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The economy we lived through</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Three distinct regimes in six years — and an honest mark-to-market of the scenarios we published in January 2016</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Six years, seven turning points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events that shaped the fund, plotted against the wealth they created or destroyed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2_growth_events.png"/>
          <p:cNvPicPr>
            <a:picLocks noChangeAspect="1"/>
          </p:cNvPicPr>
          <p:nvPr/>
        </p:nvPicPr>
        <p:blipFill>
          <a:blip r:embed="rId2"/>
          <a:stretch>
            <a:fillRect/>
          </a:stretch>
        </p:blipFill>
        <p:spPr>
          <a:xfrm>
            <a:off x="2191359" y="1536192"/>
            <a:ext cx="8558784" cy="460857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macro backdrop, regime by regime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How the state of the economy translated into the portfolio's returns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45920"/>
            <a:ext cx="5035143"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773936"/>
            <a:ext cx="3657600" cy="292608"/>
          </a:xfrm>
          <a:prstGeom prst="rect">
            <a:avLst/>
          </a:prstGeom>
          <a:noFill/>
        </p:spPr>
        <p:txBody>
          <a:bodyPr wrap="square" lIns="0" rIns="0" tIns="0" bIns="0" anchor="t">
            <a:spAutoFit/>
          </a:bodyPr>
          <a:lstStyle/>
          <a:p>
            <a:pPr algn="l">
              <a:lnSpc>
                <a:spcPct val="105000"/>
              </a:lnSpc>
            </a:pPr>
            <a:r>
              <a:rPr sz="1900" b="0" i="0">
                <a:solidFill>
                  <a:srgbClr val="16130F"/>
                </a:solidFill>
                <a:latin typeface="Georgia"/>
              </a:rPr>
              <a:t>2017 – 2019</a:t>
            </a:r>
          </a:p>
        </p:txBody>
      </p:sp>
      <p:sp>
        <p:nvSpPr>
          <p:cNvPr id="13" name="TextBox 12"/>
          <p:cNvSpPr txBox="1"/>
          <p:nvPr/>
        </p:nvSpPr>
        <p:spPr>
          <a:xfrm>
            <a:off x="1298448" y="2103120"/>
            <a:ext cx="4852263" cy="237744"/>
          </a:xfrm>
          <a:prstGeom prst="rect">
            <a:avLst/>
          </a:prstGeom>
          <a:noFill/>
        </p:spPr>
        <p:txBody>
          <a:bodyPr wrap="square" lIns="0" rIns="0" tIns="0" bIns="0" anchor="t">
            <a:spAutoFit/>
          </a:bodyPr>
          <a:lstStyle/>
          <a:p>
            <a:pPr algn="l">
              <a:lnSpc>
                <a:spcPct val="105000"/>
              </a:lnSpc>
            </a:pPr>
            <a:r>
              <a:rPr sz="850" b="1" i="0" spc="130">
                <a:solidFill>
                  <a:srgbClr val="8C8478"/>
                </a:solidFill>
                <a:latin typeface="Corbel"/>
              </a:rPr>
              <a:t>SYNCHRONISED GROWTH</a:t>
            </a:r>
          </a:p>
        </p:txBody>
      </p:sp>
      <p:sp>
        <p:nvSpPr>
          <p:cNvPr id="14" name="TextBox 13"/>
          <p:cNvSpPr txBox="1"/>
          <p:nvPr/>
        </p:nvSpPr>
        <p:spPr>
          <a:xfrm>
            <a:off x="1298448" y="2560320"/>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2017: +40.0%  </a:t>
            </a:r>
            <a:r>
              <a:rPr sz="1200">
                <a:solidFill>
                  <a:srgbClr val="16130F"/>
                </a:solidFill>
                <a:latin typeface="Corbel"/>
              </a:rPr>
              <a:t>Synchronised global growth, benign inflation, a gradual Fed. US tax reform cut the corporate rate from 35% to 21%, lifting after-tax earnings across the book.</a:t>
            </a:r>
          </a:p>
        </p:txBody>
      </p:sp>
      <p:sp>
        <p:nvSpPr>
          <p:cNvPr id="15" name="TextBox 14"/>
          <p:cNvSpPr txBox="1"/>
          <p:nvPr/>
        </p:nvSpPr>
        <p:spPr>
          <a:xfrm>
            <a:off x="1298448" y="3499104"/>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2018: +3.7%  </a:t>
            </a:r>
            <a:r>
              <a:rPr sz="1200">
                <a:solidFill>
                  <a:srgbClr val="16130F"/>
                </a:solidFill>
                <a:latin typeface="Corbel"/>
              </a:rPr>
              <a:t>Trade-war escalation and a hawkish Fed produced a violent Q4. We lost 9.6% in October and 9.8% in December — and still finished positive while the S&amp;P fell 4.6%.</a:t>
            </a:r>
          </a:p>
        </p:txBody>
      </p:sp>
      <p:sp>
        <p:nvSpPr>
          <p:cNvPr id="16" name="TextBox 15"/>
          <p:cNvSpPr txBox="1"/>
          <p:nvPr/>
        </p:nvSpPr>
        <p:spPr>
          <a:xfrm>
            <a:off x="1298448" y="4437888"/>
            <a:ext cx="4797399" cy="566928"/>
          </a:xfrm>
          <a:prstGeom prst="rect">
            <a:avLst/>
          </a:prstGeom>
          <a:noFill/>
        </p:spPr>
        <p:txBody>
          <a:bodyPr wrap="square" lIns="0" rIns="0" tIns="0" bIns="0">
            <a:spAutoFit/>
          </a:bodyPr>
          <a:lstStyle/>
          <a:p>
            <a:pPr>
              <a:lnSpc>
                <a:spcPct val="122000"/>
              </a:lnSpc>
            </a:pPr>
            <a:r>
              <a:rPr sz="1200" b="1">
                <a:solidFill>
                  <a:srgbClr val="0D3B38"/>
                </a:solidFill>
                <a:latin typeface="Corbel"/>
              </a:rPr>
              <a:t>2019: +36.6%  </a:t>
            </a:r>
            <a:r>
              <a:rPr sz="1200">
                <a:solidFill>
                  <a:srgbClr val="16130F"/>
                </a:solidFill>
                <a:latin typeface="Corbel"/>
              </a:rPr>
              <a:t>The Fed pivoted to cutting. Multiple expansion did most of the work; cloud and payments earnings kept compounding underneath it.</a:t>
            </a:r>
          </a:p>
        </p:txBody>
      </p:sp>
      <p:sp>
        <p:nvSpPr>
          <p:cNvPr id="17" name="Rectangle 16"/>
          <p:cNvSpPr/>
          <p:nvPr/>
        </p:nvSpPr>
        <p:spPr>
          <a:xfrm>
            <a:off x="6607911" y="1645920"/>
            <a:ext cx="5035143"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7911" y="1773936"/>
            <a:ext cx="3657600" cy="292608"/>
          </a:xfrm>
          <a:prstGeom prst="rect">
            <a:avLst/>
          </a:prstGeom>
          <a:noFill/>
        </p:spPr>
        <p:txBody>
          <a:bodyPr wrap="square" lIns="0" rIns="0" tIns="0" bIns="0" anchor="t">
            <a:spAutoFit/>
          </a:bodyPr>
          <a:lstStyle/>
          <a:p>
            <a:pPr algn="l">
              <a:lnSpc>
                <a:spcPct val="105000"/>
              </a:lnSpc>
            </a:pPr>
            <a:r>
              <a:rPr sz="1900" b="0" i="0">
                <a:solidFill>
                  <a:srgbClr val="16130F"/>
                </a:solidFill>
                <a:latin typeface="Georgia"/>
              </a:rPr>
              <a:t>2020 – 2022</a:t>
            </a:r>
          </a:p>
        </p:txBody>
      </p:sp>
      <p:sp>
        <p:nvSpPr>
          <p:cNvPr id="19" name="TextBox 18"/>
          <p:cNvSpPr txBox="1"/>
          <p:nvPr/>
        </p:nvSpPr>
        <p:spPr>
          <a:xfrm>
            <a:off x="6607911" y="2103120"/>
            <a:ext cx="4852263" cy="237744"/>
          </a:xfrm>
          <a:prstGeom prst="rect">
            <a:avLst/>
          </a:prstGeom>
          <a:noFill/>
        </p:spPr>
        <p:txBody>
          <a:bodyPr wrap="square" lIns="0" rIns="0" tIns="0" bIns="0" anchor="t">
            <a:spAutoFit/>
          </a:bodyPr>
          <a:lstStyle/>
          <a:p>
            <a:pPr algn="l">
              <a:lnSpc>
                <a:spcPct val="105000"/>
              </a:lnSpc>
            </a:pPr>
            <a:r>
              <a:rPr sz="850" b="1" i="0" spc="130">
                <a:solidFill>
                  <a:srgbClr val="8C8478"/>
                </a:solidFill>
                <a:latin typeface="Corbel"/>
              </a:rPr>
              <a:t>PANDEMIC, STIMULUS, THEN THE RATE SHOCK</a:t>
            </a:r>
          </a:p>
        </p:txBody>
      </p:sp>
      <p:sp>
        <p:nvSpPr>
          <p:cNvPr id="20" name="TextBox 19"/>
          <p:cNvSpPr txBox="1"/>
          <p:nvPr/>
        </p:nvSpPr>
        <p:spPr>
          <a:xfrm>
            <a:off x="6607911" y="2560320"/>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2020: +37.1%  </a:t>
            </a:r>
            <a:r>
              <a:rPr sz="1200">
                <a:solidFill>
                  <a:srgbClr val="16130F"/>
                </a:solidFill>
                <a:latin typeface="Corbel"/>
              </a:rPr>
              <a:t>The COVID crash took 12.6% off the fund in two months. Then the pandemic became the single largest accelerant our thesis ever received: remote work, e-commerce and cloud migration pulled forward by years.</a:t>
            </a:r>
          </a:p>
        </p:txBody>
      </p:sp>
      <p:sp>
        <p:nvSpPr>
          <p:cNvPr id="21" name="TextBox 20"/>
          <p:cNvSpPr txBox="1"/>
          <p:nvPr/>
        </p:nvSpPr>
        <p:spPr>
          <a:xfrm>
            <a:off x="6607911" y="3499104"/>
            <a:ext cx="4797399" cy="566928"/>
          </a:xfrm>
          <a:prstGeom prst="rect">
            <a:avLst/>
          </a:prstGeom>
          <a:noFill/>
        </p:spPr>
        <p:txBody>
          <a:bodyPr wrap="square" lIns="0" rIns="0" tIns="0" bIns="0">
            <a:spAutoFit/>
          </a:bodyPr>
          <a:lstStyle/>
          <a:p>
            <a:pPr>
              <a:lnSpc>
                <a:spcPct val="122000"/>
              </a:lnSpc>
            </a:pPr>
            <a:r>
              <a:rPr sz="1200" b="1">
                <a:solidFill>
                  <a:srgbClr val="0D3B38"/>
                </a:solidFill>
                <a:latin typeface="Corbel"/>
              </a:rPr>
              <a:t>2021: +32.5%  </a:t>
            </a:r>
            <a:r>
              <a:rPr sz="1200">
                <a:solidFill>
                  <a:srgbClr val="16130F"/>
                </a:solidFill>
                <a:latin typeface="Corbel"/>
              </a:rPr>
              <a:t>Reopening, record stimulus and peak growth valuations. Our thesis was consensus by now — which is usually the warning sign, and it was.</a:t>
            </a:r>
          </a:p>
        </p:txBody>
      </p:sp>
      <p:sp>
        <p:nvSpPr>
          <p:cNvPr id="22" name="TextBox 21"/>
          <p:cNvSpPr txBox="1"/>
          <p:nvPr/>
        </p:nvSpPr>
        <p:spPr>
          <a:xfrm>
            <a:off x="6607911" y="4248912"/>
            <a:ext cx="4797399" cy="944880"/>
          </a:xfrm>
          <a:prstGeom prst="rect">
            <a:avLst/>
          </a:prstGeom>
          <a:noFill/>
        </p:spPr>
        <p:txBody>
          <a:bodyPr wrap="square" lIns="0" rIns="0" tIns="0" bIns="0">
            <a:spAutoFit/>
          </a:bodyPr>
          <a:lstStyle/>
          <a:p>
            <a:pPr>
              <a:lnSpc>
                <a:spcPct val="122000"/>
              </a:lnSpc>
            </a:pPr>
            <a:r>
              <a:rPr sz="1200" b="1">
                <a:solidFill>
                  <a:srgbClr val="0D3B38"/>
                </a:solidFill>
                <a:latin typeface="Corbel"/>
              </a:rPr>
              <a:t>2022: −22.5%  </a:t>
            </a:r>
            <a:r>
              <a:rPr sz="1200">
                <a:solidFill>
                  <a:srgbClr val="16130F"/>
                </a:solidFill>
                <a:latin typeface="Corbel"/>
              </a:rPr>
              <a:t>The sharpest tightening cycle since 1981. CPI peaked at 9.1%; the Fed raised 425bp. Long-duration growth equity de-rated hardest. Our energy and materials ballast is why we fell 10 points less than the NASDAQ-100.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Marking our 2016 scenarios to market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We were right about direction in five of six years, and consistently too conservative about magnitude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5_scenario.png"/>
          <p:cNvPicPr>
            <a:picLocks noChangeAspect="1"/>
          </p:cNvPicPr>
          <p:nvPr/>
        </p:nvPicPr>
        <p:blipFill>
          <a:blip r:embed="rId2"/>
          <a:stretch>
            <a:fillRect/>
          </a:stretch>
        </p:blipFill>
        <p:spPr>
          <a:xfrm>
            <a:off x="2097473" y="1517904"/>
            <a:ext cx="8746557" cy="3456431"/>
          </a:xfrm>
          <a:prstGeom prst="rect">
            <a:avLst/>
          </a:prstGeom>
        </p:spPr>
      </p:pic>
      <p:graphicFrame>
        <p:nvGraphicFramePr>
          <p:cNvPr id="12" name="Table 11"/>
          <p:cNvGraphicFramePr>
            <a:graphicFrameLocks noGrp="1"/>
          </p:cNvGraphicFramePr>
          <p:nvPr/>
        </p:nvGraphicFramePr>
        <p:xfrm>
          <a:off x="1298448" y="5102352"/>
          <a:ext cx="10344604" cy="1097280"/>
        </p:xfrm>
        <a:graphic>
          <a:graphicData uri="http://schemas.openxmlformats.org/drawingml/2006/table">
            <a:tbl>
              <a:tblPr>
                <a:tableStyleId>{5C22544A-7EE6-4342-B048-85BDC9FD1C3A}</a:tableStyleId>
              </a:tblPr>
              <a:tblGrid>
                <a:gridCol w="2793043"/>
                <a:gridCol w="1551691"/>
                <a:gridCol w="1344798"/>
                <a:gridCol w="2379259"/>
                <a:gridCol w="2275813"/>
              </a:tblGrid>
              <a:tr h="274320">
                <a:tc>
                  <a:txBody>
                    <a:bodyPr wrap="square"/>
                    <a:lstStyle/>
                    <a:p>
                      <a:pPr algn="l"/>
                      <a:r>
                        <a:rPr sz="900" b="1" spc="130">
                          <a:solidFill>
                            <a:srgbClr val="4A443C"/>
                          </a:solidFill>
                          <a:latin typeface="Corbel"/>
                        </a:rPr>
                        <a:t>SCENARIO (AS PUBLISHED, JAN 2016)</a:t>
                      </a:r>
                    </a:p>
                  </a:txBody>
                  <a:tcPr marL="18288" marR="91440" marT="27432" marB="27432" anchor="ctr">
                    <a:noFill/>
                    <a:lnB w="6350" cap="flat">
                      <a:solidFill>
                        <a:srgbClr val="16130F"/>
                      </a:solidFill>
                    </a:lnB>
                  </a:tcPr>
                </a:tc>
                <a:tc>
                  <a:txBody>
                    <a:bodyPr wrap="square"/>
                    <a:lstStyle/>
                    <a:p>
                      <a:pPr algn="ctr"/>
                      <a:r>
                        <a:rPr sz="900" b="1" spc="130">
                          <a:solidFill>
                            <a:srgbClr val="4A443C"/>
                          </a:solidFill>
                          <a:latin typeface="Corbel"/>
                        </a:rPr>
                        <a:t>ASSIGNED PROBABILITY</a:t>
                      </a:r>
                    </a:p>
                  </a:txBody>
                  <a:tcPr marL="91440" marR="91440" marT="27432" marB="27432" anchor="ctr">
                    <a:noFill/>
                    <a:lnB w="6350" cap="flat">
                      <a:solidFill>
                        <a:srgbClr val="16130F"/>
                      </a:solidFill>
                    </a:lnB>
                  </a:tcPr>
                </a:tc>
                <a:tc>
                  <a:txBody>
                    <a:bodyPr wrap="square"/>
                    <a:lstStyle/>
                    <a:p>
                      <a:pPr algn="ctr"/>
                      <a:r>
                        <a:rPr sz="900" b="1" spc="130">
                          <a:solidFill>
                            <a:srgbClr val="4A443C"/>
                          </a:solidFill>
                          <a:latin typeface="Corbel"/>
                        </a:rPr>
                        <a:t>ASSUMED RETURN P.A.</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YEARS IT ACTUALLY DESCRIBED</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VERDICT</a:t>
                      </a:r>
                    </a:p>
                  </a:txBody>
                  <a:tcPr marL="91440" marR="91440" marT="27432" marB="27432" anchor="ctr">
                    <a:noFill/>
                    <a:lnB w="6350" cap="flat">
                      <a:solidFill>
                        <a:srgbClr val="16130F"/>
                      </a:solidFill>
                    </a:lnB>
                  </a:tcPr>
                </a:tc>
              </a:tr>
              <a:tr h="274320">
                <a:tc>
                  <a:txBody>
                    <a:bodyPr wrap="square"/>
                    <a:lstStyle/>
                    <a:p>
                      <a:pPr algn="l"/>
                      <a:r>
                        <a:rPr sz="1050" b="1">
                          <a:solidFill>
                            <a:srgbClr val="16130F"/>
                          </a:solidFill>
                          <a:latin typeface="Corbel"/>
                        </a:rPr>
                        <a:t>A — Growth &amp; digital acceleration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50% ST / 40%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+18%</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2017, 2018, 2020, 2021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Occurred in 4 of 6 years</a:t>
                      </a:r>
                    </a:p>
                  </a:txBody>
                  <a:tcPr marL="91440" marR="91440" marT="27432" marB="27432" anchor="ctr">
                    <a:noFill/>
                    <a:lnT w="3175" cap="flat">
                      <a:solidFill>
                        <a:srgbClr val="E2DCCF"/>
                      </a:solidFill>
                    </a:lnT>
                  </a:tcPr>
                </a:tc>
              </a:tr>
              <a:tr h="274320">
                <a:tc>
                  <a:txBody>
                    <a:bodyPr wrap="square"/>
                    <a:lstStyle/>
                    <a:p>
                      <a:pPr algn="l"/>
                      <a:r>
                        <a:rPr sz="1050" b="1">
                          <a:solidFill>
                            <a:srgbClr val="16130F"/>
                          </a:solidFill>
                          <a:latin typeface="Corbel"/>
                        </a:rPr>
                        <a:t>B — Stagnation / low-growth grind</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30% ST / 30%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2019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Understated: we returned 36.6%</a:t>
                      </a:r>
                    </a:p>
                  </a:txBody>
                  <a:tcPr marL="91440" marR="91440" marT="27432" marB="27432" anchor="ctr">
                    <a:noFill/>
                    <a:lnT w="3175" cap="flat">
                      <a:solidFill>
                        <a:srgbClr val="E2DCCF"/>
                      </a:solidFill>
                    </a:lnT>
                  </a:tcPr>
                </a:tc>
              </a:tr>
              <a:tr h="274320">
                <a:tc>
                  <a:txBody>
                    <a:bodyPr wrap="square"/>
                    <a:lstStyle/>
                    <a:p>
                      <a:pPr algn="l"/>
                      <a:r>
                        <a:rPr sz="1050" b="1">
                          <a:solidFill>
                            <a:srgbClr val="16130F"/>
                          </a:solidFill>
                          <a:latin typeface="Corbel"/>
                        </a:rPr>
                        <a:t>C — Recession / risk-off shock</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20% ST / 30%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−4%</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2022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Understated: we lost 22.5%</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03</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What the fund returned</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Wealth created, benchmarked against the indices you are paying us to beat, and stress-tested through the two events that mattered</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 $100m mandate became $279m</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Ahead of the S&amp;P 500 by 89 percentage points, and ahead of our own theme-aligned benchmark by 44</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1_growth.png"/>
          <p:cNvPicPr>
            <a:picLocks noChangeAspect="1"/>
          </p:cNvPicPr>
          <p:nvPr/>
        </p:nvPicPr>
        <p:blipFill>
          <a:blip r:embed="rId2"/>
          <a:stretch>
            <a:fillRect/>
          </a:stretch>
        </p:blipFill>
        <p:spPr>
          <a:xfrm>
            <a:off x="2193930" y="1517904"/>
            <a:ext cx="8553642" cy="3182111"/>
          </a:xfrm>
          <a:prstGeom prst="rect">
            <a:avLst/>
          </a:prstGeom>
        </p:spPr>
      </p:pic>
      <p:graphicFrame>
        <p:nvGraphicFramePr>
          <p:cNvPr id="12" name="Table 11"/>
          <p:cNvGraphicFramePr>
            <a:graphicFrameLocks noGrp="1"/>
          </p:cNvGraphicFramePr>
          <p:nvPr/>
        </p:nvGraphicFramePr>
        <p:xfrm>
          <a:off x="1298448" y="4828032"/>
          <a:ext cx="10344605" cy="1371600"/>
        </p:xfrm>
        <a:graphic>
          <a:graphicData uri="http://schemas.openxmlformats.org/drawingml/2006/table">
            <a:tbl>
              <a:tblPr>
                <a:tableStyleId>{5C22544A-7EE6-4342-B048-85BDC9FD1C3A}</a:tableStyleId>
              </a:tblPr>
              <a:tblGrid>
                <a:gridCol w="3517166"/>
                <a:gridCol w="1551691"/>
                <a:gridCol w="1241352"/>
                <a:gridCol w="2172367"/>
                <a:gridCol w="1862029"/>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CUMULATIVE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TERMINAL VALUE ON $100M</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VALUE ADDED VS NDIF</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Northpoint Digital Innovation Fund</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179.2%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$279.2m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 (primary benchmark)</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134.7%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$234.7m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+$44.4m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 (secondary benchmark)</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90.0%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$190.0m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+$89.2m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60/40 stock/bond portfolio</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51.9%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$151.9m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+$127.3m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Beat the S&amp;P 500 in five of six years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Including 2018 and 2022, the two years the market fell</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4_annual_bars.png"/>
          <p:cNvPicPr>
            <a:picLocks noChangeAspect="1"/>
          </p:cNvPicPr>
          <p:nvPr/>
        </p:nvPicPr>
        <p:blipFill>
          <a:blip r:embed="rId2"/>
          <a:stretch>
            <a:fillRect/>
          </a:stretch>
        </p:blipFill>
        <p:spPr>
          <a:xfrm>
            <a:off x="2302687" y="1517904"/>
            <a:ext cx="8336128" cy="3182111"/>
          </a:xfrm>
          <a:prstGeom prst="rect">
            <a:avLst/>
          </a:prstGeom>
        </p:spPr>
      </p:pic>
      <p:graphicFrame>
        <p:nvGraphicFramePr>
          <p:cNvPr id="12" name="Table 11"/>
          <p:cNvGraphicFramePr>
            <a:graphicFrameLocks noGrp="1"/>
          </p:cNvGraphicFramePr>
          <p:nvPr/>
        </p:nvGraphicFramePr>
        <p:xfrm>
          <a:off x="1298448" y="4828032"/>
          <a:ext cx="10344602" cy="1371600"/>
        </p:xfrm>
        <a:graphic>
          <a:graphicData uri="http://schemas.openxmlformats.org/drawingml/2006/table">
            <a:tbl>
              <a:tblPr>
                <a:tableStyleId>{5C22544A-7EE6-4342-B048-85BDC9FD1C3A}</a:tableStyleId>
              </a:tblPr>
              <a:tblGrid>
                <a:gridCol w="2477750"/>
                <a:gridCol w="1311142"/>
                <a:gridCol w="1311142"/>
                <a:gridCol w="1311142"/>
                <a:gridCol w="1311142"/>
                <a:gridCol w="1311142"/>
                <a:gridCol w="1311142"/>
              </a:tblGrid>
              <a:tr h="274320">
                <a:tc>
                  <a:txBody>
                    <a:bodyPr wrap="square"/>
                    <a:lstStyle/>
                    <a:p>
                      <a:pPr algn="l"/>
                      <a:r>
                        <a:rPr sz="950" b="1" spc="130">
                          <a:solidFill>
                            <a:srgbClr val="4A443C"/>
                          </a:solidFill>
                          <a:latin typeface="Corbel"/>
                        </a:rPr>
                        <a:t>CALENDAR YEAR</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2017</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2018</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2019</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2020</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2021</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2022</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40.0%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36.6%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37.1%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32.5%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-22.5%</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32.7%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39.0%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48.4%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-32.6%</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21.7%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31.2%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-18.2%</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NDIF vs 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+8.2%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+5.4%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-4.4%</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value-add compounded quietly, then paid off</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Cumulative performance relative to both benchmarks, rebased to zero at inception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3_relative.png"/>
          <p:cNvPicPr>
            <a:picLocks noChangeAspect="1"/>
          </p:cNvPicPr>
          <p:nvPr/>
        </p:nvPicPr>
        <p:blipFill>
          <a:blip r:embed="rId2"/>
          <a:stretch>
            <a:fillRect/>
          </a:stretch>
        </p:blipFill>
        <p:spPr>
          <a:xfrm>
            <a:off x="2117023" y="1517904"/>
            <a:ext cx="8707457" cy="4069079"/>
          </a:xfrm>
          <a:prstGeom prst="rect">
            <a:avLst/>
          </a:prstGeom>
        </p:spPr>
      </p:pic>
      <p:sp>
        <p:nvSpPr>
          <p:cNvPr id="12" name="TextBox 11"/>
          <p:cNvSpPr txBox="1"/>
          <p:nvPr/>
        </p:nvSpPr>
        <p:spPr>
          <a:xfrm>
            <a:off x="1298448" y="5696712"/>
            <a:ext cx="10344607" cy="457200"/>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Read this as the wealth ratio between the fund and each benchmark. A rising line means the fund is pulling ahead. Note that most of the outperformance versus the NASDAQ-100 was created after November 2021 — that is, on the way down, not on the way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fund fell less than its own benchmark</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Maximum drawdown of −24.9% against the NASDAQ-100's −32.6%</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3_drawdown.png"/>
          <p:cNvPicPr>
            <a:picLocks noChangeAspect="1"/>
          </p:cNvPicPr>
          <p:nvPr/>
        </p:nvPicPr>
        <p:blipFill>
          <a:blip r:embed="rId2"/>
          <a:stretch>
            <a:fillRect/>
          </a:stretch>
        </p:blipFill>
        <p:spPr>
          <a:xfrm>
            <a:off x="1416093" y="1517904"/>
            <a:ext cx="10109317" cy="3456431"/>
          </a:xfrm>
          <a:prstGeom prst="rect">
            <a:avLst/>
          </a:prstGeom>
        </p:spPr>
      </p:pic>
      <p:graphicFrame>
        <p:nvGraphicFramePr>
          <p:cNvPr id="12" name="Table 11"/>
          <p:cNvGraphicFramePr>
            <a:graphicFrameLocks noGrp="1"/>
          </p:cNvGraphicFramePr>
          <p:nvPr/>
        </p:nvGraphicFramePr>
        <p:xfrm>
          <a:off x="1298448" y="5102352"/>
          <a:ext cx="10344606" cy="1097280"/>
        </p:xfrm>
        <a:graphic>
          <a:graphicData uri="http://schemas.openxmlformats.org/drawingml/2006/table">
            <a:tbl>
              <a:tblPr>
                <a:tableStyleId>{5C22544A-7EE6-4342-B048-85BDC9FD1C3A}</a:tableStyleId>
              </a:tblPr>
              <a:tblGrid>
                <a:gridCol w="1862029"/>
                <a:gridCol w="1862029"/>
                <a:gridCol w="1551691"/>
                <a:gridCol w="1551691"/>
                <a:gridCol w="1655137"/>
                <a:gridCol w="1862029"/>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MAXIMUM DRAWDOWN</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PEAK MONTH</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TROUGH MONTH</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CALMAR RATIO</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DOWNSIDE DEVIATION</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Nov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Sep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11.9%</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-32.6%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Nov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Dec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12.9%</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-23.9%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Dec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Sep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11.3%</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Stress test one: COVID-19</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Scenario C arrived in March 2020. The fund lost 12.6% in two months and had recovered it within eight weeks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8_covid.png"/>
          <p:cNvPicPr>
            <a:picLocks noChangeAspect="1"/>
          </p:cNvPicPr>
          <p:nvPr/>
        </p:nvPicPr>
        <p:blipFill>
          <a:blip r:embed="rId2"/>
          <a:stretch>
            <a:fillRect/>
          </a:stretch>
        </p:blipFill>
        <p:spPr>
          <a:xfrm>
            <a:off x="2258660" y="1517904"/>
            <a:ext cx="8424182" cy="3913631"/>
          </a:xfrm>
          <a:prstGeom prst="rect">
            <a:avLst/>
          </a:prstGeom>
        </p:spPr>
      </p:pic>
      <p:sp>
        <p:nvSpPr>
          <p:cNvPr id="12" name="TextBox 11"/>
          <p:cNvSpPr txBox="1"/>
          <p:nvPr/>
        </p:nvSpPr>
        <p:spPr>
          <a:xfrm>
            <a:off x="1298448" y="5541264"/>
            <a:ext cx="10344607" cy="658368"/>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Our 2016 document had explicitly named “a systemic disruption such as a global pandemic” as a Scenario C trigger and assigned it a 20% probability. The thesis assumption that held up: cloud migration, e-commerce and payment digitisation are cost-saving, so they continue — and in fact accelerate — through a recession.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Stress test two: the 2022 rate shock</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Down 22.5% against a NASDAQ-100 down 32.6%, and the ballast is the entire reason why</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4_2022.png"/>
          <p:cNvPicPr>
            <a:picLocks noChangeAspect="1"/>
          </p:cNvPicPr>
          <p:nvPr/>
        </p:nvPicPr>
        <p:blipFill>
          <a:blip r:embed="rId2"/>
          <a:stretch>
            <a:fillRect/>
          </a:stretch>
        </p:blipFill>
        <p:spPr>
          <a:xfrm>
            <a:off x="2260311" y="1517904"/>
            <a:ext cx="8420880" cy="3913631"/>
          </a:xfrm>
          <a:prstGeom prst="rect">
            <a:avLst/>
          </a:prstGeom>
        </p:spPr>
      </p:pic>
      <p:sp>
        <p:nvSpPr>
          <p:cNvPr id="12" name="TextBox 11"/>
          <p:cNvSpPr txBox="1"/>
          <p:nvPr/>
        </p:nvSpPr>
        <p:spPr>
          <a:xfrm>
            <a:off x="1298448" y="5541264"/>
            <a:ext cx="10344607" cy="658368"/>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Schlumberger — the fund's worst holding over the full six years at −23.5% — returned +81.2% in 2022. Albemarle lost only 6.6% and NextEra 8.5%. Without the 5% energy floor and the 24% ballast tier, the fund's 2022 loss would have been close to the NASDAQ-100's. This is what a sector floor is for.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04</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How much risk we took</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The full distribution of 72 monthly returns, the risk-adjusted measures, tail risk, and where in the calendar the money was made</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shape of our returns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Close to normal, with a mild left tail. 72 monthly observations, Jan 2017 to Dec 2022</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5_histogram.png"/>
          <p:cNvPicPr>
            <a:picLocks noChangeAspect="1"/>
          </p:cNvPicPr>
          <p:nvPr/>
        </p:nvPicPr>
        <p:blipFill>
          <a:blip r:embed="rId2"/>
          <a:stretch>
            <a:fillRect/>
          </a:stretch>
        </p:blipFill>
        <p:spPr>
          <a:xfrm>
            <a:off x="1298448" y="2137160"/>
            <a:ext cx="6361933" cy="3150607"/>
          </a:xfrm>
          <a:prstGeom prst="rect">
            <a:avLst/>
          </a:prstGeom>
        </p:spPr>
      </p:pic>
      <p:sp>
        <p:nvSpPr>
          <p:cNvPr id="12" name="Rectangle 11"/>
          <p:cNvSpPr/>
          <p:nvPr/>
        </p:nvSpPr>
        <p:spPr>
          <a:xfrm>
            <a:off x="7934701" y="1700784"/>
            <a:ext cx="370835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4701"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DISTRIBUTIONAL STATISTICS</a:t>
            </a:r>
          </a:p>
        </p:txBody>
      </p:sp>
      <p:sp>
        <p:nvSpPr>
          <p:cNvPr id="14" name="TextBox 13"/>
          <p:cNvSpPr txBox="1"/>
          <p:nvPr/>
        </p:nvSpPr>
        <p:spPr>
          <a:xfrm>
            <a:off x="7934701" y="2231136"/>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Mean monthly return</a:t>
            </a:r>
          </a:p>
        </p:txBody>
      </p:sp>
      <p:sp>
        <p:nvSpPr>
          <p:cNvPr id="15" name="TextBox 14"/>
          <p:cNvSpPr txBox="1"/>
          <p:nvPr/>
        </p:nvSpPr>
        <p:spPr>
          <a:xfrm>
            <a:off x="7934701" y="2231136"/>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1.59%</a:t>
            </a:r>
          </a:p>
        </p:txBody>
      </p:sp>
      <p:sp>
        <p:nvSpPr>
          <p:cNvPr id="16" name="Rectangle 15"/>
          <p:cNvSpPr/>
          <p:nvPr/>
        </p:nvSpPr>
        <p:spPr>
          <a:xfrm>
            <a:off x="7934701" y="2478024"/>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2555748"/>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Median monthly return</a:t>
            </a:r>
          </a:p>
        </p:txBody>
      </p:sp>
      <p:sp>
        <p:nvSpPr>
          <p:cNvPr id="18" name="TextBox 17"/>
          <p:cNvSpPr txBox="1"/>
          <p:nvPr/>
        </p:nvSpPr>
        <p:spPr>
          <a:xfrm>
            <a:off x="7934701" y="2555748"/>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2.73%</a:t>
            </a:r>
          </a:p>
        </p:txBody>
      </p:sp>
      <p:sp>
        <p:nvSpPr>
          <p:cNvPr id="19" name="Rectangle 18"/>
          <p:cNvSpPr/>
          <p:nvPr/>
        </p:nvSpPr>
        <p:spPr>
          <a:xfrm>
            <a:off x="7934701" y="2802636"/>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4701" y="2880360"/>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Standard deviation (monthly)</a:t>
            </a:r>
          </a:p>
        </p:txBody>
      </p:sp>
      <p:sp>
        <p:nvSpPr>
          <p:cNvPr id="21" name="TextBox 20"/>
          <p:cNvSpPr txBox="1"/>
          <p:nvPr/>
        </p:nvSpPr>
        <p:spPr>
          <a:xfrm>
            <a:off x="7934701" y="2880360"/>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5.50%</a:t>
            </a:r>
          </a:p>
        </p:txBody>
      </p:sp>
      <p:sp>
        <p:nvSpPr>
          <p:cNvPr id="22" name="Rectangle 21"/>
          <p:cNvSpPr/>
          <p:nvPr/>
        </p:nvSpPr>
        <p:spPr>
          <a:xfrm>
            <a:off x="7934701" y="3127248"/>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4701" y="3204972"/>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Annualised volatility</a:t>
            </a:r>
          </a:p>
        </p:txBody>
      </p:sp>
      <p:sp>
        <p:nvSpPr>
          <p:cNvPr id="24" name="TextBox 23"/>
          <p:cNvSpPr txBox="1"/>
          <p:nvPr/>
        </p:nvSpPr>
        <p:spPr>
          <a:xfrm>
            <a:off x="7934701" y="3204972"/>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19.06%</a:t>
            </a:r>
          </a:p>
        </p:txBody>
      </p:sp>
      <p:sp>
        <p:nvSpPr>
          <p:cNvPr id="25" name="Rectangle 24"/>
          <p:cNvSpPr/>
          <p:nvPr/>
        </p:nvSpPr>
        <p:spPr>
          <a:xfrm>
            <a:off x="7934701" y="3451860"/>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34701" y="3529584"/>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Skewness</a:t>
            </a:r>
          </a:p>
        </p:txBody>
      </p:sp>
      <p:sp>
        <p:nvSpPr>
          <p:cNvPr id="27" name="TextBox 26"/>
          <p:cNvSpPr txBox="1"/>
          <p:nvPr/>
        </p:nvSpPr>
        <p:spPr>
          <a:xfrm>
            <a:off x="7934701" y="3529584"/>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-0.472</a:t>
            </a:r>
          </a:p>
        </p:txBody>
      </p:sp>
      <p:sp>
        <p:nvSpPr>
          <p:cNvPr id="28" name="Rectangle 27"/>
          <p:cNvSpPr/>
          <p:nvPr/>
        </p:nvSpPr>
        <p:spPr>
          <a:xfrm>
            <a:off x="7934701" y="377647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34701" y="3854196"/>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Excess kurtosis</a:t>
            </a:r>
          </a:p>
        </p:txBody>
      </p:sp>
      <p:sp>
        <p:nvSpPr>
          <p:cNvPr id="30" name="TextBox 29"/>
          <p:cNvSpPr txBox="1"/>
          <p:nvPr/>
        </p:nvSpPr>
        <p:spPr>
          <a:xfrm>
            <a:off x="7934701" y="3854196"/>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0.067</a:t>
            </a:r>
          </a:p>
        </p:txBody>
      </p:sp>
      <p:sp>
        <p:nvSpPr>
          <p:cNvPr id="31" name="Rectangle 30"/>
          <p:cNvSpPr/>
          <p:nvPr/>
        </p:nvSpPr>
        <p:spPr>
          <a:xfrm>
            <a:off x="7934701" y="4101084"/>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34701" y="4178808"/>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Jarque–Bera p-value</a:t>
            </a:r>
          </a:p>
        </p:txBody>
      </p:sp>
      <p:sp>
        <p:nvSpPr>
          <p:cNvPr id="33" name="TextBox 32"/>
          <p:cNvSpPr txBox="1"/>
          <p:nvPr/>
        </p:nvSpPr>
        <p:spPr>
          <a:xfrm>
            <a:off x="7934701" y="4178808"/>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0.278</a:t>
            </a:r>
          </a:p>
        </p:txBody>
      </p:sp>
      <p:sp>
        <p:nvSpPr>
          <p:cNvPr id="34" name="Rectangle 33"/>
          <p:cNvSpPr/>
          <p:nvPr/>
        </p:nvSpPr>
        <p:spPr>
          <a:xfrm>
            <a:off x="7934701" y="4425696"/>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34701" y="4503420"/>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Best month (Apr 2020)</a:t>
            </a:r>
          </a:p>
        </p:txBody>
      </p:sp>
      <p:sp>
        <p:nvSpPr>
          <p:cNvPr id="36" name="TextBox 35"/>
          <p:cNvSpPr txBox="1"/>
          <p:nvPr/>
        </p:nvSpPr>
        <p:spPr>
          <a:xfrm>
            <a:off x="7934701" y="4503420"/>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14.5%</a:t>
            </a:r>
          </a:p>
        </p:txBody>
      </p:sp>
      <p:sp>
        <p:nvSpPr>
          <p:cNvPr id="37" name="Rectangle 36"/>
          <p:cNvSpPr/>
          <p:nvPr/>
        </p:nvSpPr>
        <p:spPr>
          <a:xfrm>
            <a:off x="7934701" y="4750308"/>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34701" y="4828032"/>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Worst month (Apr 2022)</a:t>
            </a:r>
          </a:p>
        </p:txBody>
      </p:sp>
      <p:sp>
        <p:nvSpPr>
          <p:cNvPr id="39" name="TextBox 38"/>
          <p:cNvSpPr txBox="1"/>
          <p:nvPr/>
        </p:nvSpPr>
        <p:spPr>
          <a:xfrm>
            <a:off x="7934701" y="4828032"/>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-12.1%</a:t>
            </a:r>
          </a:p>
        </p:txBody>
      </p:sp>
      <p:sp>
        <p:nvSpPr>
          <p:cNvPr id="40" name="Rectangle 39"/>
          <p:cNvSpPr/>
          <p:nvPr/>
        </p:nvSpPr>
        <p:spPr>
          <a:xfrm>
            <a:off x="7934701" y="5074920"/>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34701" y="5152644"/>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Positive months</a:t>
            </a:r>
          </a:p>
        </p:txBody>
      </p:sp>
      <p:sp>
        <p:nvSpPr>
          <p:cNvPr id="42" name="TextBox 41"/>
          <p:cNvSpPr txBox="1"/>
          <p:nvPr/>
        </p:nvSpPr>
        <p:spPr>
          <a:xfrm>
            <a:off x="7934701" y="5152644"/>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50 of 72  (69.4%)</a:t>
            </a:r>
          </a:p>
        </p:txBody>
      </p:sp>
      <p:sp>
        <p:nvSpPr>
          <p:cNvPr id="43" name="Rectangle 42"/>
          <p:cNvSpPr/>
          <p:nvPr/>
        </p:nvSpPr>
        <p:spPr>
          <a:xfrm>
            <a:off x="7934701" y="539953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Risk-adjusted, we beat every comparator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Highest Sharpe, Sortino, Calmar and Treynor, and the highest information ratio</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3" cy="3840480"/>
        </p:xfrm>
        <a:graphic>
          <a:graphicData uri="http://schemas.openxmlformats.org/drawingml/2006/table">
            <a:tbl>
              <a:tblPr>
                <a:tableStyleId>{5C22544A-7EE6-4342-B048-85BDC9FD1C3A}</a:tableStyleId>
              </a:tblPr>
              <a:tblGrid>
                <a:gridCol w="1965475"/>
                <a:gridCol w="931014"/>
                <a:gridCol w="1137906"/>
                <a:gridCol w="931014"/>
                <a:gridCol w="1137906"/>
                <a:gridCol w="827568"/>
                <a:gridCol w="3413720"/>
              </a:tblGrid>
              <a:tr h="384048">
                <a:tc>
                  <a:txBody>
                    <a:bodyPr wrap="square"/>
                    <a:lstStyle/>
                    <a:p>
                      <a:pPr algn="l"/>
                      <a:r>
                        <a:rPr sz="900" b="1" spc="130">
                          <a:solidFill>
                            <a:srgbClr val="4A443C"/>
                          </a:solidFill>
                          <a:latin typeface="Corbel"/>
                        </a:rPr>
                        <a:t>MEASURE</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NDIF</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NASDAQ-100</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S&amp;P 500</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EQUAL WEIGHT</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60/40</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WHAT IT TELLS YOU</a:t>
                      </a:r>
                    </a:p>
                  </a:txBody>
                  <a:tcPr marL="91440" marR="91440" marT="27432" marB="27432" anchor="ctr">
                    <a:noFill/>
                    <a:lnB w="6350" cap="flat">
                      <a:solidFill>
                        <a:srgbClr val="16130F"/>
                      </a:solidFill>
                    </a:lnB>
                  </a:tcPr>
                </a:tc>
              </a:tr>
              <a:tr h="384048">
                <a:tc>
                  <a:txBody>
                    <a:bodyPr wrap="square"/>
                    <a:lstStyle/>
                    <a:p>
                      <a:pPr algn="l"/>
                      <a:r>
                        <a:rPr sz="1050" b="1">
                          <a:solidFill>
                            <a:srgbClr val="16130F"/>
                          </a:solidFill>
                          <a:latin typeface="Corbel"/>
                        </a:rPr>
                        <a:t>Annualised return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Geometric growth rate</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Annualised volatility</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20.2%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Total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Sharpe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0.65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total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Sortino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1.51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0.88</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downside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Treynor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0.173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0.139</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0.111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0.163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0.102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market beta</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Calmar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0.36</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Return per unit of maximum drawdown</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Information ratio (vs S&amp;P)</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-0.72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Active return per unit of tracking error</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Beta (vs S&amp;P 500)</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0.64</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Market sensitivity</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M² (risk-matched return)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17.2%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14.0%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16.5%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Return at benchmark risk</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724144"/>
            <a:ext cx="10344607" cy="457200"/>
          </a:xfrm>
          <a:prstGeom prst="rect">
            <a:avLst/>
          </a:prstGeom>
          <a:noFill/>
        </p:spPr>
        <p:txBody>
          <a:bodyPr wrap="square" lIns="0" rIns="0" tIns="0" bIns="0" anchor="t">
            <a:spAutoFit/>
          </a:bodyPr>
          <a:lstStyle/>
          <a:p>
            <a:pPr algn="l">
              <a:lnSpc>
                <a:spcPct val="120000"/>
              </a:lnSpc>
            </a:pPr>
            <a:r>
              <a:rPr sz="1050" b="0" i="0">
                <a:solidFill>
                  <a:srgbClr val="8C8478"/>
                </a:solidFill>
                <a:latin typeface="Corbel"/>
              </a:rPr>
              <a:t>Risk-free rate is the Fama–French one-month Treasury bill series (mean 1.25% p.a. over the period). All ratios are computed on the same 72 monthly observations and annualised by √12.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Tail risk sits below the NASDAQ-100 on every measure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One-month value-at-risk and expected shortfall from the empirical distribution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2_var.png"/>
          <p:cNvPicPr>
            <a:picLocks noChangeAspect="1"/>
          </p:cNvPicPr>
          <p:nvPr/>
        </p:nvPicPr>
        <p:blipFill>
          <a:blip r:embed="rId2"/>
          <a:stretch>
            <a:fillRect/>
          </a:stretch>
        </p:blipFill>
        <p:spPr>
          <a:xfrm>
            <a:off x="1298448" y="2234679"/>
            <a:ext cx="6361933" cy="2955570"/>
          </a:xfrm>
          <a:prstGeom prst="rect">
            <a:avLst/>
          </a:prstGeom>
        </p:spPr>
      </p:pic>
      <p:sp>
        <p:nvSpPr>
          <p:cNvPr id="12" name="Rectangle 11"/>
          <p:cNvSpPr/>
          <p:nvPr/>
        </p:nvSpPr>
        <p:spPr>
          <a:xfrm>
            <a:off x="7934701" y="1700784"/>
            <a:ext cx="370835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4701"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NDIF TAIL MEASURES</a:t>
            </a:r>
          </a:p>
        </p:txBody>
      </p:sp>
      <p:sp>
        <p:nvSpPr>
          <p:cNvPr id="14" name="TextBox 13"/>
          <p:cNvSpPr txBox="1"/>
          <p:nvPr/>
        </p:nvSpPr>
        <p:spPr>
          <a:xfrm>
            <a:off x="7934701" y="22860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(historical)</a:t>
            </a:r>
          </a:p>
        </p:txBody>
      </p:sp>
      <p:sp>
        <p:nvSpPr>
          <p:cNvPr id="15" name="TextBox 14"/>
          <p:cNvSpPr txBox="1"/>
          <p:nvPr/>
        </p:nvSpPr>
        <p:spPr>
          <a:xfrm>
            <a:off x="7934701" y="22860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-8.82%</a:t>
            </a:r>
          </a:p>
        </p:txBody>
      </p:sp>
      <p:sp>
        <p:nvSpPr>
          <p:cNvPr id="16" name="Rectangle 15"/>
          <p:cNvSpPr/>
          <p:nvPr/>
        </p:nvSpPr>
        <p:spPr>
          <a:xfrm>
            <a:off x="7934701" y="25877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27432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(parametric normal)</a:t>
            </a:r>
          </a:p>
        </p:txBody>
      </p:sp>
      <p:sp>
        <p:nvSpPr>
          <p:cNvPr id="18" name="TextBox 17"/>
          <p:cNvSpPr txBox="1"/>
          <p:nvPr/>
        </p:nvSpPr>
        <p:spPr>
          <a:xfrm>
            <a:off x="7934701" y="27432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-7.46%</a:t>
            </a:r>
          </a:p>
        </p:txBody>
      </p:sp>
      <p:sp>
        <p:nvSpPr>
          <p:cNvPr id="19" name="Rectangle 18"/>
          <p:cNvSpPr/>
          <p:nvPr/>
        </p:nvSpPr>
        <p:spPr>
          <a:xfrm>
            <a:off x="7934701" y="30449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4701" y="32004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(Cornish–Fisher)</a:t>
            </a:r>
          </a:p>
        </p:txBody>
      </p:sp>
      <p:sp>
        <p:nvSpPr>
          <p:cNvPr id="21" name="TextBox 20"/>
          <p:cNvSpPr txBox="1"/>
          <p:nvPr/>
        </p:nvSpPr>
        <p:spPr>
          <a:xfrm>
            <a:off x="7934701" y="32004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-8.17%</a:t>
            </a:r>
          </a:p>
        </p:txBody>
      </p:sp>
      <p:sp>
        <p:nvSpPr>
          <p:cNvPr id="22" name="Rectangle 21"/>
          <p:cNvSpPr/>
          <p:nvPr/>
        </p:nvSpPr>
        <p:spPr>
          <a:xfrm>
            <a:off x="7934701" y="35021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4701" y="36576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CVaR 95% (expected shortfall)</a:t>
            </a:r>
          </a:p>
        </p:txBody>
      </p:sp>
      <p:sp>
        <p:nvSpPr>
          <p:cNvPr id="24" name="TextBox 23"/>
          <p:cNvSpPr txBox="1"/>
          <p:nvPr/>
        </p:nvSpPr>
        <p:spPr>
          <a:xfrm>
            <a:off x="7934701" y="36576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-10.23%</a:t>
            </a:r>
          </a:p>
        </p:txBody>
      </p:sp>
      <p:sp>
        <p:nvSpPr>
          <p:cNvPr id="25" name="Rectangle 24"/>
          <p:cNvSpPr/>
          <p:nvPr/>
        </p:nvSpPr>
        <p:spPr>
          <a:xfrm>
            <a:off x="7934701" y="39593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34701" y="41148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99% (historical)</a:t>
            </a:r>
          </a:p>
        </p:txBody>
      </p:sp>
      <p:sp>
        <p:nvSpPr>
          <p:cNvPr id="27" name="TextBox 26"/>
          <p:cNvSpPr txBox="1"/>
          <p:nvPr/>
        </p:nvSpPr>
        <p:spPr>
          <a:xfrm>
            <a:off x="7934701" y="41148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-10.48%</a:t>
            </a:r>
          </a:p>
        </p:txBody>
      </p:sp>
      <p:sp>
        <p:nvSpPr>
          <p:cNvPr id="28" name="Rectangle 27"/>
          <p:cNvSpPr/>
          <p:nvPr/>
        </p:nvSpPr>
        <p:spPr>
          <a:xfrm>
            <a:off x="7934701" y="44165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34701" y="45720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CVaR 99% (expected shortfall)</a:t>
            </a:r>
          </a:p>
        </p:txBody>
      </p:sp>
      <p:sp>
        <p:nvSpPr>
          <p:cNvPr id="30" name="TextBox 29"/>
          <p:cNvSpPr txBox="1"/>
          <p:nvPr/>
        </p:nvSpPr>
        <p:spPr>
          <a:xfrm>
            <a:off x="7934701" y="45720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-12.14%</a:t>
            </a:r>
          </a:p>
        </p:txBody>
      </p:sp>
      <p:sp>
        <p:nvSpPr>
          <p:cNvPr id="31" name="Rectangle 30"/>
          <p:cNvSpPr/>
          <p:nvPr/>
        </p:nvSpPr>
        <p:spPr>
          <a:xfrm>
            <a:off x="7934701" y="48737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34701" y="50292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On $279m, a 95% VaR month is</a:t>
            </a:r>
          </a:p>
        </p:txBody>
      </p:sp>
      <p:sp>
        <p:nvSpPr>
          <p:cNvPr id="33" name="TextBox 32"/>
          <p:cNvSpPr txBox="1"/>
          <p:nvPr/>
        </p:nvSpPr>
        <p:spPr>
          <a:xfrm>
            <a:off x="7934701" y="50292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−$24.6m</a:t>
            </a:r>
          </a:p>
        </p:txBody>
      </p:sp>
      <p:sp>
        <p:nvSpPr>
          <p:cNvPr id="34" name="Rectangle 33"/>
          <p:cNvSpPr/>
          <p:nvPr/>
        </p:nvSpPr>
        <p:spPr>
          <a:xfrm>
            <a:off x="7934701" y="53309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Where in the calendar the money was made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Seasonality across 72 months. Six observations per calendar month, so read this as description rather than a tradeable signal</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0_seasonality.png"/>
          <p:cNvPicPr>
            <a:picLocks noChangeAspect="1"/>
          </p:cNvPicPr>
          <p:nvPr/>
        </p:nvPicPr>
        <p:blipFill>
          <a:blip r:embed="rId2"/>
          <a:stretch>
            <a:fillRect/>
          </a:stretch>
        </p:blipFill>
        <p:spPr>
          <a:xfrm>
            <a:off x="2630136" y="1517904"/>
            <a:ext cx="7681230" cy="3035807"/>
          </a:xfrm>
          <a:prstGeom prst="rect">
            <a:avLst/>
          </a:prstGeom>
        </p:spPr>
      </p:pic>
      <p:sp>
        <p:nvSpPr>
          <p:cNvPr id="12" name="Rectangle 11"/>
          <p:cNvSpPr/>
          <p:nvPr/>
        </p:nvSpPr>
        <p:spPr>
          <a:xfrm>
            <a:off x="1298448" y="4718304"/>
            <a:ext cx="3277514" cy="20116"/>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July  +5.8%</a:t>
            </a:r>
          </a:p>
        </p:txBody>
      </p:sp>
      <p:sp>
        <p:nvSpPr>
          <p:cNvPr id="14" name="TextBox 13"/>
          <p:cNvSpPr txBox="1"/>
          <p:nvPr/>
        </p:nvSpPr>
        <p:spPr>
          <a:xfrm>
            <a:off x="1298448"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The strongest month, on the back of six positive Julys out of six — including +13.1% in July 2022 during the bear-market rally.</a:t>
            </a:r>
          </a:p>
        </p:txBody>
      </p:sp>
      <p:sp>
        <p:nvSpPr>
          <p:cNvPr id="15" name="Rectangle 14"/>
          <p:cNvSpPr/>
          <p:nvPr/>
        </p:nvSpPr>
        <p:spPr>
          <a:xfrm>
            <a:off x="4831994" y="4718304"/>
            <a:ext cx="3277514" cy="20116"/>
          </a:xfrm>
          <a:prstGeom prst="rect">
            <a:avLst/>
          </a:prstGeom>
          <a:solidFill>
            <a:srgbClr val="8F2F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1994"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September  −2.8%</a:t>
            </a:r>
          </a:p>
        </p:txBody>
      </p:sp>
      <p:sp>
        <p:nvSpPr>
          <p:cNvPr id="17" name="TextBox 16"/>
          <p:cNvSpPr txBox="1"/>
          <p:nvPr/>
        </p:nvSpPr>
        <p:spPr>
          <a:xfrm>
            <a:off x="4831994"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The weakest month. Negative in three of six years, but heavily so: September 2022 alone cost 9.3%.</a:t>
            </a:r>
          </a:p>
        </p:txBody>
      </p:sp>
      <p:sp>
        <p:nvSpPr>
          <p:cNvPr id="18" name="Rectangle 17"/>
          <p:cNvSpPr/>
          <p:nvPr/>
        </p:nvSpPr>
        <p:spPr>
          <a:xfrm>
            <a:off x="8365540" y="4718304"/>
            <a:ext cx="327751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5540"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The extremes cluster</a:t>
            </a:r>
          </a:p>
        </p:txBody>
      </p:sp>
      <p:sp>
        <p:nvSpPr>
          <p:cNvPr id="20" name="TextBox 19"/>
          <p:cNvSpPr txBox="1"/>
          <p:nvPr/>
        </p:nvSpPr>
        <p:spPr>
          <a:xfrm>
            <a:off x="8365540"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April 2020 was the best month on record at +14.5%; April 2022 the worst at −12.1%. Both sit inside the same two-year window.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05</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Was it skill?</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Jensen's alpha, factor models, performance attribution, and what a mean-variance optimiser would have done with the same eleven stocks</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Jensen's alpha: significant on every model we ran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Excess return regressed on risk factors. 72 monthly observations, Newey–West standard errors with four lags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37360"/>
          <a:ext cx="10344602" cy="2633472"/>
        </p:xfrm>
        <a:graphic>
          <a:graphicData uri="http://schemas.openxmlformats.org/drawingml/2006/table">
            <a:tbl>
              <a:tblPr>
                <a:tableStyleId>{5C22544A-7EE6-4342-B048-85BDC9FD1C3A}</a:tableStyleId>
              </a:tblPr>
              <a:tblGrid>
                <a:gridCol w="2172367"/>
                <a:gridCol w="1344798"/>
                <a:gridCol w="1034460"/>
                <a:gridCol w="931014"/>
                <a:gridCol w="1034460"/>
                <a:gridCol w="1034460"/>
                <a:gridCol w="2793043"/>
              </a:tblGrid>
              <a:tr h="438912">
                <a:tc>
                  <a:txBody>
                    <a:bodyPr wrap="square"/>
                    <a:lstStyle/>
                    <a:p>
                      <a:pPr algn="l"/>
                      <a:r>
                        <a:rPr sz="950" b="1" spc="130">
                          <a:solidFill>
                            <a:srgbClr val="4A443C"/>
                          </a:solidFill>
                          <a:latin typeface="Corbel"/>
                        </a:rPr>
                        <a:t>MODEL</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ANNUALISED ALPHA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ALPHA T-STAT</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P-VALUE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MARKET BETA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ADJUSTED R²</a:t>
                      </a:r>
                    </a:p>
                  </a:txBody>
                  <a:tcPr marL="91440" marR="91440" marT="27432" marB="27432" anchor="ctr">
                    <a:noFill/>
                    <a:lnB w="6350" cap="flat">
                      <a:solidFill>
                        <a:srgbClr val="16130F"/>
                      </a:solidFill>
                    </a:lnB>
                  </a:tcPr>
                </a:tc>
                <a:tc>
                  <a:txBody>
                    <a:bodyPr wrap="square"/>
                    <a:lstStyle/>
                    <a:p>
                      <a:pPr algn="l"/>
                      <a:r>
                        <a:rPr sz="950" b="1" spc="130">
                          <a:solidFill>
                            <a:srgbClr val="4A443C"/>
                          </a:solidFill>
                          <a:latin typeface="Corbel"/>
                        </a:rPr>
                        <a:t>INTERPRETATION</a:t>
                      </a:r>
                    </a:p>
                  </a:txBody>
                  <a:tcPr marL="91440" marR="91440" marT="27432" marB="27432" anchor="ctr">
                    <a:noFill/>
                    <a:lnB w="6350" cap="flat">
                      <a:solidFill>
                        <a:srgbClr val="16130F"/>
                      </a:solidFill>
                    </a:lnB>
                  </a:tcPr>
                </a:tc>
              </a:tr>
              <a:tr h="438912">
                <a:tc>
                  <a:txBody>
                    <a:bodyPr wrap="square"/>
                    <a:lstStyle/>
                    <a:p>
                      <a:pPr algn="l"/>
                      <a:r>
                        <a:rPr sz="1100" b="1">
                          <a:solidFill>
                            <a:srgbClr val="16130F"/>
                          </a:solidFill>
                          <a:latin typeface="Corbel"/>
                        </a:rPr>
                        <a:t>CAPM (single 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2.19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0.029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1.005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0.872</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5%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Fama–French 3-factor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5.9%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1.040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0.915</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Fama–French 5-factor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6.6%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3.06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1.050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0.914</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FF5 + momentum (Carhart)</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6.5%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2.95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1.054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0.913</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NASDAQ-100, same FF5 test</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1.41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0.159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1.099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0.943</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Not statistically significant</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4663440"/>
            <a:ext cx="10344607" cy="1280160"/>
          </a:xfrm>
          <a:prstGeom prst="rect">
            <a:avLst/>
          </a:prstGeom>
          <a:noFill/>
        </p:spPr>
        <p:txBody>
          <a:bodyPr wrap="square" lIns="0" rIns="0" tIns="0" bIns="0" anchor="t">
            <a:spAutoFit/>
          </a:bodyPr>
          <a:lstStyle/>
          <a:p>
            <a:pPr algn="l">
              <a:lnSpc>
                <a:spcPct val="130000"/>
              </a:lnSpc>
            </a:pPr>
            <a:r>
              <a:rPr sz="1300" b="0" i="0">
                <a:solidFill>
                  <a:srgbClr val="16130F"/>
                </a:solidFill>
                <a:latin typeface="Corbel"/>
              </a:rPr>
              <a:t>The test that matters. After controlling for the market, size, value, profitability, investment and momentum factors, the fund still delivered 6.6% a year that those factors cannot explain, with a t-statistic of 3.06 (p = 0.002). The same test applied to the NASDAQ-100 returns an alpha of 2.4% that is statistically indistinguishable from zero. The benchmark's excess return is explained by its factor exposures. Ours is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What the factor loadings say about us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 large-cap growth fund with market-like beta, which is the profile the mandate described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8_factors.png"/>
          <p:cNvPicPr>
            <a:picLocks noChangeAspect="1"/>
          </p:cNvPicPr>
          <p:nvPr/>
        </p:nvPicPr>
        <p:blipFill>
          <a:blip r:embed="rId2"/>
          <a:stretch>
            <a:fillRect/>
          </a:stretch>
        </p:blipFill>
        <p:spPr>
          <a:xfrm>
            <a:off x="1298448" y="2156908"/>
            <a:ext cx="6361933" cy="3111111"/>
          </a:xfrm>
          <a:prstGeom prst="rect">
            <a:avLst/>
          </a:prstGeom>
        </p:spPr>
      </p:pic>
      <p:sp>
        <p:nvSpPr>
          <p:cNvPr id="12" name="TextBox 11"/>
          <p:cNvSpPr txBox="1"/>
          <p:nvPr/>
        </p:nvSpPr>
        <p:spPr>
          <a:xfrm>
            <a:off x="7934701" y="173736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READING THE COEFFICIENTS</a:t>
            </a:r>
          </a:p>
        </p:txBody>
      </p:sp>
      <p:sp>
        <p:nvSpPr>
          <p:cNvPr id="13" name="TextBox 12"/>
          <p:cNvSpPr txBox="1"/>
          <p:nvPr/>
        </p:nvSpPr>
        <p:spPr>
          <a:xfrm>
            <a:off x="7934701" y="206654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Market +1.05.  </a:t>
            </a:r>
            <a:r>
              <a:rPr sz="1100">
                <a:solidFill>
                  <a:srgbClr val="16130F"/>
                </a:solidFill>
                <a:latin typeface="Corbel"/>
              </a:rPr>
              <a:t>Essentially one-for-one with the market. We were not levered.</a:t>
            </a:r>
          </a:p>
        </p:txBody>
      </p:sp>
      <p:sp>
        <p:nvSpPr>
          <p:cNvPr id="14" name="TextBox 13"/>
          <p:cNvSpPr txBox="1"/>
          <p:nvPr/>
        </p:nvSpPr>
        <p:spPr>
          <a:xfrm>
            <a:off x="7934701" y="2550159"/>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Size −0.22.  </a:t>
            </a:r>
            <a:r>
              <a:rPr sz="1100">
                <a:solidFill>
                  <a:srgbClr val="16130F"/>
                </a:solidFill>
                <a:latin typeface="Corbel"/>
              </a:rPr>
              <a:t>Significantly negative: a large-cap fund, as intended.</a:t>
            </a:r>
          </a:p>
        </p:txBody>
      </p:sp>
      <p:sp>
        <p:nvSpPr>
          <p:cNvPr id="15" name="TextBox 14"/>
          <p:cNvSpPr txBox="1"/>
          <p:nvPr/>
        </p:nvSpPr>
        <p:spPr>
          <a:xfrm>
            <a:off x="7934701" y="3033775"/>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Value −0.19.  </a:t>
            </a:r>
            <a:r>
              <a:rPr sz="1100">
                <a:solidFill>
                  <a:srgbClr val="16130F"/>
                </a:solidFill>
                <a:latin typeface="Corbel"/>
              </a:rPr>
              <a:t>Significantly negative: a growth fund, as intended.</a:t>
            </a:r>
          </a:p>
        </p:txBody>
      </p:sp>
      <p:sp>
        <p:nvSpPr>
          <p:cNvPr id="16" name="TextBox 15"/>
          <p:cNvSpPr txBox="1"/>
          <p:nvPr/>
        </p:nvSpPr>
        <p:spPr>
          <a:xfrm>
            <a:off x="7934701" y="3517391"/>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Profitability −0.11, Investment −0.05.  </a:t>
            </a:r>
            <a:r>
              <a:rPr sz="1100">
                <a:solidFill>
                  <a:srgbClr val="16130F"/>
                </a:solidFill>
                <a:latin typeface="Corbel"/>
              </a:rPr>
              <a:t>Neither is significant, so no hidden quality tilt.</a:t>
            </a:r>
          </a:p>
        </p:txBody>
      </p:sp>
      <p:sp>
        <p:nvSpPr>
          <p:cNvPr id="17" name="TextBox 16"/>
          <p:cNvSpPr txBox="1"/>
          <p:nvPr/>
        </p:nvSpPr>
        <p:spPr>
          <a:xfrm>
            <a:off x="7934701" y="4001007"/>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Momentum +0.02.  </a:t>
            </a:r>
            <a:r>
              <a:rPr sz="1100">
                <a:solidFill>
                  <a:srgbClr val="16130F"/>
                </a:solidFill>
                <a:latin typeface="Corbel"/>
              </a:rPr>
              <a:t>Effectively zero. This was not a momentum-chasing strategy.</a:t>
            </a:r>
          </a:p>
        </p:txBody>
      </p:sp>
      <p:sp>
        <p:nvSpPr>
          <p:cNvPr id="18" name="Rectangle 17"/>
          <p:cNvSpPr/>
          <p:nvPr/>
        </p:nvSpPr>
        <p:spPr>
          <a:xfrm>
            <a:off x="7934701" y="4630927"/>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34701" y="4795519"/>
            <a:ext cx="3708354" cy="914400"/>
          </a:xfrm>
          <a:prstGeom prst="rect">
            <a:avLst/>
          </a:prstGeom>
          <a:noFill/>
        </p:spPr>
        <p:txBody>
          <a:bodyPr wrap="square" lIns="0" rIns="0" tIns="0" bIns="0" anchor="t">
            <a:spAutoFit/>
          </a:bodyPr>
          <a:lstStyle/>
          <a:p>
            <a:pPr algn="l">
              <a:lnSpc>
                <a:spcPct val="125000"/>
              </a:lnSpc>
            </a:pPr>
            <a:r>
              <a:rPr sz="1100" b="1" i="0">
                <a:solidFill>
                  <a:srgbClr val="0D3B38"/>
                </a:solidFill>
                <a:latin typeface="Corbel"/>
              </a:rPr>
              <a:t>Every loading sits where the January-2016 mandate said it would. There are no unexplained exposures hiding in this portfolio.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Alpha was persistent, not a single lucky year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Rolling 36-month Jensen's alpha stays positive across every window in the sample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5_rolling_alpha.png"/>
          <p:cNvPicPr>
            <a:picLocks noChangeAspect="1"/>
          </p:cNvPicPr>
          <p:nvPr/>
        </p:nvPicPr>
        <p:blipFill>
          <a:blip r:embed="rId2"/>
          <a:stretch>
            <a:fillRect/>
          </a:stretch>
        </p:blipFill>
        <p:spPr>
          <a:xfrm>
            <a:off x="1926308" y="1517904"/>
            <a:ext cx="9088887" cy="3950207"/>
          </a:xfrm>
          <a:prstGeom prst="rect">
            <a:avLst/>
          </a:prstGeom>
        </p:spPr>
      </p:pic>
      <p:sp>
        <p:nvSpPr>
          <p:cNvPr id="12" name="TextBox 11"/>
          <p:cNvSpPr txBox="1"/>
          <p:nvPr/>
        </p:nvSpPr>
        <p:spPr>
          <a:xfrm>
            <a:off x="1298448" y="5577840"/>
            <a:ext cx="10344607" cy="640080"/>
          </a:xfrm>
          <a:prstGeom prst="rect">
            <a:avLst/>
          </a:prstGeom>
          <a:noFill/>
        </p:spPr>
        <p:txBody>
          <a:bodyPr wrap="square" lIns="0" rIns="0" tIns="0" bIns="0" anchor="t">
            <a:spAutoFit/>
          </a:bodyPr>
          <a:lstStyle/>
          <a:p>
            <a:pPr algn="l">
              <a:lnSpc>
                <a:spcPct val="125000"/>
              </a:lnSpc>
            </a:pPr>
            <a:r>
              <a:rPr sz="1150" b="0" i="0">
                <a:solidFill>
                  <a:srgbClr val="4A443C"/>
                </a:solidFill>
                <a:latin typeface="Corbel"/>
              </a:rPr>
              <a:t>A single full-sample alpha can be produced by one exceptional year. This chart re-estimates the CAPM alpha on every rolling three-year window from Dec-2019 onward. It never turns negative — including the windows dominated by the 2022 drawdown, where the alpha comes from losing less rather than gaining more.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Nine of eleven picks beat their own sector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Each holding measured against the GICS sector ETF it sits in, which is the fairest test of stock selection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3_stock_vs_sector.png"/>
          <p:cNvPicPr>
            <a:picLocks noChangeAspect="1"/>
          </p:cNvPicPr>
          <p:nvPr/>
        </p:nvPicPr>
        <p:blipFill>
          <a:blip r:embed="rId2"/>
          <a:stretch>
            <a:fillRect/>
          </a:stretch>
        </p:blipFill>
        <p:spPr>
          <a:xfrm>
            <a:off x="2484876" y="1517904"/>
            <a:ext cx="7971750" cy="4023359"/>
          </a:xfrm>
          <a:prstGeom prst="rect">
            <a:avLst/>
          </a:prstGeom>
        </p:spPr>
      </p:pic>
      <p:sp>
        <p:nvSpPr>
          <p:cNvPr id="12" name="TextBox 11"/>
          <p:cNvSpPr txBox="1"/>
          <p:nvPr/>
        </p:nvSpPr>
        <p:spPr>
          <a:xfrm>
            <a:off x="1298448" y="5669280"/>
            <a:ext cx="10344607" cy="548640"/>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Only two picks lagged: Illumina, 60 points behind XLV, and Schlumberger, 77 points behind XLE. The standouts were Costco at 152 points ahead of XLP, NextEra 146 ahead of XLU and Microsoft 142 ahead of XLK. XLC did not exist until June 2018, so the Communication Services sleeve is spliced with XLK before that 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Where the 179% came from</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Compounded contribution to cumulative return by holding. Microsoft alone delivered nearly a quarter of it</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2_contribution.png"/>
          <p:cNvPicPr>
            <a:picLocks noChangeAspect="1"/>
          </p:cNvPicPr>
          <p:nvPr/>
        </p:nvPicPr>
        <p:blipFill>
          <a:blip r:embed="rId2"/>
          <a:stretch>
            <a:fillRect/>
          </a:stretch>
        </p:blipFill>
        <p:spPr>
          <a:xfrm>
            <a:off x="1298448" y="2201672"/>
            <a:ext cx="6361933" cy="3113023"/>
          </a:xfrm>
          <a:prstGeom prst="rect">
            <a:avLst/>
          </a:prstGeom>
        </p:spPr>
      </p:pic>
      <p:sp>
        <p:nvSpPr>
          <p:cNvPr id="12" name="TextBox 11"/>
          <p:cNvSpPr txBox="1"/>
          <p:nvPr/>
        </p:nvSpPr>
        <p:spPr>
          <a:xfrm>
            <a:off x="7934701" y="173736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TOP 3 AND BOTTOM 3</a:t>
            </a:r>
          </a:p>
        </p:txBody>
      </p:sp>
      <p:graphicFrame>
        <p:nvGraphicFramePr>
          <p:cNvPr id="13" name="Table 12"/>
          <p:cNvGraphicFramePr>
            <a:graphicFrameLocks noGrp="1"/>
          </p:cNvGraphicFramePr>
          <p:nvPr/>
        </p:nvGraphicFramePr>
        <p:xfrm>
          <a:off x="7934701" y="2084831"/>
          <a:ext cx="3708353" cy="2048256"/>
        </p:xfrm>
        <a:graphic>
          <a:graphicData uri="http://schemas.openxmlformats.org/drawingml/2006/table">
            <a:tbl>
              <a:tblPr>
                <a:tableStyleId>{5C22544A-7EE6-4342-B048-85BDC9FD1C3A}</a:tableStyleId>
              </a:tblPr>
              <a:tblGrid>
                <a:gridCol w="1112506"/>
                <a:gridCol w="1112506"/>
                <a:gridCol w="1483341"/>
              </a:tblGrid>
              <a:tr h="292608">
                <a:tc>
                  <a:txBody>
                    <a:bodyPr wrap="square"/>
                    <a:lstStyle/>
                    <a:p>
                      <a:pPr algn="l"/>
                      <a:r>
                        <a:rPr sz="90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CONTRIB.</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TOTAL RETURN</a:t>
                      </a:r>
                    </a:p>
                  </a:txBody>
                  <a:tcPr marL="91440" marR="91440" marT="27432" marB="27432" anchor="ctr">
                    <a:noFill/>
                    <a:lnB w="6350" cap="flat">
                      <a:solidFill>
                        <a:srgbClr val="16130F"/>
                      </a:solidFill>
                    </a:lnB>
                  </a:tcPr>
                </a:tc>
              </a:tr>
              <a:tr h="292608">
                <a:tc>
                  <a:txBody>
                    <a:bodyPr wrap="square"/>
                    <a:lstStyle/>
                    <a:p>
                      <a:pPr algn="l"/>
                      <a:r>
                        <a:rPr sz="1050" b="1">
                          <a:solidFill>
                            <a:srgbClr val="16130F"/>
                          </a:solidFill>
                          <a:latin typeface="Corbel"/>
                        </a:rPr>
                        <a:t>MSFT</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41.9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319%</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GOOGL</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22.1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123%</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ALB</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20.8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172%</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EQIX</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10.5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105%</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AMZN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10.3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124%</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ILMN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58%</a:t>
                      </a:r>
                    </a:p>
                  </a:txBody>
                  <a:tcPr marL="91440" marR="91440" marT="27432" marB="27432" anchor="ctr">
                    <a:noFill/>
                    <a:lnT w="3175" cap="flat">
                      <a:solidFill>
                        <a:srgbClr val="E2DCCF"/>
                      </a:solidFill>
                    </a:lnT>
                  </a:tcPr>
                </a:tc>
              </a:tr>
            </a:tbl>
          </a:graphicData>
        </a:graphic>
      </p:graphicFrame>
      <p:sp>
        <p:nvSpPr>
          <p:cNvPr id="14" name="TextBox 13"/>
          <p:cNvSpPr txBox="1"/>
          <p:nvPr/>
        </p:nvSpPr>
        <p:spPr>
          <a:xfrm>
            <a:off x="7934701" y="4279392"/>
            <a:ext cx="3708354" cy="1463040"/>
          </a:xfrm>
          <a:prstGeom prst="rect">
            <a:avLst/>
          </a:prstGeom>
          <a:noFill/>
        </p:spPr>
        <p:txBody>
          <a:bodyPr wrap="square" lIns="0" rIns="0" tIns="0" bIns="0" anchor="t">
            <a:spAutoFit/>
          </a:bodyPr>
          <a:lstStyle/>
          <a:p>
            <a:pPr algn="l">
              <a:lnSpc>
                <a:spcPct val="128000"/>
              </a:lnSpc>
            </a:pPr>
            <a:r>
              <a:rPr sz="1150" b="0" i="0">
                <a:solidFill>
                  <a:srgbClr val="4A443C"/>
                </a:solidFill>
                <a:latin typeface="Corbel"/>
              </a:rPr>
              <a:t>Schlumberger is the instructive case. It lost 23.5% over six years, yet contributed a positive 13.2 points — because quarterly rebalancing kept buying it back to its 5% floor at successively lower prices, and it then returned +81% in 2022.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94% of the value-add came from stock picking</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Brinson–Fachler attribution against an equal-weight benchmark of the eleven GICS sector ETFs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31_attribution.png"/>
          <p:cNvPicPr>
            <a:picLocks noChangeAspect="1"/>
          </p:cNvPicPr>
          <p:nvPr/>
        </p:nvPicPr>
        <p:blipFill>
          <a:blip r:embed="rId2"/>
          <a:stretch>
            <a:fillRect/>
          </a:stretch>
        </p:blipFill>
        <p:spPr>
          <a:xfrm>
            <a:off x="1298448" y="2135618"/>
            <a:ext cx="6361933" cy="3153691"/>
          </a:xfrm>
          <a:prstGeom prst="rect">
            <a:avLst/>
          </a:prstGeom>
        </p:spPr>
      </p:pic>
      <p:sp>
        <p:nvSpPr>
          <p:cNvPr id="12" name="TextBox 11"/>
          <p:cNvSpPr txBox="1"/>
          <p:nvPr/>
        </p:nvSpPr>
        <p:spPr>
          <a:xfrm>
            <a:off x="7934701" y="175564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DECOMPOSITION</a:t>
            </a:r>
          </a:p>
        </p:txBody>
      </p:sp>
      <p:sp>
        <p:nvSpPr>
          <p:cNvPr id="13" name="TextBox 12"/>
          <p:cNvSpPr txBox="1"/>
          <p:nvPr/>
        </p:nvSpPr>
        <p:spPr>
          <a:xfrm>
            <a:off x="7934701" y="2066543"/>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Allocation +1.8 pts.  </a:t>
            </a:r>
            <a:r>
              <a:rPr sz="1100">
                <a:solidFill>
                  <a:srgbClr val="16130F"/>
                </a:solidFill>
                <a:latin typeface="Corbel"/>
              </a:rPr>
              <a:t>The sector tilts, overweight technology and underweight energy, contributed very little.</a:t>
            </a:r>
          </a:p>
        </p:txBody>
      </p:sp>
      <p:sp>
        <p:nvSpPr>
          <p:cNvPr id="14" name="TextBox 13"/>
          <p:cNvSpPr txBox="1"/>
          <p:nvPr/>
        </p:nvSpPr>
        <p:spPr>
          <a:xfrm>
            <a:off x="7934701" y="2732531"/>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Selection +41.4 pts.  </a:t>
            </a:r>
            <a:r>
              <a:rPr sz="1100">
                <a:solidFill>
                  <a:srgbClr val="16130F"/>
                </a:solidFill>
                <a:latin typeface="Corbel"/>
              </a:rPr>
              <a:t>Almost all of the active return came from picking better stocks than the sector average.</a:t>
            </a:r>
          </a:p>
        </p:txBody>
      </p:sp>
      <p:sp>
        <p:nvSpPr>
          <p:cNvPr id="15" name="TextBox 14"/>
          <p:cNvSpPr txBox="1"/>
          <p:nvPr/>
        </p:nvSpPr>
        <p:spPr>
          <a:xfrm>
            <a:off x="7934701" y="3398519"/>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Interaction +1.0 pt.  </a:t>
            </a:r>
            <a:r>
              <a:rPr sz="1100">
                <a:solidFill>
                  <a:srgbClr val="16130F"/>
                </a:solidFill>
                <a:latin typeface="Corbel"/>
              </a:rPr>
              <a:t>The residual from being overweight where we also picked well.</a:t>
            </a:r>
          </a:p>
        </p:txBody>
      </p:sp>
      <p:sp>
        <p:nvSpPr>
          <p:cNvPr id="16" name="Rectangle 15"/>
          <p:cNvSpPr/>
          <p:nvPr/>
        </p:nvSpPr>
        <p:spPr>
          <a:xfrm>
            <a:off x="7934701" y="4037583"/>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4202175"/>
            <a:ext cx="3708354" cy="1828800"/>
          </a:xfrm>
          <a:prstGeom prst="rect">
            <a:avLst/>
          </a:prstGeom>
          <a:noFill/>
        </p:spPr>
        <p:txBody>
          <a:bodyPr wrap="square" lIns="0" rIns="0" tIns="0" bIns="0" anchor="t">
            <a:spAutoFit/>
          </a:bodyPr>
          <a:lstStyle/>
          <a:p>
            <a:pPr algn="l">
              <a:lnSpc>
                <a:spcPct val="130000"/>
              </a:lnSpc>
            </a:pPr>
            <a:r>
              <a:rPr sz="1100" b="0" i="0">
                <a:solidFill>
                  <a:srgbClr val="0D3B38"/>
                </a:solidFill>
                <a:latin typeface="Corbel"/>
              </a:rPr>
              <a:t>Why this matters for your decision: allocation skill is a macro call and is hard to repeat. Selection skill is a research process. That 94% of our value-add came from selection is the strongest argument that the result is repeatable.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Would an optimiser have done better?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 mean-variance model given three years of pre-launch data would have added 1.1% a year, by taking concentration risk we were not permitted to take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7_variants.png"/>
          <p:cNvPicPr>
            <a:picLocks noChangeAspect="1"/>
          </p:cNvPicPr>
          <p:nvPr/>
        </p:nvPicPr>
        <p:blipFill>
          <a:blip r:embed="rId2"/>
          <a:stretch>
            <a:fillRect/>
          </a:stretch>
        </p:blipFill>
        <p:spPr>
          <a:xfrm>
            <a:off x="1298448" y="2195310"/>
            <a:ext cx="6361933" cy="3125747"/>
          </a:xfrm>
          <a:prstGeom prst="rect">
            <a:avLst/>
          </a:prstGeom>
        </p:spPr>
      </p:pic>
      <p:graphicFrame>
        <p:nvGraphicFramePr>
          <p:cNvPr id="12" name="Table 11"/>
          <p:cNvGraphicFramePr>
            <a:graphicFrameLocks noGrp="1"/>
          </p:cNvGraphicFramePr>
          <p:nvPr/>
        </p:nvGraphicFramePr>
        <p:xfrm>
          <a:off x="7934701" y="1755648"/>
          <a:ext cx="3708352" cy="1865376"/>
        </p:xfrm>
        <a:graphic>
          <a:graphicData uri="http://schemas.openxmlformats.org/drawingml/2006/table">
            <a:tbl>
              <a:tblPr>
                <a:tableStyleId>{5C22544A-7EE6-4342-B048-85BDC9FD1C3A}</a:tableStyleId>
              </a:tblPr>
              <a:tblGrid>
                <a:gridCol w="1928344"/>
                <a:gridCol w="890004"/>
                <a:gridCol w="890004"/>
              </a:tblGrid>
              <a:tr h="310896">
                <a:tc>
                  <a:txBody>
                    <a:bodyPr wrap="square"/>
                    <a:lstStyle/>
                    <a:p>
                      <a:pPr algn="l"/>
                      <a:r>
                        <a:rPr sz="900" b="1" spc="130">
                          <a:solidFill>
                            <a:srgbClr val="4A443C"/>
                          </a:solidFill>
                          <a:latin typeface="Corbel"/>
                        </a:rPr>
                        <a:t>CONSTRUCTION RULE</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SHARPE</a:t>
                      </a:r>
                    </a:p>
                  </a:txBody>
                  <a:tcPr marL="91440" marR="91440" marT="27432" marB="27432" anchor="ctr">
                    <a:noFill/>
                    <a:lnB w="6350" cap="flat">
                      <a:solidFill>
                        <a:srgbClr val="16130F"/>
                      </a:solidFill>
                    </a:lnB>
                  </a:tcPr>
                </a:tc>
              </a:tr>
              <a:tr h="310896">
                <a:tc>
                  <a:txBody>
                    <a:bodyPr wrap="square"/>
                    <a:lstStyle/>
                    <a:p>
                      <a:pPr algn="l"/>
                      <a:r>
                        <a:rPr sz="1050" b="1">
                          <a:solidFill>
                            <a:srgbClr val="16130F"/>
                          </a:solidFill>
                          <a:latin typeface="Corbel"/>
                        </a:rPr>
                        <a:t>NDIF as run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0.94</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Mean–variance (2014–16 inputs)</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19.7%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1.07</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Equal weight (1/N)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0.90</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Buy &amp; hold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17.3%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0.88</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Perfect-foresight optimum</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22.8%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1.32</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7934701" y="3803904"/>
            <a:ext cx="3708354" cy="2194560"/>
          </a:xfrm>
          <a:prstGeom prst="rect">
            <a:avLst/>
          </a:prstGeom>
          <a:noFill/>
        </p:spPr>
        <p:txBody>
          <a:bodyPr wrap="square" lIns="0" rIns="0" tIns="0" bIns="0" anchor="t">
            <a:spAutoFit/>
          </a:bodyPr>
          <a:lstStyle/>
          <a:p>
            <a:pPr algn="l">
              <a:lnSpc>
                <a:spcPct val="126000"/>
              </a:lnSpc>
            </a:pPr>
            <a:r>
              <a:rPr sz="1050" b="0" i="0">
                <a:solidFill>
                  <a:srgbClr val="4A443C"/>
                </a:solidFill>
                <a:latin typeface="Corbel"/>
              </a:rPr>
              <a:t>The optimiser's solution put 25% in Equinix and 25% in NextEra — breaching our 16% position cap — and zero in Alphabet, Visa, Albemarle and Schlumberger, breaching the 5% sector floor four times over. It bought a better backtest by discarding the mandate.</a:t>
            </a:r>
          </a:p>
          <a:p>
            <a:pPr algn="l">
              <a:lnSpc>
                <a:spcPct val="126000"/>
              </a:lnSpc>
            </a:pPr>
            <a:r>
              <a:rPr sz="1050" b="0" i="0">
                <a:solidFill>
                  <a:srgbClr val="4A443C"/>
                </a:solidFill>
                <a:latin typeface="Corbel"/>
              </a:rPr>
              <a:t/>
            </a:r>
          </a:p>
          <a:p>
            <a:pPr algn="l">
              <a:lnSpc>
                <a:spcPct val="126000"/>
              </a:lnSpc>
            </a:pPr>
            <a:r>
              <a:rPr sz="1050" b="0" i="0">
                <a:solidFill>
                  <a:srgbClr val="4A443C"/>
                </a:solidFill>
                <a:latin typeface="Corbel"/>
              </a:rPr>
              <a:t>Even with perfect foresight, the best achievable was 22.9% a year. We captured 82% of a result nobody could have known in advance.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120% of the upside, 97% of the downside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asymmetry that produced the result: most of the market's gains, without most of its losses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9_capture.png"/>
          <p:cNvPicPr>
            <a:picLocks noChangeAspect="1"/>
          </p:cNvPicPr>
          <p:nvPr/>
        </p:nvPicPr>
        <p:blipFill>
          <a:blip r:embed="rId2"/>
          <a:stretch>
            <a:fillRect/>
          </a:stretch>
        </p:blipFill>
        <p:spPr>
          <a:xfrm>
            <a:off x="1298448" y="2237698"/>
            <a:ext cx="6361933" cy="2949531"/>
          </a:xfrm>
          <a:prstGeom prst="rect">
            <a:avLst/>
          </a:prstGeom>
        </p:spPr>
      </p:pic>
      <p:sp>
        <p:nvSpPr>
          <p:cNvPr id="12" name="TextBox 11"/>
          <p:cNvSpPr txBox="1"/>
          <p:nvPr/>
        </p:nvSpPr>
        <p:spPr>
          <a:xfrm>
            <a:off x="7934701" y="175564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ASYMMETRY</a:t>
            </a:r>
          </a:p>
        </p:txBody>
      </p:sp>
      <p:sp>
        <p:nvSpPr>
          <p:cNvPr id="13" name="TextBox 12"/>
          <p:cNvSpPr txBox="1"/>
          <p:nvPr/>
        </p:nvSpPr>
        <p:spPr>
          <a:xfrm>
            <a:off x="7934701" y="206654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Upside capture 120%.  </a:t>
            </a:r>
            <a:r>
              <a:rPr sz="1100">
                <a:solidFill>
                  <a:srgbClr val="16130F"/>
                </a:solidFill>
                <a:latin typeface="Corbel"/>
              </a:rPr>
              <a:t>In months the S&amp;P 500 rose, we rose 20% more than it did.</a:t>
            </a:r>
          </a:p>
        </p:txBody>
      </p:sp>
      <p:sp>
        <p:nvSpPr>
          <p:cNvPr id="14" name="TextBox 13"/>
          <p:cNvSpPr txBox="1"/>
          <p:nvPr/>
        </p:nvSpPr>
        <p:spPr>
          <a:xfrm>
            <a:off x="7934701" y="255930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Downside capture 97%.  </a:t>
            </a:r>
            <a:r>
              <a:rPr sz="1100">
                <a:solidFill>
                  <a:srgbClr val="16130F"/>
                </a:solidFill>
                <a:latin typeface="Corbel"/>
              </a:rPr>
              <a:t>In months it fell, we fell slightly less.</a:t>
            </a:r>
          </a:p>
        </p:txBody>
      </p:sp>
      <p:sp>
        <p:nvSpPr>
          <p:cNvPr id="15" name="TextBox 14"/>
          <p:cNvSpPr txBox="1"/>
          <p:nvPr/>
        </p:nvSpPr>
        <p:spPr>
          <a:xfrm>
            <a:off x="7934701" y="3052063"/>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The NASDAQ-100, by contrast,  </a:t>
            </a:r>
            <a:r>
              <a:rPr sz="1100">
                <a:solidFill>
                  <a:srgbClr val="16130F"/>
                </a:solidFill>
                <a:latin typeface="Corbel"/>
              </a:rPr>
              <a:t>captured 118% of the upside but 108% of the downside: more of the gains, and more of the losses.</a:t>
            </a:r>
          </a:p>
        </p:txBody>
      </p:sp>
      <p:sp>
        <p:nvSpPr>
          <p:cNvPr id="16" name="TextBox 15"/>
          <p:cNvSpPr txBox="1"/>
          <p:nvPr/>
        </p:nvSpPr>
        <p:spPr>
          <a:xfrm>
            <a:off x="7934701" y="3718051"/>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50 positive months of 72.  </a:t>
            </a:r>
            <a:r>
              <a:rPr sz="1100">
                <a:solidFill>
                  <a:srgbClr val="16130F"/>
                </a:solidFill>
                <a:latin typeface="Corbel"/>
              </a:rPr>
              <a:t>A 69.4% hit rate against 65.3% for the NASDAQ-100.</a:t>
            </a:r>
          </a:p>
        </p:txBody>
      </p:sp>
      <p:sp>
        <p:nvSpPr>
          <p:cNvPr id="17" name="Rectangle 16"/>
          <p:cNvSpPr/>
          <p:nvPr/>
        </p:nvSpPr>
        <p:spPr>
          <a:xfrm>
            <a:off x="7934701" y="4357115"/>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34701" y="4521707"/>
            <a:ext cx="3708354" cy="1463040"/>
          </a:xfrm>
          <a:prstGeom prst="rect">
            <a:avLst/>
          </a:prstGeom>
          <a:noFill/>
        </p:spPr>
        <p:txBody>
          <a:bodyPr wrap="square" lIns="0" rIns="0" tIns="0" bIns="0" anchor="t">
            <a:spAutoFit/>
          </a:bodyPr>
          <a:lstStyle/>
          <a:p>
            <a:pPr algn="l">
              <a:lnSpc>
                <a:spcPct val="130000"/>
              </a:lnSpc>
            </a:pPr>
            <a:r>
              <a:rPr sz="1100" b="1" i="0">
                <a:solidFill>
                  <a:srgbClr val="0D3B38"/>
                </a:solidFill>
                <a:latin typeface="Corbel"/>
              </a:rPr>
              <a:t>Those two numbers, 120 up and 97 down, are the compact statement of what the fund did. Everything else in this deck elaborates on them.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06</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The verdict</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Marking the fund against the objective we set in 2016, the fees you paid, and our recommendation on what happens next</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Marking ourselves against the 2016 objective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commitment we made when we asked you for the mandate, scored against what we actually delivered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5" cy="4224528"/>
        </p:xfrm>
        <a:graphic>
          <a:graphicData uri="http://schemas.openxmlformats.org/drawingml/2006/table">
            <a:tbl>
              <a:tblPr>
                <a:tableStyleId>{5C22544A-7EE6-4342-B048-85BDC9FD1C3A}</a:tableStyleId>
              </a:tblPr>
              <a:tblGrid>
                <a:gridCol w="3930950"/>
                <a:gridCol w="1448244"/>
                <a:gridCol w="3310274"/>
                <a:gridCol w="1655137"/>
              </a:tblGrid>
              <a:tr h="384048">
                <a:tc>
                  <a:txBody>
                    <a:bodyPr wrap="square"/>
                    <a:lstStyle/>
                    <a:p>
                      <a:pPr algn="l"/>
                      <a:r>
                        <a:rPr sz="900" b="1" spc="130">
                          <a:solidFill>
                            <a:srgbClr val="4A443C"/>
                          </a:solidFill>
                          <a:latin typeface="Corbel"/>
                        </a:rPr>
                        <a:t>WHAT WE COMMITTED TO IN JANUARY 2016</a:t>
                      </a:r>
                    </a:p>
                  </a:txBody>
                  <a:tcPr marL="18288" marR="91440" marT="27432" marB="27432" anchor="ctr">
                    <a:noFill/>
                    <a:lnB w="6350" cap="flat">
                      <a:solidFill>
                        <a:srgbClr val="16130F"/>
                      </a:solidFill>
                    </a:lnB>
                  </a:tcPr>
                </a:tc>
                <a:tc>
                  <a:txBody>
                    <a:bodyPr wrap="square"/>
                    <a:lstStyle/>
                    <a:p>
                      <a:pPr algn="ctr"/>
                      <a:r>
                        <a:rPr sz="900" b="1" spc="130">
                          <a:solidFill>
                            <a:srgbClr val="4A443C"/>
                          </a:solidFill>
                          <a:latin typeface="Corbel"/>
                        </a:rPr>
                        <a:t>TARGET</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DELIVERED</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VERDICT</a:t>
                      </a:r>
                    </a:p>
                  </a:txBody>
                  <a:tcPr marL="91440" marR="91440" marT="27432" marB="27432" anchor="ctr">
                    <a:noFill/>
                    <a:lnB w="6350" cap="flat">
                      <a:solidFill>
                        <a:srgbClr val="16130F"/>
                      </a:solidFill>
                    </a:lnB>
                  </a:tcPr>
                </a:tc>
              </a:tr>
              <a:tr h="384048">
                <a:tc>
                  <a:txBody>
                    <a:bodyPr wrap="square"/>
                    <a:lstStyle/>
                    <a:p>
                      <a:pPr algn="l"/>
                      <a:r>
                        <a:rPr sz="1050" b="1">
                          <a:solidFill>
                            <a:srgbClr val="16130F"/>
                          </a:solidFill>
                          <a:latin typeface="Corbel"/>
                        </a:rPr>
                        <a:t>Net annualised return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8–10% p.a.</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17.5% p.a. net of all fees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Cumulative net return over the fund life</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55–70%</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163%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Outperform the S&amp;P 500</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 p.a.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+6.2% p.a.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Outperform the NASDAQ-100 (primary benchmark)</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Beat it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+3.4% p.a. gross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Maintain all eleven GICS sectors, 5% floor</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No sector abandoned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Held throughout, all 24 quarters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Cap the largest position at 16%</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16% cap</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Held at every rebalance; MSFT drifted to a peak of 17.6% within a quarter</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Rebalance quarterly with a 5-point drift rule</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24 rebalances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24 executed; drift never exceeded 2.9 pts, so the rule never fired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Deliver a mid-life strategic review at end-2019</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Formal review</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Conducted; target weights reconfirmed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Keep the drawdown below the theme benchmark's</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Beat NASDAQ-100</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−24.9% vs −32.6%</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Generate return the market cannot explain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Positive alpha</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+6.6% p.a., t = 3.06, p = 0.002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Gross to net: what you actually kept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0.90% management fee plus 10% of the excess over the NASDAQ-100 hurdle, subject to the high-water mark</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33_fees.png"/>
          <p:cNvPicPr>
            <a:picLocks noChangeAspect="1"/>
          </p:cNvPicPr>
          <p:nvPr/>
        </p:nvPicPr>
        <p:blipFill>
          <a:blip r:embed="rId2"/>
          <a:stretch>
            <a:fillRect/>
          </a:stretch>
        </p:blipFill>
        <p:spPr>
          <a:xfrm>
            <a:off x="1298448" y="2201795"/>
            <a:ext cx="6361933" cy="3112778"/>
          </a:xfrm>
          <a:prstGeom prst="rect">
            <a:avLst/>
          </a:prstGeom>
        </p:spPr>
      </p:pic>
      <p:graphicFrame>
        <p:nvGraphicFramePr>
          <p:cNvPr id="12" name="Table 11"/>
          <p:cNvGraphicFramePr>
            <a:graphicFrameLocks noGrp="1"/>
          </p:cNvGraphicFramePr>
          <p:nvPr/>
        </p:nvGraphicFramePr>
        <p:xfrm>
          <a:off x="7934701" y="1755648"/>
          <a:ext cx="3708352" cy="1554480"/>
        </p:xfrm>
        <a:graphic>
          <a:graphicData uri="http://schemas.openxmlformats.org/drawingml/2006/table">
            <a:tbl>
              <a:tblPr>
                <a:tableStyleId>{5C22544A-7EE6-4342-B048-85BDC9FD1C3A}</a:tableStyleId>
              </a:tblPr>
              <a:tblGrid>
                <a:gridCol w="1705842"/>
                <a:gridCol w="1001255"/>
                <a:gridCol w="1001255"/>
              </a:tblGrid>
              <a:tr h="310896">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P.A.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OVER SIX YEARS</a:t>
                      </a:r>
                    </a:p>
                  </a:txBody>
                  <a:tcPr marL="91440" marR="91440" marT="27432" marB="27432" anchor="ctr">
                    <a:noFill/>
                    <a:lnB w="6350" cap="flat">
                      <a:solidFill>
                        <a:srgbClr val="16130F"/>
                      </a:solidFill>
                    </a:lnB>
                  </a:tcPr>
                </a:tc>
              </a:tr>
              <a:tr h="310896">
                <a:tc>
                  <a:txBody>
                    <a:bodyPr wrap="square"/>
                    <a:lstStyle/>
                    <a:p>
                      <a:pPr algn="l"/>
                      <a:r>
                        <a:rPr sz="1100" b="1">
                          <a:solidFill>
                            <a:srgbClr val="16130F"/>
                          </a:solidFill>
                          <a:latin typeface="Corbel"/>
                        </a:rPr>
                        <a:t>Gross return</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179%</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Management fee</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−5.3%</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Performance fee</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−0.25%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Net to investors</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17.51%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163%</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7934701" y="3474720"/>
            <a:ext cx="3708354" cy="2468880"/>
          </a:xfrm>
          <a:prstGeom prst="rect">
            <a:avLst/>
          </a:prstGeom>
          <a:noFill/>
        </p:spPr>
        <p:txBody>
          <a:bodyPr wrap="square" lIns="0" rIns="0" tIns="0" bIns="0" anchor="t">
            <a:spAutoFit/>
          </a:bodyPr>
          <a:lstStyle/>
          <a:p>
            <a:pPr algn="l">
              <a:lnSpc>
                <a:spcPct val="128000"/>
              </a:lnSpc>
            </a:pPr>
            <a:r>
              <a:rPr sz="1100" b="0" i="0">
                <a:solidFill>
                  <a:srgbClr val="4A443C"/>
                </a:solidFill>
                <a:latin typeface="Corbel"/>
              </a:rPr>
              <a:t>Total fee load was 1.15% a year — 0.90% base plus 0.25% of performance fee, because the hurdle is the NASDAQ-100 rather than zero and we only cleared it by 2.5 points a year.</a:t>
            </a:r>
          </a:p>
          <a:p>
            <a:pPr algn="l">
              <a:lnSpc>
                <a:spcPct val="128000"/>
              </a:lnSpc>
            </a:pPr>
            <a:r>
              <a:rPr sz="1100" b="0" i="0">
                <a:solidFill>
                  <a:srgbClr val="4A443C"/>
                </a:solidFill>
                <a:latin typeface="Corbel"/>
              </a:rPr>
              <a:t/>
            </a:r>
          </a:p>
          <a:p>
            <a:pPr algn="l">
              <a:lnSpc>
                <a:spcPct val="128000"/>
              </a:lnSpc>
            </a:pPr>
            <a:r>
              <a:rPr sz="1100" b="0" i="0">
                <a:solidFill>
                  <a:srgbClr val="4A443C"/>
                </a:solidFill>
                <a:latin typeface="Corbel"/>
              </a:rPr>
              <a:t>A passive NASDAQ-100 ETF at 0.20% would have cost $5.7m less over the six years and returned $235m. We returned $279m, so investors kept $38.7m after paying for active management.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Our recommendation: the fund should continue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With three changes to the mandate, which we would want your agreement on before raising the successor vehicle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82496"/>
            <a:ext cx="5224026"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CASE FOR CONTINUING</a:t>
            </a:r>
          </a:p>
        </p:txBody>
      </p:sp>
      <p:sp>
        <p:nvSpPr>
          <p:cNvPr id="13" name="TextBox 12"/>
          <p:cNvSpPr txBox="1"/>
          <p:nvPr/>
        </p:nvSpPr>
        <p:spPr>
          <a:xfrm>
            <a:off x="1298448" y="2212848"/>
            <a:ext cx="5004570" cy="566928"/>
          </a:xfrm>
          <a:prstGeom prst="rect">
            <a:avLst/>
          </a:prstGeom>
          <a:noFill/>
        </p:spPr>
        <p:txBody>
          <a:bodyPr wrap="square" lIns="0" rIns="0" tIns="0" bIns="0">
            <a:spAutoFit/>
          </a:bodyPr>
          <a:lstStyle/>
          <a:p>
            <a:pPr>
              <a:lnSpc>
                <a:spcPct val="122000"/>
              </a:lnSpc>
            </a:pPr>
            <a:r>
              <a:rPr sz="1200" b="1">
                <a:solidFill>
                  <a:srgbClr val="0D3B38"/>
                </a:solidFill>
                <a:latin typeface="Corbel"/>
              </a:rPr>
              <a:t>The alpha is real and it is repeatable.  </a:t>
            </a:r>
            <a:r>
              <a:rPr sz="1200">
                <a:solidFill>
                  <a:srgbClr val="16130F"/>
                </a:solidFill>
                <a:latin typeface="Corbel"/>
              </a:rPr>
              <a:t>6.6% a year that five risk factors cannot explain, with 94% of it from security selection rather than sector timing.</a:t>
            </a:r>
          </a:p>
        </p:txBody>
      </p:sp>
      <p:sp>
        <p:nvSpPr>
          <p:cNvPr id="14" name="TextBox 13"/>
          <p:cNvSpPr txBox="1"/>
          <p:nvPr/>
        </p:nvSpPr>
        <p:spPr>
          <a:xfrm>
            <a:off x="1298448" y="2980944"/>
            <a:ext cx="5004570"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The thesis is not exhausted.  </a:t>
            </a:r>
            <a:r>
              <a:rPr sz="1200">
                <a:solidFill>
                  <a:srgbClr val="16130F"/>
                </a:solidFill>
                <a:latin typeface="Corbel"/>
              </a:rPr>
              <a:t>Cloud is still a minority of enterprise IT spend; electrification and genomics are earlier still. The 2022 de-rating repriced the multiple, not the demand.</a:t>
            </a:r>
          </a:p>
        </p:txBody>
      </p:sp>
      <p:sp>
        <p:nvSpPr>
          <p:cNvPr id="15" name="TextBox 14"/>
          <p:cNvSpPr txBox="1"/>
          <p:nvPr/>
        </p:nvSpPr>
        <p:spPr>
          <a:xfrm>
            <a:off x="1298448" y="3938016"/>
            <a:ext cx="5004570" cy="566928"/>
          </a:xfrm>
          <a:prstGeom prst="rect">
            <a:avLst/>
          </a:prstGeom>
          <a:noFill/>
        </p:spPr>
        <p:txBody>
          <a:bodyPr wrap="square" lIns="0" rIns="0" tIns="0" bIns="0">
            <a:spAutoFit/>
          </a:bodyPr>
          <a:lstStyle/>
          <a:p>
            <a:pPr>
              <a:lnSpc>
                <a:spcPct val="122000"/>
              </a:lnSpc>
            </a:pPr>
            <a:r>
              <a:rPr sz="1200" b="1">
                <a:solidFill>
                  <a:srgbClr val="0D3B38"/>
                </a:solidFill>
                <a:latin typeface="Corbel"/>
              </a:rPr>
              <a:t>The construction discipline was tested and held.  </a:t>
            </a:r>
            <a:r>
              <a:rPr sz="1200">
                <a:solidFill>
                  <a:srgbClr val="16130F"/>
                </a:solidFill>
                <a:latin typeface="Corbel"/>
              </a:rPr>
              <a:t>Sector floors, the position cap and quarterly rebalancing were all worth measurable money — most visibly in 2022.</a:t>
            </a:r>
          </a:p>
        </p:txBody>
      </p:sp>
      <p:sp>
        <p:nvSpPr>
          <p:cNvPr id="16" name="Rectangle 15"/>
          <p:cNvSpPr/>
          <p:nvPr/>
        </p:nvSpPr>
        <p:spPr>
          <a:xfrm>
            <a:off x="6796794" y="1682496"/>
            <a:ext cx="4846261"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6794" y="1828800"/>
            <a:ext cx="8229600" cy="219456"/>
          </a:xfrm>
          <a:prstGeom prst="rect">
            <a:avLst/>
          </a:prstGeom>
          <a:noFill/>
        </p:spPr>
        <p:txBody>
          <a:bodyPr wrap="square" lIns="0" rIns="0" tIns="0" bIns="0" anchor="t">
            <a:spAutoFit/>
          </a:bodyPr>
          <a:lstStyle/>
          <a:p>
            <a:pPr algn="l">
              <a:lnSpc>
                <a:spcPct val="105000"/>
              </a:lnSpc>
            </a:pPr>
            <a:r>
              <a:rPr sz="950" b="1" i="0" spc="160">
                <a:solidFill>
                  <a:srgbClr val="C4551A"/>
                </a:solidFill>
                <a:latin typeface="Corbel"/>
              </a:rPr>
              <a:t>WHAT WE WOULD CHANGE</a:t>
            </a:r>
          </a:p>
        </p:txBody>
      </p:sp>
      <p:sp>
        <p:nvSpPr>
          <p:cNvPr id="18" name="TextBox 17"/>
          <p:cNvSpPr txBox="1"/>
          <p:nvPr/>
        </p:nvSpPr>
        <p:spPr>
          <a:xfrm>
            <a:off x="6796794" y="2212848"/>
            <a:ext cx="4626805" cy="755904"/>
          </a:xfrm>
          <a:prstGeom prst="rect">
            <a:avLst/>
          </a:prstGeom>
          <a:noFill/>
        </p:spPr>
        <p:txBody>
          <a:bodyPr wrap="square" lIns="0" rIns="0" tIns="0" bIns="0">
            <a:spAutoFit/>
          </a:bodyPr>
          <a:lstStyle/>
          <a:p>
            <a:pPr>
              <a:lnSpc>
                <a:spcPct val="122000"/>
              </a:lnSpc>
            </a:pPr>
            <a:r>
              <a:rPr sz="1200" b="1">
                <a:solidFill>
                  <a:srgbClr val="0D3B38"/>
                </a:solidFill>
                <a:latin typeface="Corbel"/>
              </a:rPr>
              <a:t>Widen the tail-scenario assumptions.  </a:t>
            </a:r>
            <a:r>
              <a:rPr sz="1200">
                <a:solidFill>
                  <a:srgbClr val="16130F"/>
                </a:solidFill>
                <a:latin typeface="Corbel"/>
              </a:rPr>
              <a:t>Our Scenario C assumed a 4% loss. The real one cost 22.5%. The framework identified the regime correctly and sized it badly.</a:t>
            </a:r>
          </a:p>
        </p:txBody>
      </p:sp>
      <p:sp>
        <p:nvSpPr>
          <p:cNvPr id="19" name="TextBox 18"/>
          <p:cNvSpPr txBox="1"/>
          <p:nvPr/>
        </p:nvSpPr>
        <p:spPr>
          <a:xfrm>
            <a:off x="6796794" y="3169920"/>
            <a:ext cx="4626805" cy="566928"/>
          </a:xfrm>
          <a:prstGeom prst="rect">
            <a:avLst/>
          </a:prstGeom>
          <a:noFill/>
        </p:spPr>
        <p:txBody>
          <a:bodyPr wrap="square" lIns="0" rIns="0" tIns="0" bIns="0">
            <a:spAutoFit/>
          </a:bodyPr>
          <a:lstStyle/>
          <a:p>
            <a:pPr>
              <a:lnSpc>
                <a:spcPct val="122000"/>
              </a:lnSpc>
            </a:pPr>
            <a:r>
              <a:rPr sz="1200" b="1">
                <a:solidFill>
                  <a:srgbClr val="0D3B38"/>
                </a:solidFill>
                <a:latin typeface="Corbel"/>
              </a:rPr>
              <a:t>Add a valuation discipline to the entry rule.  </a:t>
            </a:r>
            <a:r>
              <a:rPr sz="1200">
                <a:solidFill>
                  <a:srgbClr val="16130F"/>
                </a:solidFill>
                <a:latin typeface="Corbel"/>
              </a:rPr>
              <a:t>Illumina, our worst selection decision, was a correct thesis bought without a price constraint.</a:t>
            </a:r>
          </a:p>
        </p:txBody>
      </p:sp>
      <p:sp>
        <p:nvSpPr>
          <p:cNvPr id="20" name="TextBox 19"/>
          <p:cNvSpPr txBox="1"/>
          <p:nvPr/>
        </p:nvSpPr>
        <p:spPr>
          <a:xfrm>
            <a:off x="6796794" y="3938016"/>
            <a:ext cx="4626805" cy="755904"/>
          </a:xfrm>
          <a:prstGeom prst="rect">
            <a:avLst/>
          </a:prstGeom>
          <a:noFill/>
        </p:spPr>
        <p:txBody>
          <a:bodyPr wrap="square" lIns="0" rIns="0" tIns="0" bIns="0">
            <a:spAutoFit/>
          </a:bodyPr>
          <a:lstStyle/>
          <a:p>
            <a:pPr>
              <a:lnSpc>
                <a:spcPct val="122000"/>
              </a:lnSpc>
            </a:pPr>
            <a:r>
              <a:rPr sz="1200" b="1">
                <a:solidFill>
                  <a:srgbClr val="0D3B38"/>
                </a:solidFill>
                <a:latin typeface="Corbel"/>
              </a:rPr>
              <a:t>Review the position cap upward, carefully.  </a:t>
            </a:r>
            <a:r>
              <a:rPr sz="1200">
                <a:solidFill>
                  <a:srgbClr val="16130F"/>
                </a:solidFill>
                <a:latin typeface="Corbel"/>
              </a:rPr>
              <a:t>The 16% cap forced us to trim Microsoft, our single best decision, at 19 of the 24 rebalances. We would seek 20%, with the sector floors untouched.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1700784"/>
            <a:ext cx="6766560" cy="365760"/>
          </a:xfrm>
          <a:prstGeom prst="rect">
            <a:avLst/>
          </a:prstGeom>
          <a:noFill/>
        </p:spPr>
        <p:txBody>
          <a:bodyPr wrap="square" lIns="0" rIns="0" tIns="0" bIns="0" anchor="t">
            <a:spAutoFit/>
          </a:bodyPr>
          <a:lstStyle/>
          <a:p>
            <a:pPr algn="l">
              <a:lnSpc>
                <a:spcPct val="105000"/>
              </a:lnSpc>
            </a:pPr>
            <a:r>
              <a:rPr sz="1100" b="0" i="0" spc="300">
                <a:solidFill>
                  <a:srgbClr val="C4551A"/>
                </a:solidFill>
                <a:latin typeface="Corbel"/>
              </a:rPr>
              <a:t>NORTHPOINT</a:t>
            </a:r>
          </a:p>
        </p:txBody>
      </p:sp>
      <p:sp>
        <p:nvSpPr>
          <p:cNvPr id="4" name="TextBox 3"/>
          <p:cNvSpPr txBox="1"/>
          <p:nvPr/>
        </p:nvSpPr>
        <p:spPr>
          <a:xfrm>
            <a:off x="960120" y="2157984"/>
            <a:ext cx="8778240" cy="1005840"/>
          </a:xfrm>
          <a:prstGeom prst="rect">
            <a:avLst/>
          </a:prstGeom>
          <a:noFill/>
        </p:spPr>
        <p:txBody>
          <a:bodyPr wrap="square" lIns="0" rIns="0" tIns="0" bIns="0" anchor="t">
            <a:spAutoFit/>
          </a:bodyPr>
          <a:lstStyle/>
          <a:p>
            <a:pPr algn="l">
              <a:lnSpc>
                <a:spcPct val="105000"/>
              </a:lnSpc>
            </a:pPr>
            <a:r>
              <a:rPr sz="5200" b="0" i="0">
                <a:solidFill>
                  <a:srgbClr val="F2ECDE"/>
                </a:solidFill>
                <a:latin typeface="Georgia"/>
              </a:rPr>
              <a:t>Thank you.</a:t>
            </a:r>
          </a:p>
        </p:txBody>
      </p:sp>
      <p:sp>
        <p:nvSpPr>
          <p:cNvPr id="5" name="Rectangle 4"/>
          <p:cNvSpPr/>
          <p:nvPr/>
        </p:nvSpPr>
        <p:spPr>
          <a:xfrm>
            <a:off x="1024128" y="3310128"/>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639312"/>
            <a:ext cx="8778240" cy="1280160"/>
          </a:xfrm>
          <a:prstGeom prst="rect">
            <a:avLst/>
          </a:prstGeom>
          <a:noFill/>
        </p:spPr>
        <p:txBody>
          <a:bodyPr wrap="square" lIns="0" rIns="0" tIns="0" bIns="0" anchor="t">
            <a:spAutoFit/>
          </a:bodyPr>
          <a:lstStyle/>
          <a:p>
            <a:pPr algn="l">
              <a:lnSpc>
                <a:spcPct val="136000"/>
              </a:lnSpc>
            </a:pPr>
            <a:r>
              <a:rPr sz="1450" b="0" i="0">
                <a:solidFill>
                  <a:srgbClr val="A9BEB8"/>
                </a:solidFill>
                <a:latin typeface="Corbel"/>
              </a:rPr>
              <a:t>I am happy to take questions on any part of this review.</a:t>
            </a:r>
          </a:p>
          <a:p>
            <a:pPr algn="l">
              <a:lnSpc>
                <a:spcPct val="136000"/>
              </a:lnSpc>
            </a:pPr>
            <a:r>
              <a:rPr sz="1450" b="0" i="0">
                <a:solidFill>
                  <a:srgbClr val="A9BEB8"/>
                </a:solidFill>
                <a:latin typeface="Corbel"/>
              </a:rPr>
              <a:t>An appendix follows with the full methodology, the complete metric tables, the per-holding statistics, and the full factor-model output.</a:t>
            </a:r>
          </a:p>
        </p:txBody>
      </p:sp>
      <p:sp>
        <p:nvSpPr>
          <p:cNvPr id="7" name="TextBox 6"/>
          <p:cNvSpPr txBox="1"/>
          <p:nvPr/>
        </p:nvSpPr>
        <p:spPr>
          <a:xfrm>
            <a:off x="987552" y="5138928"/>
            <a:ext cx="8778240" cy="731520"/>
          </a:xfrm>
          <a:prstGeom prst="rect">
            <a:avLst/>
          </a:prstGeom>
          <a:noFill/>
        </p:spPr>
        <p:txBody>
          <a:bodyPr wrap="square" lIns="0" rIns="0" tIns="0" bIns="0" anchor="t">
            <a:spAutoFit/>
          </a:bodyPr>
          <a:lstStyle/>
          <a:p>
            <a:pPr algn="l">
              <a:lnSpc>
                <a:spcPct val="136000"/>
              </a:lnSpc>
            </a:pPr>
            <a:r>
              <a:rPr sz="1150" b="0" i="0">
                <a:solidFill>
                  <a:srgbClr val="7E9994"/>
                </a:solidFill>
                <a:latin typeface="Corbel"/>
              </a:rPr>
              <a:t>Callum O'Connor  ·  Portfolio Manager  ·  Northpoint Capital Partners</a:t>
            </a:r>
          </a:p>
          <a:p>
            <a:pPr algn="l">
              <a:lnSpc>
                <a:spcPct val="136000"/>
              </a:lnSpc>
            </a:pPr>
            <a:r>
              <a:rPr sz="1150" b="0" i="0">
                <a:solidFill>
                  <a:srgbClr val="7E9994"/>
                </a:solidFill>
                <a:latin typeface="Corbel"/>
              </a:rPr>
              <a:t>FINC13-303 Portfolio Analysis and Investments  ·  Student ID 14053836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A</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Appendix</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Methodology and data sources, full metric tables, per-holding statistics, complete factor-model output, and supporting exhibits</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 · Methodology, data and assumptions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Everything in this deck is reproducible from the accompanying Python analysis and Excel workbook</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64208"/>
          <a:ext cx="10344606" cy="4279392"/>
        </p:xfrm>
        <a:graphic>
          <a:graphicData uri="http://schemas.openxmlformats.org/drawingml/2006/table">
            <a:tbl>
              <a:tblPr>
                <a:tableStyleId>{5C22544A-7EE6-4342-B048-85BDC9FD1C3A}</a:tableStyleId>
              </a:tblPr>
              <a:tblGrid>
                <a:gridCol w="2379259"/>
                <a:gridCol w="7965347"/>
              </a:tblGrid>
              <a:tr h="329184">
                <a:tc>
                  <a:txBody>
                    <a:bodyPr wrap="square"/>
                    <a:lstStyle/>
                    <a:p>
                      <a:pPr algn="l"/>
                      <a:r>
                        <a:rPr sz="850" b="1" spc="130">
                          <a:solidFill>
                            <a:srgbClr val="4A443C"/>
                          </a:solidFill>
                          <a:latin typeface="Corbel"/>
                        </a:rPr>
                        <a:t>ITEM</a:t>
                      </a:r>
                    </a:p>
                  </a:txBody>
                  <a:tcPr marL="18288" marR="91440" marT="27432" marB="27432" anchor="ctr">
                    <a:noFill/>
                    <a:lnB w="6350" cap="flat">
                      <a:solidFill>
                        <a:srgbClr val="16130F"/>
                      </a:solidFill>
                    </a:lnB>
                  </a:tcPr>
                </a:tc>
                <a:tc>
                  <a:txBody>
                    <a:bodyPr wrap="square"/>
                    <a:lstStyle/>
                    <a:p>
                      <a:pPr algn="l"/>
                      <a:r>
                        <a:rPr sz="850" b="1" spc="130">
                          <a:solidFill>
                            <a:srgbClr val="4A443C"/>
                          </a:solidFill>
                          <a:latin typeface="Corbel"/>
                        </a:rPr>
                        <a:t>TREATMENT</a:t>
                      </a:r>
                    </a:p>
                  </a:txBody>
                  <a:tcPr marL="91440" marR="91440" marT="27432" marB="27432" anchor="ctr">
                    <a:noFill/>
                    <a:lnB w="6350" cap="flat">
                      <a:solidFill>
                        <a:srgbClr val="16130F"/>
                      </a:solidFill>
                    </a:lnB>
                  </a:tcPr>
                </a:tc>
              </a:tr>
              <a:tr h="329184">
                <a:tc>
                  <a:txBody>
                    <a:bodyPr wrap="square"/>
                    <a:lstStyle/>
                    <a:p>
                      <a:pPr algn="l"/>
                      <a:r>
                        <a:rPr sz="1000" b="0">
                          <a:solidFill>
                            <a:srgbClr val="16130F"/>
                          </a:solidFill>
                          <a:latin typeface="Corbel"/>
                        </a:rPr>
                        <a:t>Return data</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Monthly total returns from dividend- and split-adjusted closing prices, Jan 2017 – Dec 2022 (72 observations per series)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Portfolio construction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Target weights per the January-2016 mandate; drift within the quarter, restored to target at each calendar quarter-end (24 rebalances)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Primary benchmark</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NASDAQ-100 total return, proxied by the QQQ ETF so that dividends are included (the ^NDX index itself is price-only)</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Secondary benchmark</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S&amp;P 500 total return, proxied by the SPY ETF on the same basis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Sector benchmarks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The eleven SPDR GICS sector ETFs. XLC launched Jun-2018, so XLK is used for the Communication Services sleeve before that date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Risk-free rate</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Fama–French one-month Treasury bill series; mean 1.25% p.a. over the sample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Risk factors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Kenneth R. French Data Library: Mkt-RF, SMB, HML, RMW, CMA and the momentum factor, monthly, US research series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Regressions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OLS with Newey–West (HAC) standard errors, four lags, to correct for autocorrelation and heteroskedasticity in monthly returns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Annualisation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Returns compounded geometrically; volatility scaled by √12; ratios computed on monthly data then annualised</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Attribution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Brinson–Fachler, summed arithmetically across 72 months against an equal-weight benchmark of the eleven sector ETFs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Mean–variance optimisation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SLSQP, long-only, maximum Sharpe, 25% position bound; in-sample window Jan 2014 – Dec 2016 for the ex-ante case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Excluded</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Transaction costs, market impact, taxes and cash drag. All returns are gross of these unless a slide states otherwise</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A2 · Full performance and risk metrics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All strategies and benchmarks, 72 monthly observations, January 2017 – December 2022</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45920"/>
          <a:ext cx="10344603" cy="4458596"/>
        </p:xfrm>
        <a:graphic>
          <a:graphicData uri="http://schemas.openxmlformats.org/drawingml/2006/table">
            <a:tbl>
              <a:tblPr>
                <a:tableStyleId>{5C22544A-7EE6-4342-B048-85BDC9FD1C3A}</a:tableStyleId>
              </a:tblPr>
              <a:tblGrid>
                <a:gridCol w="2694987"/>
                <a:gridCol w="1274936"/>
                <a:gridCol w="1274936"/>
                <a:gridCol w="1274936"/>
                <a:gridCol w="1274936"/>
                <a:gridCol w="1274936"/>
                <a:gridCol w="1274936"/>
              </a:tblGrid>
              <a:tr h="193852">
                <a:tc>
                  <a:txBody>
                    <a:bodyPr wrap="square"/>
                    <a:lstStyle/>
                    <a:p>
                      <a:pPr algn="l"/>
                      <a:r>
                        <a:rPr sz="700" b="1" spc="130">
                          <a:solidFill>
                            <a:srgbClr val="4A443C"/>
                          </a:solidFill>
                          <a:latin typeface="Corbel"/>
                        </a:rPr>
                        <a:t>METRIC</a:t>
                      </a:r>
                    </a:p>
                  </a:txBody>
                  <a:tcPr marL="18288" marR="91440" marT="27432" marB="27432" anchor="ctr">
                    <a:noFill/>
                    <a:lnB w="6350" cap="flat">
                      <a:solidFill>
                        <a:srgbClr val="16130F"/>
                      </a:solidFill>
                    </a:lnB>
                  </a:tcPr>
                </a:tc>
                <a:tc>
                  <a:txBody>
                    <a:bodyPr wrap="square"/>
                    <a:lstStyle/>
                    <a:p>
                      <a:pPr algn="r"/>
                      <a:r>
                        <a:rPr sz="700" b="1" spc="130">
                          <a:solidFill>
                            <a:srgbClr val="4A443C"/>
                          </a:solidFill>
                          <a:latin typeface="Corbel"/>
                        </a:rPr>
                        <a:t>NDIF</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EQUAL WEIGHT</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MEAN–VARIANCE</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NASDAQ-100</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S&amp;P 500</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60/40</a:t>
                      </a:r>
                    </a:p>
                  </a:txBody>
                  <a:tcPr marL="91440" marR="91440" marT="27432" marB="27432" anchor="ctr">
                    <a:noFill/>
                    <a:lnB w="6350" cap="flat">
                      <a:solidFill>
                        <a:srgbClr val="16130F"/>
                      </a:solidFill>
                    </a:lnB>
                  </a:tcPr>
                </a:tc>
              </a:tr>
              <a:tr h="193852">
                <a:tc>
                  <a:txBody>
                    <a:bodyPr wrap="square"/>
                    <a:lstStyle/>
                    <a:p>
                      <a:pPr algn="l"/>
                      <a:r>
                        <a:rPr sz="850" b="1">
                          <a:solidFill>
                            <a:srgbClr val="16130F"/>
                          </a:solidFill>
                          <a:latin typeface="Corbel"/>
                        </a:rPr>
                        <a:t>Cumulative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52%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Annualised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Annualised volatility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11.1%</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Mean monthly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1.59%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1.64%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Median monthly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2.73%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2.26%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2.69%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Skewness</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Excess kurtosis</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-0.04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0.56</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Best month</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14.0%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Worst month</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-12.1%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-7.7%</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Sharpe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0.59</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Sortino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1.51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1.69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0.88</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Treynor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0.173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0.163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0.238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0.111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0.102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Calmar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0.85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0.36</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Maximum drawdown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-25.2%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-32.6%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-20.0%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Downside deviation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11.9%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VaR 95% (monthly)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-5.0%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CVaR 95% (monthly)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-6.8%</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Beta vs S&amp;P 500</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Tracking error vs S&amp;P 500</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7.0%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Upside capture</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Downside capture</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97%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Terminal value on $100m</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$279m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$270m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$294m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$235m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$190m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$152m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A3 · Per-holding statistics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position measured over the full six years on the same basis as the portfolio</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82496"/>
          <a:ext cx="10344600" cy="3982212"/>
        </p:xfrm>
        <a:graphic>
          <a:graphicData uri="http://schemas.openxmlformats.org/drawingml/2006/table">
            <a:tbl>
              <a:tblPr>
                <a:tableStyleId>{5C22544A-7EE6-4342-B048-85BDC9FD1C3A}</a:tableStyleId>
              </a:tblPr>
              <a:tblGrid>
                <a:gridCol w="724122"/>
                <a:gridCol w="1241352"/>
                <a:gridCol w="724122"/>
                <a:gridCol w="982737"/>
                <a:gridCol w="827568"/>
                <a:gridCol w="931014"/>
                <a:gridCol w="724122"/>
                <a:gridCol w="879291"/>
                <a:gridCol w="672399"/>
                <a:gridCol w="982737"/>
                <a:gridCol w="724122"/>
                <a:gridCol w="931014"/>
              </a:tblGrid>
              <a:tr h="306324">
                <a:tc>
                  <a:txBody>
                    <a:bodyPr wrap="square"/>
                    <a:lstStyle/>
                    <a:p>
                      <a:pPr algn="l"/>
                      <a:r>
                        <a:rPr sz="800" b="1" spc="130">
                          <a:solidFill>
                            <a:srgbClr val="4A443C"/>
                          </a:solidFill>
                          <a:latin typeface="Corbel"/>
                        </a:rPr>
                        <a:t>TICKER</a:t>
                      </a:r>
                    </a:p>
                  </a:txBody>
                  <a:tcPr marL="18288" marR="91440" marT="27432" marB="27432" anchor="ctr">
                    <a:noFill/>
                    <a:lnB w="6350" cap="flat">
                      <a:solidFill>
                        <a:srgbClr val="16130F"/>
                      </a:solidFill>
                    </a:lnB>
                  </a:tcPr>
                </a:tc>
                <a:tc>
                  <a:txBody>
                    <a:bodyPr wrap="square"/>
                    <a:lstStyle/>
                    <a:p>
                      <a:pPr algn="r"/>
                      <a:r>
                        <a:rPr sz="800" b="1" spc="130">
                          <a:solidFill>
                            <a:srgbClr val="4A443C"/>
                          </a:solidFill>
                          <a:latin typeface="Corbel"/>
                        </a:rPr>
                        <a:t>GICS SECTOR</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WEIGHT</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TOTAL RETURN</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VOLATILITY</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SHARPE</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MAX DD</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BETA</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CAPM ALPHA</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T-STAT</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CONTRIBUTION</a:t>
                      </a:r>
                    </a:p>
                  </a:txBody>
                  <a:tcPr marL="91440" marR="91440" marT="27432" marB="27432" anchor="ctr">
                    <a:noFill/>
                    <a:lnB w="6350" cap="flat">
                      <a:solidFill>
                        <a:srgbClr val="16130F"/>
                      </a:solidFill>
                    </a:lnB>
                  </a:tcPr>
                </a:tc>
              </a:tr>
              <a:tr h="306324">
                <a:tc>
                  <a:txBody>
                    <a:bodyPr wrap="square"/>
                    <a:lstStyle/>
                    <a:p>
                      <a:pPr algn="l"/>
                      <a:r>
                        <a:rPr sz="950" b="1">
                          <a:solidFill>
                            <a:srgbClr val="16130F"/>
                          </a:solidFill>
                          <a:latin typeface="Corbel"/>
                        </a:rPr>
                        <a:t>MSFT</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Info Tech</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41.9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GOOGL</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Comm Svcs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0.70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22.1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AMZN</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Cons Disc</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-52.1%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0.37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10.3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V</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Financials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0.83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15.9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EQIX</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Real Estate</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-32.1%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0.87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ILMN</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Health Care</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0.36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-62.8%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ROK</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Industrials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0.20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NEE</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Utilities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-23.5%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15.7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COST</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Cons Staples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ALB</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Materials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43.8%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-58.3%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9.3%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20.8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SLB</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Energy</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49.0%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13.2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All eleven</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179.2 pts</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632704"/>
            <a:ext cx="10344607" cy="457200"/>
          </a:xfrm>
          <a:prstGeom prst="rect">
            <a:avLst/>
          </a:prstGeom>
          <a:noFill/>
        </p:spPr>
        <p:txBody>
          <a:bodyPr wrap="square" lIns="0" rIns="0" tIns="0" bIns="0" anchor="t">
            <a:spAutoFit/>
          </a:bodyPr>
          <a:lstStyle/>
          <a:p>
            <a:pPr algn="l">
              <a:lnSpc>
                <a:spcPct val="125000"/>
              </a:lnSpc>
            </a:pPr>
            <a:r>
              <a:rPr sz="1100" b="0" i="0">
                <a:solidFill>
                  <a:srgbClr val="4A443C"/>
                </a:solidFill>
                <a:latin typeface="Corbel"/>
              </a:rPr>
              <a:t>Only Microsoft (t = 2.76) and NextEra (t = 3.14) clear the 1.96 threshold on their own; Costco misses it by a whisker at 1.95. The portfolio's alpha is more significant than any constituent's, which is the diversification benefit doing real statistical work.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A4 · Complete factor-model output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Coefficient, t-statistic and significance for every factor across all four models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82496"/>
          <a:ext cx="10344605" cy="4023360"/>
        </p:xfrm>
        <a:graphic>
          <a:graphicData uri="http://schemas.openxmlformats.org/drawingml/2006/table">
            <a:tbl>
              <a:tblPr>
                <a:tableStyleId>{5C22544A-7EE6-4342-B048-85BDC9FD1C3A}</a:tableStyleId>
              </a:tblPr>
              <a:tblGrid>
                <a:gridCol w="2482705"/>
                <a:gridCol w="1965475"/>
                <a:gridCol w="1965475"/>
                <a:gridCol w="1965475"/>
                <a:gridCol w="1965475"/>
              </a:tblGrid>
              <a:tr h="402336">
                <a:tc>
                  <a:txBody>
                    <a:bodyPr wrap="square"/>
                    <a:lstStyle/>
                    <a:p>
                      <a:pPr algn="l"/>
                      <a:r>
                        <a:rPr sz="850" b="1" spc="130">
                          <a:solidFill>
                            <a:srgbClr val="4A443C"/>
                          </a:solidFill>
                          <a:latin typeface="Corbel"/>
                        </a:rPr>
                        <a:t>FACTOR</a:t>
                      </a:r>
                    </a:p>
                  </a:txBody>
                  <a:tcPr marL="18288" marR="91440" marT="27432" marB="27432" anchor="ctr">
                    <a:noFill/>
                    <a:lnB w="6350" cap="flat">
                      <a:solidFill>
                        <a:srgbClr val="16130F"/>
                      </a:solidFill>
                    </a:lnB>
                  </a:tcPr>
                </a:tc>
                <a:tc>
                  <a:txBody>
                    <a:bodyPr wrap="square"/>
                    <a:lstStyle/>
                    <a:p>
                      <a:pPr algn="ctr"/>
                      <a:r>
                        <a:rPr sz="850" b="1" spc="130">
                          <a:solidFill>
                            <a:srgbClr val="4A443C"/>
                          </a:solidFill>
                          <a:latin typeface="Corbel"/>
                        </a:rPr>
                        <a:t>CAPM</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FAMA–FRENCH 3</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FAMA–FRENCH 5</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FF5 + MOMENTUM</a:t>
                      </a:r>
                    </a:p>
                  </a:txBody>
                  <a:tcPr marL="91440" marR="91440" marT="27432" marB="27432" anchor="ctr">
                    <a:noFill/>
                    <a:lnB w="6350" cap="flat">
                      <a:solidFill>
                        <a:srgbClr val="16130F"/>
                      </a:solidFill>
                    </a:lnB>
                  </a:tcPr>
                </a:tc>
              </a:tr>
              <a:tr h="402336">
                <a:tc>
                  <a:txBody>
                    <a:bodyPr wrap="square"/>
                    <a:lstStyle/>
                    <a:p>
                      <a:pPr algn="l"/>
                      <a:r>
                        <a:rPr sz="1000" b="1">
                          <a:solidFill>
                            <a:srgbClr val="16130F"/>
                          </a:solidFill>
                          <a:latin typeface="Corbel"/>
                        </a:rPr>
                        <a:t>Alpha (annualised)</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7.2%**
(t = 2.19)</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5.9%***
(t = 2.83)</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6.6%***
(t = 3.06)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6.5%***
(t = 2.95)</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Market (Mkt-RF)</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+1.005***
(t = 15.75)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+1.040***
(t = 25.66)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+1.050***
(t = 29.16)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+1.054***
(t = 25.88)</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Size (SMB)</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-0.164**
(t = -2.30)</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-0.218***
(t = -3.01)</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-0.209**
(t = -2.50)</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Value (HML)</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-0.236***
(t = -5.61)</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-0.191***
(t = -3.05)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-0.184***
(t = -2.76)</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Profitability (RMW)</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-0.111
(t = -1.30)</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-0.104
(t = -1.23)</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Investment (CMA)</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-0.053
(t = -0.64)</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-0.060
(t = -0.72)</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Momentum (MOM)</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+0.022
(t = 0.29)</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Adjusted R²</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0.872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0.914</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0.913</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Observations</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577840"/>
            <a:ext cx="10344607" cy="457200"/>
          </a:xfrm>
          <a:prstGeom prst="rect">
            <a:avLst/>
          </a:prstGeom>
          <a:noFill/>
        </p:spPr>
        <p:txBody>
          <a:bodyPr wrap="square" lIns="0" rIns="0" tIns="0" bIns="0" anchor="t">
            <a:spAutoFit/>
          </a:bodyPr>
          <a:lstStyle/>
          <a:p>
            <a:pPr algn="l">
              <a:lnSpc>
                <a:spcPct val="125000"/>
              </a:lnSpc>
            </a:pPr>
            <a:r>
              <a:rPr sz="1000" b="0" i="0">
                <a:solidFill>
                  <a:srgbClr val="8C8478"/>
                </a:solidFill>
                <a:latin typeface="Corbel"/>
              </a:rPr>
              <a:t>*** significant at 1%   ** significant at 5%   * significant at 10%.  Newey–West heteroskedasticity- and autocorrelation-consistent standard errors, four lags. Dependent variable is the fund's monthly return in excess of the one-month Treasury bill rate.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A5 · Correlation structure of the holdings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Average pairwise correlation of 0.40, which is real diversification inside a single theme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9_corr.png"/>
          <p:cNvPicPr>
            <a:picLocks noChangeAspect="1"/>
          </p:cNvPicPr>
          <p:nvPr/>
        </p:nvPicPr>
        <p:blipFill>
          <a:blip r:embed="rId2"/>
          <a:stretch>
            <a:fillRect/>
          </a:stretch>
        </p:blipFill>
        <p:spPr>
          <a:xfrm>
            <a:off x="3805142" y="1481328"/>
            <a:ext cx="5331218" cy="4663439"/>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A6 · The risk–return map</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holding, the portfolio and both benchmarks on realised risk and return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8_riskreturn.png"/>
          <p:cNvPicPr>
            <a:picLocks noChangeAspect="1"/>
          </p:cNvPicPr>
          <p:nvPr/>
        </p:nvPicPr>
        <p:blipFill>
          <a:blip r:embed="rId2"/>
          <a:stretch>
            <a:fillRect/>
          </a:stretch>
        </p:blipFill>
        <p:spPr>
          <a:xfrm>
            <a:off x="2358445" y="1481328"/>
            <a:ext cx="8224612" cy="4663439"/>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A7 · The efficient frontier of our own holdings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Where the fund actually landed against the best that was achievable ex post</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7_frontier.png"/>
          <p:cNvPicPr>
            <a:picLocks noChangeAspect="1"/>
          </p:cNvPicPr>
          <p:nvPr/>
        </p:nvPicPr>
        <p:blipFill>
          <a:blip r:embed="rId2"/>
          <a:stretch>
            <a:fillRect/>
          </a:stretch>
        </p:blipFill>
        <p:spPr>
          <a:xfrm>
            <a:off x="2358445" y="1481328"/>
            <a:ext cx="8224612" cy="4663439"/>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A8 · Distribution comparison and dispersion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How the fund's return distribution compares to its benchmarks, and the spread across individual holdings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7_box.png"/>
          <p:cNvPicPr>
            <a:picLocks noChangeAspect="1"/>
          </p:cNvPicPr>
          <p:nvPr/>
        </p:nvPicPr>
        <p:blipFill>
          <a:blip r:embed="rId2"/>
          <a:stretch>
            <a:fillRect/>
          </a:stretch>
        </p:blipFill>
        <p:spPr>
          <a:xfrm>
            <a:off x="4049784" y="1536192"/>
            <a:ext cx="4841934" cy="2249422"/>
          </a:xfrm>
          <a:prstGeom prst="rect">
            <a:avLst/>
          </a:prstGeom>
        </p:spPr>
      </p:pic>
      <p:pic>
        <p:nvPicPr>
          <p:cNvPr id="12" name="Picture 11" descr="32_spaghetti.png"/>
          <p:cNvPicPr>
            <a:picLocks noChangeAspect="1"/>
          </p:cNvPicPr>
          <p:nvPr/>
        </p:nvPicPr>
        <p:blipFill>
          <a:blip r:embed="rId3"/>
          <a:stretch>
            <a:fillRect/>
          </a:stretch>
        </p:blipFill>
        <p:spPr>
          <a:xfrm>
            <a:off x="4253962" y="3895344"/>
            <a:ext cx="4433579" cy="2249423"/>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A9 · Rolling beta and volatility</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Stability of the fund's market exposure and total risk through the sample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6_rolling_beta.png"/>
          <p:cNvPicPr>
            <a:picLocks noChangeAspect="1"/>
          </p:cNvPicPr>
          <p:nvPr/>
        </p:nvPicPr>
        <p:blipFill>
          <a:blip r:embed="rId2"/>
          <a:stretch>
            <a:fillRect/>
          </a:stretch>
        </p:blipFill>
        <p:spPr>
          <a:xfrm>
            <a:off x="3919310" y="1536192"/>
            <a:ext cx="5102883" cy="2249422"/>
          </a:xfrm>
          <a:prstGeom prst="rect">
            <a:avLst/>
          </a:prstGeom>
        </p:spPr>
      </p:pic>
      <p:pic>
        <p:nvPicPr>
          <p:cNvPr id="12" name="Picture 11" descr="30_rolling_vol.png"/>
          <p:cNvPicPr>
            <a:picLocks noChangeAspect="1"/>
          </p:cNvPicPr>
          <p:nvPr/>
        </p:nvPicPr>
        <p:blipFill>
          <a:blip r:embed="rId3"/>
          <a:stretch>
            <a:fillRect/>
          </a:stretch>
        </p:blipFill>
        <p:spPr>
          <a:xfrm>
            <a:off x="3882943" y="3895344"/>
            <a:ext cx="5175616" cy="2249423"/>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A10 · Month-of-year seasonality and the fee comparison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Supporting detail on the seasonality discussion and the fee benchmarking</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1_month_avg.png"/>
          <p:cNvPicPr>
            <a:picLocks noChangeAspect="1"/>
          </p:cNvPicPr>
          <p:nvPr/>
        </p:nvPicPr>
        <p:blipFill>
          <a:blip r:embed="rId2"/>
          <a:stretch>
            <a:fillRect/>
          </a:stretch>
        </p:blipFill>
        <p:spPr>
          <a:xfrm>
            <a:off x="3954175" y="1554480"/>
            <a:ext cx="5033152" cy="2249423"/>
          </a:xfrm>
          <a:prstGeom prst="rect">
            <a:avLst/>
          </a:prstGeom>
        </p:spPr>
      </p:pic>
      <p:graphicFrame>
        <p:nvGraphicFramePr>
          <p:cNvPr id="12" name="Table 11"/>
          <p:cNvGraphicFramePr>
            <a:graphicFrameLocks noGrp="1"/>
          </p:cNvGraphicFramePr>
          <p:nvPr/>
        </p:nvGraphicFramePr>
        <p:xfrm>
          <a:off x="1298448" y="3986784"/>
          <a:ext cx="10344606" cy="1554480"/>
        </p:xfrm>
        <a:graphic>
          <a:graphicData uri="http://schemas.openxmlformats.org/drawingml/2006/table">
            <a:tbl>
              <a:tblPr>
                <a:tableStyleId>{5C22544A-7EE6-4342-B048-85BDC9FD1C3A}</a:tableStyleId>
              </a:tblPr>
              <a:tblGrid>
                <a:gridCol w="3103382"/>
                <a:gridCol w="1551691"/>
                <a:gridCol w="1965475"/>
                <a:gridCol w="1758583"/>
                <a:gridCol w="1965475"/>
              </a:tblGrid>
              <a:tr h="310896">
                <a:tc>
                  <a:txBody>
                    <a:bodyPr wrap="square"/>
                    <a:lstStyle/>
                    <a:p>
                      <a:pPr algn="l"/>
                      <a:r>
                        <a:rPr sz="900" b="1" spc="130">
                          <a:solidFill>
                            <a:srgbClr val="4A443C"/>
                          </a:solidFill>
                          <a:latin typeface="Corbel"/>
                        </a:rPr>
                        <a:t>COMPARATOR</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FEE P.A.</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6-YEAR FEE ON $100M</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RETURN DELIVERED</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TERMINAL VALUE</a:t>
                      </a:r>
                    </a:p>
                  </a:txBody>
                  <a:tcPr marL="91440" marR="91440" marT="27432" marB="27432" anchor="ctr">
                    <a:noFill/>
                    <a:lnB w="6350" cap="flat">
                      <a:solidFill>
                        <a:srgbClr val="16130F"/>
                      </a:solidFill>
                    </a:lnB>
                  </a:tcPr>
                </a:tc>
              </a:tr>
              <a:tr h="310896">
                <a:tc>
                  <a:txBody>
                    <a:bodyPr wrap="square"/>
                    <a:lstStyle/>
                    <a:p>
                      <a:pPr algn="l"/>
                      <a:r>
                        <a:rPr sz="1050" b="1">
                          <a:solidFill>
                            <a:srgbClr val="16130F"/>
                          </a:solidFill>
                          <a:latin typeface="Corbel"/>
                        </a:rPr>
                        <a:t>Passive S&amp;P 500 ETF (SPY)</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0.0945%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$0.57m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90%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$190m</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Passive NASDAQ-100 ETF (QQQ)</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0.20%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135%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$235m</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Typical active equity fund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1.25%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$7.50m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Northpoint Digital Innovation Fund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1.15% all-in</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$6.90m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$279m</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1298448" y="5650992"/>
            <a:ext cx="10344607" cy="457200"/>
          </a:xfrm>
          <a:prstGeom prst="rect">
            <a:avLst/>
          </a:prstGeom>
          <a:noFill/>
        </p:spPr>
        <p:txBody>
          <a:bodyPr wrap="square" lIns="0" rIns="0" tIns="0" bIns="0" anchor="t">
            <a:spAutoFit/>
          </a:bodyPr>
          <a:lstStyle/>
          <a:p>
            <a:pPr algn="l">
              <a:lnSpc>
                <a:spcPct val="125000"/>
              </a:lnSpc>
            </a:pPr>
            <a:r>
              <a:rPr sz="1100" b="0" i="0">
                <a:solidFill>
                  <a:srgbClr val="4A443C"/>
                </a:solidFill>
                <a:latin typeface="Corbel"/>
              </a:rPr>
              <a:t>Fees are calculated on a static $100m for comparability. Northpoint's all-in load of 1.15% sits 0.95 points above a passive NASDAQ-100 ETF, which costs $5.7m more over six years. The fund delivered $44.4m of additional terminal value, so investors kept $38.7m after paying for active management.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A11 · References and declarations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Sources, academic references, and the required statement on the use of generative AI</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45920"/>
            <a:ext cx="5637810"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773936"/>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REFERENCES</a:t>
            </a:r>
          </a:p>
        </p:txBody>
      </p:sp>
      <p:sp>
        <p:nvSpPr>
          <p:cNvPr id="13" name="TextBox 12"/>
          <p:cNvSpPr txBox="1"/>
          <p:nvPr/>
        </p:nvSpPr>
        <p:spPr>
          <a:xfrm>
            <a:off x="1298448" y="2103120"/>
            <a:ext cx="5363490" cy="3657600"/>
          </a:xfrm>
          <a:prstGeom prst="rect">
            <a:avLst/>
          </a:prstGeom>
          <a:noFill/>
        </p:spPr>
        <p:txBody>
          <a:bodyPr wrap="square" lIns="0" rIns="0" tIns="0" bIns="0" anchor="t">
            <a:spAutoFit/>
          </a:bodyPr>
          <a:lstStyle/>
          <a:p>
            <a:pPr algn="l">
              <a:lnSpc>
                <a:spcPct val="136000"/>
              </a:lnSpc>
            </a:pPr>
            <a:r>
              <a:rPr sz="900" b="0" i="0">
                <a:solidFill>
                  <a:srgbClr val="4A443C"/>
                </a:solidFill>
                <a:latin typeface="Corbel"/>
              </a:rPr>
              <a:t>Brinson, G. P., Hood, L. R., &amp; Beebower, G. L. (1986). Determinants of portfolio performance. Financial Analysts Journal, 42(4), 39–44.</a:t>
            </a:r>
          </a:p>
          <a:p>
            <a:pPr algn="l">
              <a:lnSpc>
                <a:spcPct val="136000"/>
              </a:lnSpc>
            </a:pPr>
            <a:r>
              <a:rPr sz="900" b="0" i="0">
                <a:solidFill>
                  <a:srgbClr val="4A443C"/>
                </a:solidFill>
                <a:latin typeface="Corbel"/>
              </a:rPr>
              <a:t>DeMiguel, V., Garlappi, L., &amp; Uppal, R. (2009). Optimal versus naive diversification. The Review of Financial Studies, 22(5), 1915–1953.</a:t>
            </a:r>
          </a:p>
          <a:p>
            <a:pPr algn="l">
              <a:lnSpc>
                <a:spcPct val="136000"/>
              </a:lnSpc>
            </a:pPr>
            <a:r>
              <a:rPr sz="900" b="0" i="0">
                <a:solidFill>
                  <a:srgbClr val="4A443C"/>
                </a:solidFill>
                <a:latin typeface="Corbel"/>
              </a:rPr>
              <a:t>Fama, E. F., &amp; French, K. R. (1993). Common risk factors in the returns on stocks and bonds. Journal of Financial Economics, 33(1), 3–56.</a:t>
            </a:r>
          </a:p>
          <a:p>
            <a:pPr algn="l">
              <a:lnSpc>
                <a:spcPct val="136000"/>
              </a:lnSpc>
            </a:pPr>
            <a:r>
              <a:rPr sz="900" b="0" i="0">
                <a:solidFill>
                  <a:srgbClr val="4A443C"/>
                </a:solidFill>
                <a:latin typeface="Corbel"/>
              </a:rPr>
              <a:t>Fama, E. F., &amp; French, K. R. (2015). A five-factor asset pricing model. Journal of Financial Economics, 116(1), 1–22.</a:t>
            </a:r>
          </a:p>
          <a:p>
            <a:pPr algn="l">
              <a:lnSpc>
                <a:spcPct val="136000"/>
              </a:lnSpc>
            </a:pPr>
            <a:r>
              <a:rPr sz="900" b="0" i="0">
                <a:solidFill>
                  <a:srgbClr val="4A443C"/>
                </a:solidFill>
                <a:latin typeface="Corbel"/>
              </a:rPr>
              <a:t>Jensen, M. C. (1968). The performance of mutual funds in the period 1945–1964. The Journal of Finance, 23(2), 389–416.</a:t>
            </a:r>
          </a:p>
          <a:p>
            <a:pPr algn="l">
              <a:lnSpc>
                <a:spcPct val="136000"/>
              </a:lnSpc>
            </a:pPr>
            <a:r>
              <a:rPr sz="900" b="0" i="0">
                <a:solidFill>
                  <a:srgbClr val="4A443C"/>
                </a:solidFill>
                <a:latin typeface="Corbel"/>
              </a:rPr>
              <a:t>Markowitz, H. (1952). Portfolio selection. The Journal of Finance, 7(1), 77–91.</a:t>
            </a:r>
          </a:p>
          <a:p>
            <a:pPr algn="l">
              <a:lnSpc>
                <a:spcPct val="136000"/>
              </a:lnSpc>
            </a:pPr>
            <a:r>
              <a:rPr sz="900" b="0" i="0">
                <a:solidFill>
                  <a:srgbClr val="4A443C"/>
                </a:solidFill>
                <a:latin typeface="Corbel"/>
              </a:rPr>
              <a:t>Newey, W. K., &amp; West, K. D. (1987). A simple, positive semi-definite, heteroskedasticity and autocorrelation consistent covariance matrix. Econometrica, 55(3), 703–708.</a:t>
            </a:r>
          </a:p>
          <a:p>
            <a:pPr algn="l">
              <a:lnSpc>
                <a:spcPct val="136000"/>
              </a:lnSpc>
            </a:pPr>
            <a:r>
              <a:rPr sz="900" b="0" i="0">
                <a:solidFill>
                  <a:srgbClr val="4A443C"/>
                </a:solidFill>
                <a:latin typeface="Corbel"/>
              </a:rPr>
              <a:t>Sharpe, W. F. (1966). Mutual fund performance. The Journal of Business, 39(1), 119–138.</a:t>
            </a:r>
          </a:p>
          <a:p>
            <a:pPr algn="l">
              <a:lnSpc>
                <a:spcPct val="136000"/>
              </a:lnSpc>
            </a:pPr>
            <a:r>
              <a:rPr sz="900" b="0" i="0">
                <a:solidFill>
                  <a:srgbClr val="4A443C"/>
                </a:solidFill>
                <a:latin typeface="Corbel"/>
              </a:rPr>
              <a:t>Sortino, F. A., &amp; Price, L. N. (1994). Performance measurement in a downside risk framework. The Journal of Investing, 3(3), 59–64.</a:t>
            </a:r>
          </a:p>
          <a:p>
            <a:pPr algn="l">
              <a:lnSpc>
                <a:spcPct val="136000"/>
              </a:lnSpc>
            </a:pPr>
            <a:r>
              <a:rPr sz="900" b="0" i="0">
                <a:solidFill>
                  <a:srgbClr val="4A443C"/>
                </a:solidFill>
                <a:latin typeface="Corbel"/>
              </a:rPr>
              <a:t>Treynor, J. L. (1965). How to rate management of investment funds. Harvard Business Review, 43(1), 63–75.</a:t>
            </a:r>
          </a:p>
          <a:p>
            <a:pPr algn="l">
              <a:lnSpc>
                <a:spcPct val="136000"/>
              </a:lnSpc>
            </a:pPr>
            <a:r>
              <a:rPr sz="900" b="0" i="0">
                <a:solidFill>
                  <a:srgbClr val="4A443C"/>
                </a:solidFill>
                <a:latin typeface="Corbel"/>
              </a:rPr>
              <a:t/>
            </a:r>
          </a:p>
          <a:p>
            <a:pPr algn="l">
              <a:lnSpc>
                <a:spcPct val="136000"/>
              </a:lnSpc>
            </a:pPr>
            <a:r>
              <a:rPr sz="900" b="0" i="0">
                <a:solidFill>
                  <a:srgbClr val="4A443C"/>
                </a:solidFill>
                <a:latin typeface="Corbel"/>
              </a:rPr>
              <a:t>Data: Kenneth R. French Data Library (factor and risk-free series); dividend-adjusted monthly closing prices for all eleven holdings, the eleven SPDR sector ETFs, QQQ, SPY and AGG.</a:t>
            </a:r>
          </a:p>
        </p:txBody>
      </p:sp>
      <p:sp>
        <p:nvSpPr>
          <p:cNvPr id="14" name="Rectangle 13"/>
          <p:cNvSpPr/>
          <p:nvPr/>
        </p:nvSpPr>
        <p:spPr>
          <a:xfrm>
            <a:off x="7247154" y="1645920"/>
            <a:ext cx="4395901"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7154" y="1773936"/>
            <a:ext cx="8229600" cy="219456"/>
          </a:xfrm>
          <a:prstGeom prst="rect">
            <a:avLst/>
          </a:prstGeom>
          <a:noFill/>
        </p:spPr>
        <p:txBody>
          <a:bodyPr wrap="square" lIns="0" rIns="0" tIns="0" bIns="0" anchor="t">
            <a:spAutoFit/>
          </a:bodyPr>
          <a:lstStyle/>
          <a:p>
            <a:pPr algn="l">
              <a:lnSpc>
                <a:spcPct val="105000"/>
              </a:lnSpc>
            </a:pPr>
            <a:r>
              <a:rPr sz="950" b="1" i="0" spc="160">
                <a:solidFill>
                  <a:srgbClr val="C4551A"/>
                </a:solidFill>
                <a:latin typeface="Corbel"/>
              </a:rPr>
              <a:t>GENERATIVE AI USE DECLARATION</a:t>
            </a:r>
          </a:p>
        </p:txBody>
      </p:sp>
      <p:sp>
        <p:nvSpPr>
          <p:cNvPr id="16" name="TextBox 15"/>
          <p:cNvSpPr txBox="1"/>
          <p:nvPr/>
        </p:nvSpPr>
        <p:spPr>
          <a:xfrm>
            <a:off x="7247154" y="2103120"/>
            <a:ext cx="4213021" cy="661416"/>
          </a:xfrm>
          <a:prstGeom prst="rect">
            <a:avLst/>
          </a:prstGeom>
          <a:noFill/>
        </p:spPr>
        <p:txBody>
          <a:bodyPr wrap="square" lIns="0" rIns="0" tIns="0" bIns="0">
            <a:spAutoFit/>
          </a:bodyPr>
          <a:lstStyle/>
          <a:p>
            <a:pPr>
              <a:lnSpc>
                <a:spcPct val="122000"/>
              </a:lnSpc>
            </a:pPr>
            <a:r>
              <a:rPr sz="1050" b="1">
                <a:solidFill>
                  <a:srgbClr val="0D3B38"/>
                </a:solidFill>
                <a:latin typeface="Corbel"/>
              </a:rPr>
              <a:t>Assessment classification.  </a:t>
            </a:r>
            <a:r>
              <a:rPr sz="1050">
                <a:solidFill>
                  <a:srgbClr val="16130F"/>
                </a:solidFill>
                <a:latin typeface="Corbel"/>
              </a:rPr>
              <a:t>AI-Supported. Generative AI was permitted for the preparation of the analysis and slides; the presentation itself is delivered by the author.</a:t>
            </a:r>
          </a:p>
        </p:txBody>
      </p:sp>
      <p:sp>
        <p:nvSpPr>
          <p:cNvPr id="17" name="TextBox 16"/>
          <p:cNvSpPr txBox="1"/>
          <p:nvPr/>
        </p:nvSpPr>
        <p:spPr>
          <a:xfrm>
            <a:off x="7247154" y="2983992"/>
            <a:ext cx="4213021" cy="496062"/>
          </a:xfrm>
          <a:prstGeom prst="rect">
            <a:avLst/>
          </a:prstGeom>
          <a:noFill/>
        </p:spPr>
        <p:txBody>
          <a:bodyPr wrap="square" lIns="0" rIns="0" tIns="0" bIns="0">
            <a:spAutoFit/>
          </a:bodyPr>
          <a:lstStyle/>
          <a:p>
            <a:pPr>
              <a:lnSpc>
                <a:spcPct val="122000"/>
              </a:lnSpc>
            </a:pPr>
            <a:r>
              <a:rPr sz="1050" b="1">
                <a:solidFill>
                  <a:srgbClr val="0D3B38"/>
                </a:solidFill>
                <a:latin typeface="Corbel"/>
              </a:rPr>
              <a:t>Tools used.  </a:t>
            </a:r>
            <a:r>
              <a:rPr sz="1050">
                <a:solidFill>
                  <a:srgbClr val="16130F"/>
                </a:solidFill>
                <a:latin typeface="Corbel"/>
              </a:rPr>
              <a:t>Generative AI assistant for the Python analysis code, chart generation and slide drafting; Grammarly for language editing.</a:t>
            </a:r>
          </a:p>
        </p:txBody>
      </p:sp>
      <p:sp>
        <p:nvSpPr>
          <p:cNvPr id="18" name="TextBox 17"/>
          <p:cNvSpPr txBox="1"/>
          <p:nvPr/>
        </p:nvSpPr>
        <p:spPr>
          <a:xfrm>
            <a:off x="7247154" y="3699510"/>
            <a:ext cx="4213021" cy="496062"/>
          </a:xfrm>
          <a:prstGeom prst="rect">
            <a:avLst/>
          </a:prstGeom>
          <a:noFill/>
        </p:spPr>
        <p:txBody>
          <a:bodyPr wrap="square" lIns="0" rIns="0" tIns="0" bIns="0">
            <a:spAutoFit/>
          </a:bodyPr>
          <a:lstStyle/>
          <a:p>
            <a:pPr>
              <a:lnSpc>
                <a:spcPct val="122000"/>
              </a:lnSpc>
            </a:pPr>
            <a:r>
              <a:rPr sz="1050" b="1">
                <a:solidFill>
                  <a:srgbClr val="0D3B38"/>
                </a:solidFill>
                <a:latin typeface="Corbel"/>
              </a:rPr>
              <a:t>Purpose.  </a:t>
            </a:r>
            <a:r>
              <a:rPr sz="1050">
                <a:solidFill>
                  <a:srgbClr val="16130F"/>
                </a:solidFill>
                <a:latin typeface="Corbel"/>
              </a:rPr>
              <a:t>Writing the return, risk and regression code; producing the visualisations; structuring the deck; drafting speaker notes.</a:t>
            </a:r>
          </a:p>
        </p:txBody>
      </p:sp>
      <p:sp>
        <p:nvSpPr>
          <p:cNvPr id="19" name="TextBox 18"/>
          <p:cNvSpPr txBox="1"/>
          <p:nvPr/>
        </p:nvSpPr>
        <p:spPr>
          <a:xfrm>
            <a:off x="7247154" y="4415028"/>
            <a:ext cx="4213021" cy="826769"/>
          </a:xfrm>
          <a:prstGeom prst="rect">
            <a:avLst/>
          </a:prstGeom>
          <a:noFill/>
        </p:spPr>
        <p:txBody>
          <a:bodyPr wrap="square" lIns="0" rIns="0" tIns="0" bIns="0">
            <a:spAutoFit/>
          </a:bodyPr>
          <a:lstStyle/>
          <a:p>
            <a:pPr>
              <a:lnSpc>
                <a:spcPct val="122000"/>
              </a:lnSpc>
            </a:pPr>
            <a:r>
              <a:rPr sz="1050" b="1">
                <a:solidFill>
                  <a:srgbClr val="0D3B38"/>
                </a:solidFill>
                <a:latin typeface="Corbel"/>
              </a:rPr>
              <a:t>Human refinement.  </a:t>
            </a:r>
            <a:r>
              <a:rPr sz="1050">
                <a:solidFill>
                  <a:srgbClr val="16130F"/>
                </a:solidFill>
                <a:latin typeface="Corbel"/>
              </a:rPr>
              <a:t>As Portfolio Manager I set the analytical scope, chose the benchmarks and factor models, interpreted every result, wrote the investment narrative and recommendation, and verified the outputs against the underlying data.</a:t>
            </a:r>
          </a:p>
        </p:txBody>
      </p:sp>
      <p:sp>
        <p:nvSpPr>
          <p:cNvPr id="20" name="TextBox 19"/>
          <p:cNvSpPr txBox="1"/>
          <p:nvPr/>
        </p:nvSpPr>
        <p:spPr>
          <a:xfrm>
            <a:off x="7247154" y="5461253"/>
            <a:ext cx="4213021" cy="661416"/>
          </a:xfrm>
          <a:prstGeom prst="rect">
            <a:avLst/>
          </a:prstGeom>
          <a:noFill/>
        </p:spPr>
        <p:txBody>
          <a:bodyPr wrap="square" lIns="0" rIns="0" tIns="0" bIns="0">
            <a:spAutoFit/>
          </a:bodyPr>
          <a:lstStyle/>
          <a:p>
            <a:pPr>
              <a:lnSpc>
                <a:spcPct val="122000"/>
              </a:lnSpc>
            </a:pPr>
            <a:r>
              <a:rPr sz="1050" b="1">
                <a:solidFill>
                  <a:srgbClr val="0D3B38"/>
                </a:solidFill>
                <a:latin typeface="Corbel"/>
              </a:rPr>
              <a:t>Data integrity.  </a:t>
            </a:r>
            <a:r>
              <a:rPr sz="1050">
                <a:solidFill>
                  <a:srgbClr val="16130F"/>
                </a:solidFill>
                <a:latin typeface="Corbel"/>
              </a:rPr>
              <a:t>All market data was retrieved programmatically from primary sources. No figure in this deck was generated by an AI model without a reproducible calculation behind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